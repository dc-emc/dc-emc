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4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9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7.xml" ContentType="application/vnd.openxmlformats-officedocument.presentationml.notesSlide+xml"/>
  <Override PartName="/ppt/charts/chart10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8.xml" ContentType="application/vnd.openxmlformats-officedocument.presentationml.notesSlide+xml"/>
  <Override PartName="/ppt/charts/chart11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2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13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4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1.xml" ContentType="application/vnd.openxmlformats-officedocument.themeOverride+xml"/>
  <Override PartName="/ppt/notesSlides/notesSlide13.xml" ContentType="application/vnd.openxmlformats-officedocument.presentationml.notesSlide+xml"/>
  <Override PartName="/ppt/charts/chart15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2.xml" ContentType="application/vnd.openxmlformats-officedocument.themeOverride+xml"/>
  <Override PartName="/ppt/charts/chart16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3.xml" ContentType="application/vnd.openxmlformats-officedocument.themeOverride+xml"/>
  <Override PartName="/ppt/notesSlides/notesSlide14.xml" ContentType="application/vnd.openxmlformats-officedocument.presentationml.notesSlide+xml"/>
  <Override PartName="/ppt/charts/chart17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8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9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embedTrueTypeFonts="1" saveSubsetFonts="1" autoCompressPictures="0">
  <p:sldMasterIdLst>
    <p:sldMasterId id="2147483717" r:id="rId1"/>
  </p:sldMasterIdLst>
  <p:notesMasterIdLst>
    <p:notesMasterId r:id="rId27"/>
  </p:notesMasterIdLst>
  <p:handoutMasterIdLst>
    <p:handoutMasterId r:id="rId28"/>
  </p:handoutMasterIdLst>
  <p:sldIdLst>
    <p:sldId id="2147476102" r:id="rId2"/>
    <p:sldId id="260" r:id="rId3"/>
    <p:sldId id="2147476114" r:id="rId4"/>
    <p:sldId id="2147476184" r:id="rId5"/>
    <p:sldId id="2147476115" r:id="rId6"/>
    <p:sldId id="2147476117" r:id="rId7"/>
    <p:sldId id="2147476111" r:id="rId8"/>
    <p:sldId id="2147476190" r:id="rId9"/>
    <p:sldId id="2147476191" r:id="rId10"/>
    <p:sldId id="2147476124" r:id="rId11"/>
    <p:sldId id="2147476130" r:id="rId12"/>
    <p:sldId id="2147476132" r:id="rId13"/>
    <p:sldId id="2147476139" r:id="rId14"/>
    <p:sldId id="2147476149" r:id="rId15"/>
    <p:sldId id="410" r:id="rId16"/>
    <p:sldId id="2147476134" r:id="rId17"/>
    <p:sldId id="2147476229" r:id="rId18"/>
    <p:sldId id="2147476234" r:id="rId19"/>
    <p:sldId id="2147476242" r:id="rId20"/>
    <p:sldId id="2147476237" r:id="rId21"/>
    <p:sldId id="2147476236" r:id="rId22"/>
    <p:sldId id="2147476243" r:id="rId23"/>
    <p:sldId id="2147476240" r:id="rId24"/>
    <p:sldId id="2147476140" r:id="rId25"/>
    <p:sldId id="2147476147" r:id="rId26"/>
  </p:sldIdLst>
  <p:sldSz cx="12192000" cy="6858000"/>
  <p:notesSz cx="6858000" cy="9144000"/>
  <p:embeddedFontLst>
    <p:embeddedFont>
      <p:font typeface="Century Gothic" panose="020B0502020202020204" pitchFamily="34" charset="0"/>
      <p:regular r:id="rId29"/>
      <p:bold r:id="rId30"/>
      <p:italic r:id="rId31"/>
      <p:boldItalic r:id="rId32"/>
    </p:embeddedFont>
    <p:embeddedFont>
      <p:font typeface="Montserrat SemiBold" panose="00000700000000000000" pitchFamily="2" charset="0"/>
      <p:bold r:id="rId33"/>
      <p:boldItalic r:id="rId34"/>
    </p:embeddedFont>
    <p:embeddedFont>
      <p:font typeface="vivo Office" panose="020B0604020202020204" charset="0"/>
      <p:regular r:id="rId35"/>
      <p:bold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6040" userDrawn="1">
          <p15:clr>
            <a:srgbClr val="A4A3A4"/>
          </p15:clr>
        </p15:guide>
        <p15:guide id="2" orient="horz" pos="3456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145" roundtripDataSignature="AMtx7mjLreMVb6Kkm6Wz+jpIsvZbD0y+Fw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461C8"/>
    <a:srgbClr val="D9D9D9"/>
    <a:srgbClr val="68B26A"/>
    <a:srgbClr val="FF0000"/>
    <a:srgbClr val="008291"/>
    <a:srgbClr val="E7334A"/>
    <a:srgbClr val="4A66AC"/>
    <a:srgbClr val="E5E9EE"/>
    <a:srgbClr val="6C6F8B"/>
    <a:srgbClr val="B7CE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A69280-69E8-4E60-8693-DD0EECD2C3EA}" v="1" dt="2025-04-22T09:19:21.1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533" y="86"/>
      </p:cViewPr>
      <p:guideLst>
        <p:guide pos="6040"/>
        <p:guide orient="horz" pos="3456"/>
        <p:guide pos="3840"/>
        <p:guide orient="horz"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146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45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149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148" Type="http://schemas.openxmlformats.org/officeDocument/2006/relationships/theme" Target="theme/theme1.xml"/><Relationship Id="rId15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147" Type="http://schemas.openxmlformats.org/officeDocument/2006/relationships/viewProps" Target="viewProps.xml"/><Relationship Id="rId8" Type="http://schemas.openxmlformats.org/officeDocument/2006/relationships/slide" Target="slides/slide7.xml"/><Relationship Id="rId150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050"/>
            </a:pPr>
            <a:r>
              <a:rPr lang="en-US" sz="1050"/>
              <a:t>Gender Share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382-4CD9-876A-EF2B5047B6DE}"/>
              </c:ext>
            </c:extLst>
          </c:dPt>
          <c:dPt>
            <c:idx val="1"/>
            <c:bubble3D val="0"/>
            <c:spPr>
              <a:solidFill>
                <a:srgbClr val="00829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382-4CD9-876A-EF2B5047B6DE}"/>
              </c:ext>
            </c:extLst>
          </c:dPt>
          <c:dLbls>
            <c:dLbl>
              <c:idx val="0"/>
              <c:layout>
                <c:manualLayout>
                  <c:x val="0.11325703385789222"/>
                  <c:y val="-0.13089005235602097"/>
                </c:manualLayout>
              </c:layout>
              <c:numFmt formatCode="#0\%" sourceLinked="0"/>
              <c:spPr/>
              <c:txPr>
                <a:bodyPr wrap="square" lIns="91440" anchor="b" anchorCtr="1"/>
                <a:lstStyle/>
                <a:p>
                  <a:pPr>
                    <a:defRPr/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7382-4CD9-876A-EF2B5047B6DE}"/>
                </c:ext>
              </c:extLst>
            </c:dLbl>
            <c:dLbl>
              <c:idx val="1"/>
              <c:layout>
                <c:manualLayout>
                  <c:x val="-0.10729613733905581"/>
                  <c:y val="-0.15270506108202447"/>
                </c:manualLayout>
              </c:layout>
              <c:numFmt formatCode="#0\%" sourceLinked="0"/>
              <c:spPr/>
              <c:txPr>
                <a:bodyPr wrap="square" lIns="91440" anchor="b" anchorCtr="1"/>
                <a:lstStyle/>
                <a:p>
                  <a:pPr>
                    <a:defRPr/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7382-4CD9-876A-EF2B5047B6DE}"/>
                </c:ext>
              </c:extLst>
            </c:dLbl>
            <c:numFmt formatCode="#0\%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Male</c:v>
                </c:pt>
                <c:pt idx="1">
                  <c:v>Female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53.74</c:v>
                </c:pt>
                <c:pt idx="1">
                  <c:v>46.26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382-4CD9-876A-EF2B5047B6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0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solidFill>
        <a:schemeClr val="tx1"/>
      </a:solidFill>
    </a:ln>
    <a:effectLst/>
  </c:spPr>
  <c:txPr>
    <a:bodyPr/>
    <a:lstStyle/>
    <a:p>
      <a:pPr>
        <a:defRPr sz="105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000"/>
            </a:pPr>
            <a:r>
              <a:rPr lang="en-US" sz="1000"/>
              <a:t>Age</a:t>
            </a:r>
            <a:r>
              <a:rPr lang="en-US" sz="1000" baseline="0"/>
              <a:t> Share</a:t>
            </a:r>
            <a:endParaRPr lang="en-US" sz="1000"/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CB9B-40E6-AB61-5B775B7E091F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CB9B-40E6-AB61-5B775B7E091F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CB9B-40E6-AB61-5B775B7E091F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CB9B-40E6-AB61-5B775B7E091F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CB9B-40E6-AB61-5B775B7E091F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CB9B-40E6-AB61-5B775B7E091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CB9B-40E6-AB61-5B775B7E091F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CB9B-40E6-AB61-5B775B7E091F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CB9B-40E6-AB61-5B775B7E091F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CB9B-40E6-AB61-5B775B7E091F}"/>
              </c:ext>
            </c:extLst>
          </c:dPt>
          <c:dLbls>
            <c:numFmt formatCode="#0\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chemeClr val="tx1"/>
                    </a:solidFill>
                    <a:latin typeface="Helvetica Neue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&gt;54</c:v>
                </c:pt>
                <c:pt idx="1">
                  <c:v>50-54</c:v>
                </c:pt>
                <c:pt idx="2">
                  <c:v>45-49</c:v>
                </c:pt>
                <c:pt idx="3">
                  <c:v>40-44</c:v>
                </c:pt>
                <c:pt idx="4">
                  <c:v>35-39</c:v>
                </c:pt>
                <c:pt idx="5">
                  <c:v>30-34</c:v>
                </c:pt>
                <c:pt idx="6">
                  <c:v>25-29</c:v>
                </c:pt>
                <c:pt idx="7">
                  <c:v>18-24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7.49</c:v>
                </c:pt>
                <c:pt idx="2">
                  <c:v>20.05</c:v>
                </c:pt>
                <c:pt idx="3">
                  <c:v>14.81</c:v>
                </c:pt>
                <c:pt idx="4">
                  <c:v>21.41</c:v>
                </c:pt>
                <c:pt idx="5">
                  <c:v>17.399999999999999</c:v>
                </c:pt>
                <c:pt idx="6">
                  <c:v>12.37</c:v>
                </c:pt>
                <c:pt idx="7">
                  <c:v>6.47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CB9B-40E6-AB61-5B775B7E091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000"/>
            </a:pPr>
            <a:r>
              <a:rPr lang="en-US" sz="1000"/>
              <a:t>Edu. Level</a:t>
            </a:r>
            <a:r>
              <a:rPr lang="en-US" sz="1000" baseline="0"/>
              <a:t> Share</a:t>
            </a:r>
            <a:endParaRPr lang="en-US" sz="1000"/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FB1-4F9F-BAF6-1AD94A98ACA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FB1-4F9F-BAF6-1AD94A98ACA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FB1-4F9F-BAF6-1AD94A98ACA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FB1-4F9F-BAF6-1AD94A98ACAD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FB1-4F9F-BAF6-1AD94A98ACAD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DFB1-4F9F-BAF6-1AD94A98ACAD}"/>
              </c:ext>
            </c:extLst>
          </c:dPt>
          <c:dPt>
            <c:idx val="6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DFB1-4F9F-BAF6-1AD94A98ACAD}"/>
              </c:ext>
            </c:extLst>
          </c:dPt>
          <c:dPt>
            <c:idx val="7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DFB1-4F9F-BAF6-1AD94A98ACAD}"/>
              </c:ext>
            </c:extLst>
          </c:dPt>
          <c:dLbls>
            <c:dLbl>
              <c:idx val="0"/>
              <c:layout>
                <c:manualLayout>
                  <c:x val="0.10835225481757091"/>
                  <c:y val="-2.1367528557617792E-2"/>
                </c:manualLayout>
              </c:layout>
              <c:numFmt formatCode="#0\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Helvetica Neue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FB1-4F9F-BAF6-1AD94A98ACAD}"/>
                </c:ext>
              </c:extLst>
            </c:dLbl>
            <c:dLbl>
              <c:idx val="1"/>
              <c:layout>
                <c:manualLayout>
                  <c:x val="-9.0781618901208061E-2"/>
                  <c:y val="-4.7008562826759144E-2"/>
                </c:manualLayout>
              </c:layout>
              <c:numFmt formatCode="#0\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Helvetica Neue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FB1-4F9F-BAF6-1AD94A98ACAD}"/>
                </c:ext>
              </c:extLst>
            </c:dLbl>
            <c:dLbl>
              <c:idx val="2"/>
              <c:layout>
                <c:manualLayout>
                  <c:x val="-6.408215635194664E-2"/>
                  <c:y val="-7.1214048120509882E-2"/>
                </c:manualLayout>
              </c:layout>
              <c:numFmt formatCode="#0\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Helvetica Neue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DFB1-4F9F-BAF6-1AD94A98ACAD}"/>
                </c:ext>
              </c:extLst>
            </c:dLbl>
            <c:dLbl>
              <c:idx val="3"/>
              <c:numFmt formatCode="#0\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Helvetica Neue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DFB1-4F9F-BAF6-1AD94A98ACAD}"/>
                </c:ext>
              </c:extLst>
            </c:dLbl>
            <c:dLbl>
              <c:idx val="4"/>
              <c:numFmt formatCode="#0\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Helvetica Neue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FB1-4F9F-BAF6-1AD94A98ACAD}"/>
                </c:ext>
              </c:extLst>
            </c:dLbl>
            <c:dLbl>
              <c:idx val="5"/>
              <c:numFmt formatCode="#0\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Helvetica Neue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DFB1-4F9F-BAF6-1AD94A98ACAD}"/>
                </c:ext>
              </c:extLst>
            </c:dLbl>
            <c:dLbl>
              <c:idx val="6"/>
              <c:numFmt formatCode="#0\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Helvetica Neue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DFB1-4F9F-BAF6-1AD94A98ACAD}"/>
                </c:ext>
              </c:extLst>
            </c:dLbl>
            <c:dLbl>
              <c:idx val="7"/>
              <c:numFmt formatCode="#0\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Helvetica Neue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DFB1-4F9F-BAF6-1AD94A98ACAD}"/>
                </c:ext>
              </c:extLst>
            </c:dLbl>
            <c:numFmt formatCode="#0\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Grad/Post Grad (Professional)</c:v>
                </c:pt>
                <c:pt idx="1">
                  <c:v>Grad/Post Grad (General)</c:v>
                </c:pt>
                <c:pt idx="2">
                  <c:v>Undergraduate &amp; below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51.74</c:v>
                </c:pt>
                <c:pt idx="1">
                  <c:v>41.21</c:v>
                </c:pt>
                <c:pt idx="2">
                  <c:v>7.04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DFB1-4F9F-BAF6-1AD94A98AC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050" b="1"/>
            </a:pPr>
            <a:r>
              <a:rPr lang="en-US" sz="1050" b="1"/>
              <a:t>Gender Affinity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829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0-2DA0-45BF-8369-AD79F6D2CE7E}"/>
              </c:ext>
            </c:extLst>
          </c:dPt>
          <c:dPt>
            <c:idx val="1"/>
            <c:invertIfNegative val="0"/>
            <c:bubble3D val="0"/>
            <c:spPr>
              <a:solidFill>
                <a:srgbClr val="4A66A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2DA0-45BF-8369-AD79F6D2CE7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chemeClr val="tx1"/>
                    </a:solidFill>
                    <a:latin typeface="Helvetica Neue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108.74140024281667</c:v>
                </c:pt>
                <c:pt idx="1">
                  <c:v>91.459074733096074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DA0-45BF-8369-AD79F6D2CE7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000"/>
            </a:pPr>
            <a:r>
              <a:rPr lang="en-US" sz="1000"/>
              <a:t>Edu. Level</a:t>
            </a:r>
            <a:r>
              <a:rPr lang="en-US" sz="1000" baseline="0"/>
              <a:t> Affinity</a:t>
            </a:r>
            <a:endParaRPr lang="en-US" sz="1000"/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DD5B-4093-835D-3565E1E691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DD5B-4093-835D-3565E1E6913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DD5B-4093-835D-3565E1E6913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DD5B-4093-835D-3565E1E6913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DD5B-4093-835D-3565E1E6913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DD5B-4093-835D-3565E1E6913E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DD5B-4093-835D-3565E1E6913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DD5B-4093-835D-3565E1E6913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chemeClr val="tx1"/>
                    </a:solidFill>
                    <a:latin typeface="Helvetica Neue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Other/Don't know</c:v>
                </c:pt>
                <c:pt idx="1">
                  <c:v>Grad/Post Grad (Professional)</c:v>
                </c:pt>
                <c:pt idx="2">
                  <c:v>Grad/Post Grad (General)</c:v>
                </c:pt>
                <c:pt idx="3">
                  <c:v>Some College (including Diploma) but not Graduate</c:v>
                </c:pt>
                <c:pt idx="4">
                  <c:v>SSC/HSC</c:v>
                </c:pt>
                <c:pt idx="5">
                  <c:v>School 5-9 years</c:v>
                </c:pt>
                <c:pt idx="6">
                  <c:v>Literate, but no formal school /up to class 4)</c:v>
                </c:pt>
                <c:pt idx="7">
                  <c:v>Illiterate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6.7484662576687118</c:v>
                </c:pt>
                <c:pt idx="1">
                  <c:v>166.74186271350305</c:v>
                </c:pt>
                <c:pt idx="2">
                  <c:v>94.866482504604051</c:v>
                </c:pt>
                <c:pt idx="3">
                  <c:v>26.475279106858057</c:v>
                </c:pt>
                <c:pt idx="4">
                  <c:v>20.8</c:v>
                </c:pt>
                <c:pt idx="5">
                  <c:v>60.427807486631004</c:v>
                </c:pt>
                <c:pt idx="6">
                  <c:v>13.461538461538463</c:v>
                </c:pt>
                <c:pt idx="7">
                  <c:v>57.823129251700678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D5B-4093-835D-3565E1E6913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000"/>
            </a:pPr>
            <a:r>
              <a:rPr lang="en-US" sz="1000"/>
              <a:t>Age Affinity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8822-4957-8E41-B81738EC2605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8822-4957-8E41-B81738EC2605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8822-4957-8E41-B81738EC2605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8822-4957-8E41-B81738EC2605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8822-4957-8E41-B81738EC2605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8822-4957-8E41-B81738EC2605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8822-4957-8E41-B81738EC2605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22-4957-8E41-B81738EC2605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22-4957-8E41-B81738EC2605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22-4957-8E41-B81738EC260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chemeClr val="tx1"/>
                    </a:solidFill>
                    <a:latin typeface="Helvetica Neue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&gt;54</c:v>
                </c:pt>
                <c:pt idx="1">
                  <c:v>50-54</c:v>
                </c:pt>
                <c:pt idx="2">
                  <c:v>45-49</c:v>
                </c:pt>
                <c:pt idx="3">
                  <c:v>40-44</c:v>
                </c:pt>
                <c:pt idx="4">
                  <c:v>35-39</c:v>
                </c:pt>
                <c:pt idx="5">
                  <c:v>30-34</c:v>
                </c:pt>
                <c:pt idx="6">
                  <c:v>25-29</c:v>
                </c:pt>
                <c:pt idx="7">
                  <c:v>18-24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125.67114093959732</c:v>
                </c:pt>
                <c:pt idx="2">
                  <c:v>162.34817813765184</c:v>
                </c:pt>
                <c:pt idx="3">
                  <c:v>139.06103286384976</c:v>
                </c:pt>
                <c:pt idx="4">
                  <c:v>152.49287749287751</c:v>
                </c:pt>
                <c:pt idx="5">
                  <c:v>114.4736842105263</c:v>
                </c:pt>
                <c:pt idx="6">
                  <c:v>70.605022831050221</c:v>
                </c:pt>
                <c:pt idx="7">
                  <c:v>26.647446457990114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8822-4957-8E41-B81738EC26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 sz="1400"/>
              <a:t>Life Event Audience Share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B37D-4F51-8E20-82DFD947B2DA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B37D-4F51-8E20-82DFD947B2DA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B37D-4F51-8E20-82DFD947B2D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B37D-4F51-8E20-82DFD947B2DA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B37D-4F51-8E20-82DFD947B2DA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B37D-4F51-8E20-82DFD947B2DA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B37D-4F51-8E20-82DFD947B2DA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37D-4F51-8E20-82DFD947B2DA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37D-4F51-8E20-82DFD947B2DA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37D-4F51-8E20-82DFD947B2DA}"/>
              </c:ext>
            </c:extLst>
          </c:dPt>
          <c:dLbls>
            <c:numFmt formatCode="#0\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chemeClr val="tx1"/>
                    </a:solidFill>
                    <a:latin typeface="Helvetica Neue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Purchased first home/ new house</c:v>
                </c:pt>
                <c:pt idx="1">
                  <c:v>Got promoted</c:v>
                </c:pt>
                <c:pt idx="2">
                  <c:v>Started a new business</c:v>
                </c:pt>
                <c:pt idx="3">
                  <c:v>Retirement</c:v>
                </c:pt>
                <c:pt idx="4">
                  <c:v>Got married</c:v>
                </c:pt>
                <c:pt idx="5">
                  <c:v>Started a new job</c:v>
                </c:pt>
                <c:pt idx="6">
                  <c:v>Moved home</c:v>
                </c:pt>
                <c:pt idx="7">
                  <c:v>Bought a car</c:v>
                </c:pt>
                <c:pt idx="8">
                  <c:v>Birth of your second or subsequent child</c:v>
                </c:pt>
                <c:pt idx="9">
                  <c:v>Birth of your first child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15.76</c:v>
                </c:pt>
                <c:pt idx="1">
                  <c:v>27.09</c:v>
                </c:pt>
                <c:pt idx="2">
                  <c:v>20.29</c:v>
                </c:pt>
                <c:pt idx="3">
                  <c:v>0</c:v>
                </c:pt>
                <c:pt idx="4">
                  <c:v>13.12</c:v>
                </c:pt>
                <c:pt idx="5">
                  <c:v>19.14</c:v>
                </c:pt>
                <c:pt idx="6">
                  <c:v>15.62</c:v>
                </c:pt>
                <c:pt idx="7">
                  <c:v>37.35</c:v>
                </c:pt>
                <c:pt idx="8">
                  <c:v>0.86</c:v>
                </c:pt>
                <c:pt idx="9">
                  <c:v>2.0699999999999998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B37D-4F51-8E20-82DFD947B2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en-US" sz="1400"/>
              <a:t>Life</a:t>
            </a:r>
            <a:r>
              <a:rPr lang="en-US" sz="1400" baseline="0"/>
              <a:t> Event Affinity Index</a:t>
            </a:r>
            <a:endParaRPr lang="en-US" sz="1400"/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54AB-4DA1-B4B5-9A335632B1F7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54AB-4DA1-B4B5-9A335632B1F7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54AB-4DA1-B4B5-9A335632B1F7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54AB-4DA1-B4B5-9A335632B1F7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54AB-4DA1-B4B5-9A335632B1F7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54AB-4DA1-B4B5-9A335632B1F7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4AB-4DA1-B4B5-9A335632B1F7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4AB-4DA1-B4B5-9A335632B1F7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4AB-4DA1-B4B5-9A335632B1F7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4AB-4DA1-B4B5-9A335632B1F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chemeClr val="tx1"/>
                    </a:solidFill>
                    <a:latin typeface="Helvetica Neue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Purchased first home/ new house</c:v>
                </c:pt>
                <c:pt idx="1">
                  <c:v>Got promoted</c:v>
                </c:pt>
                <c:pt idx="2">
                  <c:v>Started a new business</c:v>
                </c:pt>
                <c:pt idx="3">
                  <c:v>Retirement</c:v>
                </c:pt>
                <c:pt idx="4">
                  <c:v>Got married</c:v>
                </c:pt>
                <c:pt idx="5">
                  <c:v>Started a new job</c:v>
                </c:pt>
                <c:pt idx="6">
                  <c:v>Moved home</c:v>
                </c:pt>
                <c:pt idx="7">
                  <c:v>Bought a car</c:v>
                </c:pt>
                <c:pt idx="8">
                  <c:v>Birth of your second or subsequent child</c:v>
                </c:pt>
                <c:pt idx="9">
                  <c:v>Birth of your first child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194.32799013563502</c:v>
                </c:pt>
                <c:pt idx="1">
                  <c:v>207.26855394032134</c:v>
                </c:pt>
                <c:pt idx="2">
                  <c:v>153.1320754716981</c:v>
                </c:pt>
                <c:pt idx="4">
                  <c:v>170.16861219195849</c:v>
                </c:pt>
                <c:pt idx="5">
                  <c:v>103.01399354144243</c:v>
                </c:pt>
                <c:pt idx="6">
                  <c:v>107.79848171152517</c:v>
                </c:pt>
                <c:pt idx="7">
                  <c:v>230.27127003699141</c:v>
                </c:pt>
                <c:pt idx="8">
                  <c:v>74.137931034482762</c:v>
                </c:pt>
                <c:pt idx="9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54AB-4DA1-B4B5-9A335632B1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/>
      </a:solidFill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100"/>
              <a:t>Major Purchases last</a:t>
            </a:r>
            <a:r>
              <a:rPr lang="en-US" sz="1100" baseline="0"/>
              <a:t> year</a:t>
            </a:r>
            <a:endParaRPr lang="en-US" sz="110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8341610670334506E-2"/>
          <c:y val="0.10303135278424698"/>
          <c:w val="0.86055624758047311"/>
          <c:h val="0.3629861095936309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Samsung Z Fold Share</c:v>
                </c:pt>
              </c:strCache>
            </c:strRef>
          </c:tx>
          <c:spPr>
            <a:solidFill>
              <a:srgbClr val="008291"/>
            </a:solidFill>
            <a:ln>
              <a:solidFill>
                <a:schemeClr val="bg1"/>
              </a:solidFill>
            </a:ln>
            <a:effectLst/>
          </c:spPr>
          <c:invertIfNegative val="0"/>
          <c:cat>
            <c:strRef>
              <c:f>Sheet1!$A$2:$A$26</c:f>
              <c:strCache>
                <c:ptCount val="25"/>
                <c:pt idx="0">
                  <c:v>Travel tickets (e.g. a flight)</c:v>
                </c:pt>
                <c:pt idx="1">
                  <c:v>Jewelry</c:v>
                </c:pt>
                <c:pt idx="2">
                  <c:v>Vacation (domestic)</c:v>
                </c:pt>
                <c:pt idx="3">
                  <c:v>Motorcycle</c:v>
                </c:pt>
                <c:pt idx="4">
                  <c:v>Purse / wallet</c:v>
                </c:pt>
                <c:pt idx="5">
                  <c:v>Wristwatch</c:v>
                </c:pt>
                <c:pt idx="6">
                  <c:v>Life insurance</c:v>
                </c:pt>
                <c:pt idx="7">
                  <c:v>Smart TV</c:v>
                </c:pt>
                <c:pt idx="8">
                  <c:v>Car / automobile</c:v>
                </c:pt>
                <c:pt idx="9">
                  <c:v>Health insurance</c:v>
                </c:pt>
                <c:pt idx="10">
                  <c:v>Glasses / spectacles</c:v>
                </c:pt>
                <c:pt idx="11">
                  <c:v>Handbag / bag</c:v>
                </c:pt>
                <c:pt idx="12">
                  <c:v>Headphones / earphones</c:v>
                </c:pt>
                <c:pt idx="13">
                  <c:v>Laptop</c:v>
                </c:pt>
                <c:pt idx="14">
                  <c:v>Bicycle</c:v>
                </c:pt>
                <c:pt idx="15">
                  <c:v>Experience (e.g. spa trip, day out)</c:v>
                </c:pt>
                <c:pt idx="16">
                  <c:v>Bed</c:v>
                </c:pt>
                <c:pt idx="17">
                  <c:v>Concert tickets</c:v>
                </c:pt>
                <c:pt idx="18">
                  <c:v>Electric-powered scooter</c:v>
                </c:pt>
                <c:pt idx="19">
                  <c:v>Electric trimmers / shavers</c:v>
                </c:pt>
                <c:pt idx="20">
                  <c:v>Car / automotive insurance</c:v>
                </c:pt>
                <c:pt idx="21">
                  <c:v>Refrigerator</c:v>
                </c:pt>
                <c:pt idx="22">
                  <c:v>Hair styling tools</c:v>
                </c:pt>
                <c:pt idx="23">
                  <c:v>Smart wearable device</c:v>
                </c:pt>
                <c:pt idx="24">
                  <c:v>Vacation (abroad)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55.8</c:v>
                </c:pt>
                <c:pt idx="1">
                  <c:v>57</c:v>
                </c:pt>
                <c:pt idx="2">
                  <c:v>66.3</c:v>
                </c:pt>
                <c:pt idx="3">
                  <c:v>56.2</c:v>
                </c:pt>
                <c:pt idx="4">
                  <c:v>50.7</c:v>
                </c:pt>
                <c:pt idx="5">
                  <c:v>54.7</c:v>
                </c:pt>
                <c:pt idx="6">
                  <c:v>52.8</c:v>
                </c:pt>
                <c:pt idx="7">
                  <c:v>53.4</c:v>
                </c:pt>
                <c:pt idx="8">
                  <c:v>58</c:v>
                </c:pt>
                <c:pt idx="9">
                  <c:v>45.9</c:v>
                </c:pt>
                <c:pt idx="10">
                  <c:v>52.5</c:v>
                </c:pt>
                <c:pt idx="11">
                  <c:v>52.3</c:v>
                </c:pt>
                <c:pt idx="12">
                  <c:v>43.4</c:v>
                </c:pt>
                <c:pt idx="13">
                  <c:v>49.9</c:v>
                </c:pt>
                <c:pt idx="14">
                  <c:v>52</c:v>
                </c:pt>
                <c:pt idx="15">
                  <c:v>37.700000000000003</c:v>
                </c:pt>
                <c:pt idx="16">
                  <c:v>41.2</c:v>
                </c:pt>
                <c:pt idx="17">
                  <c:v>40.9</c:v>
                </c:pt>
                <c:pt idx="18">
                  <c:v>44.4</c:v>
                </c:pt>
                <c:pt idx="19">
                  <c:v>46.3</c:v>
                </c:pt>
                <c:pt idx="20">
                  <c:v>40</c:v>
                </c:pt>
                <c:pt idx="21">
                  <c:v>40.1</c:v>
                </c:pt>
                <c:pt idx="22">
                  <c:v>46.6</c:v>
                </c:pt>
                <c:pt idx="23">
                  <c:v>40.6</c:v>
                </c:pt>
                <c:pt idx="24">
                  <c:v>44.4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A9-4D50-B4D7-A81729A99C3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 series Share</c:v>
                </c:pt>
              </c:strCache>
            </c:strRef>
          </c:tx>
          <c:spPr>
            <a:solidFill>
              <a:srgbClr val="5461C8"/>
            </a:solidFill>
            <a:ln>
              <a:solidFill>
                <a:schemeClr val="bg1"/>
              </a:solidFill>
            </a:ln>
            <a:effectLst/>
          </c:spPr>
          <c:invertIfNegative val="0"/>
          <c:cat>
            <c:strRef>
              <c:f>Sheet1!$A$2:$A$26</c:f>
              <c:strCache>
                <c:ptCount val="25"/>
                <c:pt idx="0">
                  <c:v>Travel tickets (e.g. a flight)</c:v>
                </c:pt>
                <c:pt idx="1">
                  <c:v>Jewelry</c:v>
                </c:pt>
                <c:pt idx="2">
                  <c:v>Vacation (domestic)</c:v>
                </c:pt>
                <c:pt idx="3">
                  <c:v>Motorcycle</c:v>
                </c:pt>
                <c:pt idx="4">
                  <c:v>Purse / wallet</c:v>
                </c:pt>
                <c:pt idx="5">
                  <c:v>Wristwatch</c:v>
                </c:pt>
                <c:pt idx="6">
                  <c:v>Life insurance</c:v>
                </c:pt>
                <c:pt idx="7">
                  <c:v>Smart TV</c:v>
                </c:pt>
                <c:pt idx="8">
                  <c:v>Car / automobile</c:v>
                </c:pt>
                <c:pt idx="9">
                  <c:v>Health insurance</c:v>
                </c:pt>
                <c:pt idx="10">
                  <c:v>Glasses / spectacles</c:v>
                </c:pt>
                <c:pt idx="11">
                  <c:v>Handbag / bag</c:v>
                </c:pt>
                <c:pt idx="12">
                  <c:v>Headphones / earphones</c:v>
                </c:pt>
                <c:pt idx="13">
                  <c:v>Laptop</c:v>
                </c:pt>
                <c:pt idx="14">
                  <c:v>Bicycle</c:v>
                </c:pt>
                <c:pt idx="15">
                  <c:v>Experience (e.g. spa trip, day out)</c:v>
                </c:pt>
                <c:pt idx="16">
                  <c:v>Bed</c:v>
                </c:pt>
                <c:pt idx="17">
                  <c:v>Concert tickets</c:v>
                </c:pt>
                <c:pt idx="18">
                  <c:v>Electric-powered scooter</c:v>
                </c:pt>
                <c:pt idx="19">
                  <c:v>Electric trimmers / shavers</c:v>
                </c:pt>
                <c:pt idx="20">
                  <c:v>Car / automotive insurance</c:v>
                </c:pt>
                <c:pt idx="21">
                  <c:v>Refrigerator</c:v>
                </c:pt>
                <c:pt idx="22">
                  <c:v>Hair styling tools</c:v>
                </c:pt>
                <c:pt idx="23">
                  <c:v>Smart wearable device</c:v>
                </c:pt>
                <c:pt idx="24">
                  <c:v>Vacation (abroad)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51.1</c:v>
                </c:pt>
                <c:pt idx="1">
                  <c:v>50.1</c:v>
                </c:pt>
                <c:pt idx="2">
                  <c:v>48.9</c:v>
                </c:pt>
                <c:pt idx="3">
                  <c:v>47.4</c:v>
                </c:pt>
                <c:pt idx="4">
                  <c:v>46.2</c:v>
                </c:pt>
                <c:pt idx="5">
                  <c:v>44.6</c:v>
                </c:pt>
                <c:pt idx="6">
                  <c:v>44.2</c:v>
                </c:pt>
                <c:pt idx="7">
                  <c:v>44</c:v>
                </c:pt>
                <c:pt idx="8">
                  <c:v>43.7</c:v>
                </c:pt>
                <c:pt idx="9">
                  <c:v>43.3</c:v>
                </c:pt>
                <c:pt idx="10">
                  <c:v>43.2</c:v>
                </c:pt>
                <c:pt idx="11">
                  <c:v>43</c:v>
                </c:pt>
                <c:pt idx="12">
                  <c:v>42.3</c:v>
                </c:pt>
                <c:pt idx="13">
                  <c:v>41.6</c:v>
                </c:pt>
                <c:pt idx="14">
                  <c:v>40.1</c:v>
                </c:pt>
                <c:pt idx="15">
                  <c:v>38.200000000000003</c:v>
                </c:pt>
                <c:pt idx="16">
                  <c:v>36.5</c:v>
                </c:pt>
                <c:pt idx="17">
                  <c:v>36.4</c:v>
                </c:pt>
                <c:pt idx="18">
                  <c:v>33.6</c:v>
                </c:pt>
                <c:pt idx="19">
                  <c:v>33.6</c:v>
                </c:pt>
                <c:pt idx="20">
                  <c:v>33.299999999999997</c:v>
                </c:pt>
                <c:pt idx="21">
                  <c:v>32.799999999999997</c:v>
                </c:pt>
                <c:pt idx="22">
                  <c:v>32.5</c:v>
                </c:pt>
                <c:pt idx="23">
                  <c:v>32</c:v>
                </c:pt>
                <c:pt idx="24">
                  <c:v>30.9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0A9-4D50-B4D7-A81729A99C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22"/>
        <c:axId val="1459620655"/>
        <c:axId val="1459626063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Samsung Z Fold Index</c:v>
                </c:pt>
              </c:strCache>
            </c:strRef>
          </c:tx>
          <c:spPr>
            <a:ln w="19050" cap="rnd">
              <a:solidFill>
                <a:srgbClr val="008291"/>
              </a:solidFill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Travel tickets (e.g. a flight)</c:v>
                </c:pt>
                <c:pt idx="1">
                  <c:v>Jewelry</c:v>
                </c:pt>
                <c:pt idx="2">
                  <c:v>Vacation (domestic)</c:v>
                </c:pt>
                <c:pt idx="3">
                  <c:v>Motorcycle</c:v>
                </c:pt>
                <c:pt idx="4">
                  <c:v>Purse / wallet</c:v>
                </c:pt>
                <c:pt idx="5">
                  <c:v>Wristwatch</c:v>
                </c:pt>
                <c:pt idx="6">
                  <c:v>Life insurance</c:v>
                </c:pt>
                <c:pt idx="7">
                  <c:v>Smart TV</c:v>
                </c:pt>
                <c:pt idx="8">
                  <c:v>Car / automobile</c:v>
                </c:pt>
                <c:pt idx="9">
                  <c:v>Health insurance</c:v>
                </c:pt>
                <c:pt idx="10">
                  <c:v>Glasses / spectacles</c:v>
                </c:pt>
                <c:pt idx="11">
                  <c:v>Handbag / bag</c:v>
                </c:pt>
                <c:pt idx="12">
                  <c:v>Headphones / earphones</c:v>
                </c:pt>
                <c:pt idx="13">
                  <c:v>Laptop</c:v>
                </c:pt>
                <c:pt idx="14">
                  <c:v>Bicycle</c:v>
                </c:pt>
                <c:pt idx="15">
                  <c:v>Experience (e.g. spa trip, day out)</c:v>
                </c:pt>
                <c:pt idx="16">
                  <c:v>Bed</c:v>
                </c:pt>
                <c:pt idx="17">
                  <c:v>Concert tickets</c:v>
                </c:pt>
                <c:pt idx="18">
                  <c:v>Electric-powered scooter</c:v>
                </c:pt>
                <c:pt idx="19">
                  <c:v>Electric trimmers / shavers</c:v>
                </c:pt>
                <c:pt idx="20">
                  <c:v>Car / automotive insurance</c:v>
                </c:pt>
                <c:pt idx="21">
                  <c:v>Refrigerator</c:v>
                </c:pt>
                <c:pt idx="22">
                  <c:v>Hair styling tools</c:v>
                </c:pt>
                <c:pt idx="23">
                  <c:v>Smart wearable device</c:v>
                </c:pt>
                <c:pt idx="24">
                  <c:v>Vacation (abroad)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204.1</c:v>
                </c:pt>
                <c:pt idx="1">
                  <c:v>206.6</c:v>
                </c:pt>
                <c:pt idx="2">
                  <c:v>187.4</c:v>
                </c:pt>
                <c:pt idx="3">
                  <c:v>289.39999999999998</c:v>
                </c:pt>
                <c:pt idx="4">
                  <c:v>181</c:v>
                </c:pt>
                <c:pt idx="5">
                  <c:v>195.6</c:v>
                </c:pt>
                <c:pt idx="6">
                  <c:v>246.7</c:v>
                </c:pt>
                <c:pt idx="7">
                  <c:v>193.6</c:v>
                </c:pt>
                <c:pt idx="8">
                  <c:v>222.3</c:v>
                </c:pt>
                <c:pt idx="9">
                  <c:v>201.4</c:v>
                </c:pt>
                <c:pt idx="10">
                  <c:v>156</c:v>
                </c:pt>
                <c:pt idx="11">
                  <c:v>173.8</c:v>
                </c:pt>
                <c:pt idx="12">
                  <c:v>127.9</c:v>
                </c:pt>
                <c:pt idx="13">
                  <c:v>182.5</c:v>
                </c:pt>
                <c:pt idx="14">
                  <c:v>241.5</c:v>
                </c:pt>
                <c:pt idx="15">
                  <c:v>170.6</c:v>
                </c:pt>
                <c:pt idx="16">
                  <c:v>189</c:v>
                </c:pt>
                <c:pt idx="17">
                  <c:v>172.9</c:v>
                </c:pt>
                <c:pt idx="18">
                  <c:v>340.9</c:v>
                </c:pt>
                <c:pt idx="19">
                  <c:v>251.9</c:v>
                </c:pt>
                <c:pt idx="20">
                  <c:v>179.6</c:v>
                </c:pt>
                <c:pt idx="21">
                  <c:v>180.8</c:v>
                </c:pt>
                <c:pt idx="22">
                  <c:v>259.2</c:v>
                </c:pt>
                <c:pt idx="23">
                  <c:v>250.9</c:v>
                </c:pt>
                <c:pt idx="24">
                  <c:v>242.1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0A9-4D50-B4D7-A81729A99C3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 series Index</c:v>
                </c:pt>
              </c:strCache>
            </c:strRef>
          </c:tx>
          <c:spPr>
            <a:ln w="19050" cap="rnd">
              <a:solidFill>
                <a:srgbClr val="5461C8"/>
              </a:solidFill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Travel tickets (e.g. a flight)</c:v>
                </c:pt>
                <c:pt idx="1">
                  <c:v>Jewelry</c:v>
                </c:pt>
                <c:pt idx="2">
                  <c:v>Vacation (domestic)</c:v>
                </c:pt>
                <c:pt idx="3">
                  <c:v>Motorcycle</c:v>
                </c:pt>
                <c:pt idx="4">
                  <c:v>Purse / wallet</c:v>
                </c:pt>
                <c:pt idx="5">
                  <c:v>Wristwatch</c:v>
                </c:pt>
                <c:pt idx="6">
                  <c:v>Life insurance</c:v>
                </c:pt>
                <c:pt idx="7">
                  <c:v>Smart TV</c:v>
                </c:pt>
                <c:pt idx="8">
                  <c:v>Car / automobile</c:v>
                </c:pt>
                <c:pt idx="9">
                  <c:v>Health insurance</c:v>
                </c:pt>
                <c:pt idx="10">
                  <c:v>Glasses / spectacles</c:v>
                </c:pt>
                <c:pt idx="11">
                  <c:v>Handbag / bag</c:v>
                </c:pt>
                <c:pt idx="12">
                  <c:v>Headphones / earphones</c:v>
                </c:pt>
                <c:pt idx="13">
                  <c:v>Laptop</c:v>
                </c:pt>
                <c:pt idx="14">
                  <c:v>Bicycle</c:v>
                </c:pt>
                <c:pt idx="15">
                  <c:v>Experience (e.g. spa trip, day out)</c:v>
                </c:pt>
                <c:pt idx="16">
                  <c:v>Bed</c:v>
                </c:pt>
                <c:pt idx="17">
                  <c:v>Concert tickets</c:v>
                </c:pt>
                <c:pt idx="18">
                  <c:v>Electric-powered scooter</c:v>
                </c:pt>
                <c:pt idx="19">
                  <c:v>Electric trimmers / shavers</c:v>
                </c:pt>
                <c:pt idx="20">
                  <c:v>Car / automotive insurance</c:v>
                </c:pt>
                <c:pt idx="21">
                  <c:v>Refrigerator</c:v>
                </c:pt>
                <c:pt idx="22">
                  <c:v>Hair styling tools</c:v>
                </c:pt>
                <c:pt idx="23">
                  <c:v>Smart wearable device</c:v>
                </c:pt>
                <c:pt idx="24">
                  <c:v>Vacation (abroad)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186.7</c:v>
                </c:pt>
                <c:pt idx="1">
                  <c:v>181.7</c:v>
                </c:pt>
                <c:pt idx="2">
                  <c:v>138.1</c:v>
                </c:pt>
                <c:pt idx="3">
                  <c:v>243.9</c:v>
                </c:pt>
                <c:pt idx="4">
                  <c:v>164.9</c:v>
                </c:pt>
                <c:pt idx="5">
                  <c:v>159.4</c:v>
                </c:pt>
                <c:pt idx="6">
                  <c:v>206.6</c:v>
                </c:pt>
                <c:pt idx="7">
                  <c:v>159.4</c:v>
                </c:pt>
                <c:pt idx="8">
                  <c:v>167.5</c:v>
                </c:pt>
                <c:pt idx="9">
                  <c:v>190</c:v>
                </c:pt>
                <c:pt idx="10">
                  <c:v>128.4</c:v>
                </c:pt>
                <c:pt idx="11">
                  <c:v>142.9</c:v>
                </c:pt>
                <c:pt idx="12">
                  <c:v>124.7</c:v>
                </c:pt>
                <c:pt idx="13">
                  <c:v>152.1</c:v>
                </c:pt>
                <c:pt idx="14">
                  <c:v>186.1</c:v>
                </c:pt>
                <c:pt idx="15">
                  <c:v>172.5</c:v>
                </c:pt>
                <c:pt idx="16">
                  <c:v>167.2</c:v>
                </c:pt>
                <c:pt idx="17">
                  <c:v>153.69999999999999</c:v>
                </c:pt>
                <c:pt idx="18">
                  <c:v>257.60000000000002</c:v>
                </c:pt>
                <c:pt idx="19">
                  <c:v>182.5</c:v>
                </c:pt>
                <c:pt idx="20">
                  <c:v>149.6</c:v>
                </c:pt>
                <c:pt idx="21">
                  <c:v>147.9</c:v>
                </c:pt>
                <c:pt idx="22">
                  <c:v>181.1</c:v>
                </c:pt>
                <c:pt idx="23">
                  <c:v>197.7</c:v>
                </c:pt>
                <c:pt idx="24">
                  <c:v>168.7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F0A9-4D50-B4D7-A81729A99C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11380415"/>
        <c:axId val="1011387903"/>
      </c:lineChart>
      <c:catAx>
        <c:axId val="14596206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9626063"/>
        <c:crosses val="autoZero"/>
        <c:auto val="1"/>
        <c:lblAlgn val="ctr"/>
        <c:lblOffset val="100"/>
        <c:noMultiLvlLbl val="0"/>
      </c:catAx>
      <c:valAx>
        <c:axId val="1459626063"/>
        <c:scaling>
          <c:orientation val="minMax"/>
          <c:max val="10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9620655"/>
        <c:crosses val="autoZero"/>
        <c:crossBetween val="between"/>
      </c:valAx>
      <c:valAx>
        <c:axId val="1011387903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1380415"/>
        <c:crosses val="max"/>
        <c:crossBetween val="between"/>
      </c:valAx>
      <c:catAx>
        <c:axId val="101138041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01138790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100"/>
              <a:t>Online Activities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073057014116682"/>
          <c:y val="0.10303124366195597"/>
          <c:w val="0.86055624758047311"/>
          <c:h val="0.3629861095936309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Samsung Z Fold Share</c:v>
                </c:pt>
              </c:strCache>
            </c:strRef>
          </c:tx>
          <c:spPr>
            <a:solidFill>
              <a:srgbClr val="008291"/>
            </a:solidFill>
            <a:ln>
              <a:solidFill>
                <a:schemeClr val="bg1"/>
              </a:solidFill>
            </a:ln>
            <a:effectLst/>
          </c:spPr>
          <c:invertIfNegative val="0"/>
          <c:cat>
            <c:strRef>
              <c:f>Sheet1!$A$2:$A$26</c:f>
              <c:strCache>
                <c:ptCount val="25"/>
                <c:pt idx="0">
                  <c:v>Watched any video</c:v>
                </c:pt>
                <c:pt idx="1">
                  <c:v>Purchased any new or secondhand product and / or service</c:v>
                </c:pt>
                <c:pt idx="2">
                  <c:v>Watched a music video</c:v>
                </c:pt>
                <c:pt idx="3">
                  <c:v>Used a voice assistant</c:v>
                </c:pt>
                <c:pt idx="4">
                  <c:v>Listened to a music-streaming service</c:v>
                </c:pt>
                <c:pt idx="5">
                  <c:v>Watched other short video (Under 10 mins)</c:v>
                </c:pt>
                <c:pt idx="6">
                  <c:v>None of these</c:v>
                </c:pt>
                <c:pt idx="7">
                  <c:v>Shopped / browsed for products online</c:v>
                </c:pt>
                <c:pt idx="8">
                  <c:v>Watched a comedy / meme / viral video</c:v>
                </c:pt>
                <c:pt idx="9">
                  <c:v>Ordered groceries</c:v>
                </c:pt>
                <c:pt idx="10">
                  <c:v>Purchased a product / service</c:v>
                </c:pt>
                <c:pt idx="11">
                  <c:v>Read / watched food recipes</c:v>
                </c:pt>
                <c:pt idx="12">
                  <c:v>Watched sports highlights / clips</c:v>
                </c:pt>
                <c:pt idx="13">
                  <c:v>Watched a sports match / commentary</c:v>
                </c:pt>
                <c:pt idx="14">
                  <c:v>Watched other long video (10 mins+)</c:v>
                </c:pt>
                <c:pt idx="15">
                  <c:v>Watched an educational video</c:v>
                </c:pt>
                <c:pt idx="16">
                  <c:v>Attended a conference / video call</c:v>
                </c:pt>
                <c:pt idx="17">
                  <c:v>Written a review of a product / service</c:v>
                </c:pt>
                <c:pt idx="18">
                  <c:v>Used a voice assistant (e.g. Siri, Alexa) to find information</c:v>
                </c:pt>
                <c:pt idx="19">
                  <c:v>Watched a product review video</c:v>
                </c:pt>
                <c:pt idx="20">
                  <c:v>Watched a live video stream</c:v>
                </c:pt>
                <c:pt idx="21">
                  <c:v>Translated text into a different language</c:v>
                </c:pt>
                <c:pt idx="22">
                  <c:v>Watched a vlog / influencer video</c:v>
                </c:pt>
                <c:pt idx="23">
                  <c:v>Used a voice assistant to complete an action (e.g. play a song)</c:v>
                </c:pt>
                <c:pt idx="24">
                  <c:v>Shared your own blog post or video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98.1</c:v>
                </c:pt>
                <c:pt idx="1">
                  <c:v>71</c:v>
                </c:pt>
                <c:pt idx="2">
                  <c:v>59.2</c:v>
                </c:pt>
                <c:pt idx="3">
                  <c:v>55.7</c:v>
                </c:pt>
                <c:pt idx="4">
                  <c:v>55.1</c:v>
                </c:pt>
                <c:pt idx="5">
                  <c:v>52.6</c:v>
                </c:pt>
                <c:pt idx="6">
                  <c:v>36</c:v>
                </c:pt>
                <c:pt idx="7">
                  <c:v>39.1</c:v>
                </c:pt>
                <c:pt idx="8">
                  <c:v>42.9</c:v>
                </c:pt>
                <c:pt idx="9">
                  <c:v>42.8</c:v>
                </c:pt>
                <c:pt idx="10">
                  <c:v>40.4</c:v>
                </c:pt>
                <c:pt idx="11">
                  <c:v>43.4</c:v>
                </c:pt>
                <c:pt idx="12">
                  <c:v>44.1</c:v>
                </c:pt>
                <c:pt idx="13">
                  <c:v>39</c:v>
                </c:pt>
                <c:pt idx="14">
                  <c:v>48.5</c:v>
                </c:pt>
                <c:pt idx="15">
                  <c:v>41.7</c:v>
                </c:pt>
                <c:pt idx="16">
                  <c:v>43</c:v>
                </c:pt>
                <c:pt idx="17">
                  <c:v>38.200000000000003</c:v>
                </c:pt>
                <c:pt idx="18">
                  <c:v>39.9</c:v>
                </c:pt>
                <c:pt idx="19">
                  <c:v>39.799999999999997</c:v>
                </c:pt>
                <c:pt idx="20">
                  <c:v>39.6</c:v>
                </c:pt>
                <c:pt idx="21">
                  <c:v>37.299999999999997</c:v>
                </c:pt>
                <c:pt idx="22">
                  <c:v>34.299999999999997</c:v>
                </c:pt>
                <c:pt idx="23">
                  <c:v>38.6</c:v>
                </c:pt>
                <c:pt idx="24">
                  <c:v>34.4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AF-43FE-9BC7-D0D8DBBB48C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vivo X Series Share</c:v>
                </c:pt>
              </c:strCache>
            </c:strRef>
          </c:tx>
          <c:spPr>
            <a:solidFill>
              <a:srgbClr val="5461C8"/>
            </a:solidFill>
            <a:ln>
              <a:solidFill>
                <a:schemeClr val="bg1"/>
              </a:solidFill>
            </a:ln>
            <a:effectLst/>
          </c:spPr>
          <c:invertIfNegative val="0"/>
          <c:cat>
            <c:strRef>
              <c:f>Sheet1!$A$2:$A$26</c:f>
              <c:strCache>
                <c:ptCount val="25"/>
                <c:pt idx="0">
                  <c:v>Watched any video</c:v>
                </c:pt>
                <c:pt idx="1">
                  <c:v>Purchased any new or secondhand product and / or service</c:v>
                </c:pt>
                <c:pt idx="2">
                  <c:v>Watched a music video</c:v>
                </c:pt>
                <c:pt idx="3">
                  <c:v>Used a voice assistant</c:v>
                </c:pt>
                <c:pt idx="4">
                  <c:v>Listened to a music-streaming service</c:v>
                </c:pt>
                <c:pt idx="5">
                  <c:v>Watched other short video (Under 10 mins)</c:v>
                </c:pt>
                <c:pt idx="6">
                  <c:v>None of these</c:v>
                </c:pt>
                <c:pt idx="7">
                  <c:v>Shopped / browsed for products online</c:v>
                </c:pt>
                <c:pt idx="8">
                  <c:v>Watched a comedy / meme / viral video</c:v>
                </c:pt>
                <c:pt idx="9">
                  <c:v>Ordered groceries</c:v>
                </c:pt>
                <c:pt idx="10">
                  <c:v>Purchased a product / service</c:v>
                </c:pt>
                <c:pt idx="11">
                  <c:v>Read / watched food recipes</c:v>
                </c:pt>
                <c:pt idx="12">
                  <c:v>Watched sports highlights / clips</c:v>
                </c:pt>
                <c:pt idx="13">
                  <c:v>Watched a sports match / commentary</c:v>
                </c:pt>
                <c:pt idx="14">
                  <c:v>Watched other long video (10 mins+)</c:v>
                </c:pt>
                <c:pt idx="15">
                  <c:v>Watched an educational video</c:v>
                </c:pt>
                <c:pt idx="16">
                  <c:v>Attended a conference / video call</c:v>
                </c:pt>
                <c:pt idx="17">
                  <c:v>Written a review of a product / service</c:v>
                </c:pt>
                <c:pt idx="18">
                  <c:v>Used a voice assistant (e.g. Siri, Alexa) to find information</c:v>
                </c:pt>
                <c:pt idx="19">
                  <c:v>Watched a product review video</c:v>
                </c:pt>
                <c:pt idx="20">
                  <c:v>Watched a live video stream</c:v>
                </c:pt>
                <c:pt idx="21">
                  <c:v>Translated text into a different language</c:v>
                </c:pt>
                <c:pt idx="22">
                  <c:v>Watched a vlog / influencer video</c:v>
                </c:pt>
                <c:pt idx="23">
                  <c:v>Used a voice assistant to complete an action (e.g. play a song)</c:v>
                </c:pt>
                <c:pt idx="24">
                  <c:v>Shared your own blog post or video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96</c:v>
                </c:pt>
                <c:pt idx="1">
                  <c:v>64.8</c:v>
                </c:pt>
                <c:pt idx="2">
                  <c:v>55.2</c:v>
                </c:pt>
                <c:pt idx="3">
                  <c:v>48</c:v>
                </c:pt>
                <c:pt idx="4">
                  <c:v>45.2</c:v>
                </c:pt>
                <c:pt idx="5">
                  <c:v>44.9</c:v>
                </c:pt>
                <c:pt idx="6">
                  <c:v>44.4</c:v>
                </c:pt>
                <c:pt idx="7">
                  <c:v>43.7</c:v>
                </c:pt>
                <c:pt idx="8">
                  <c:v>42.9</c:v>
                </c:pt>
                <c:pt idx="9">
                  <c:v>40.299999999999997</c:v>
                </c:pt>
                <c:pt idx="10">
                  <c:v>40</c:v>
                </c:pt>
                <c:pt idx="11">
                  <c:v>39.5</c:v>
                </c:pt>
                <c:pt idx="12">
                  <c:v>37.799999999999997</c:v>
                </c:pt>
                <c:pt idx="13">
                  <c:v>37.5</c:v>
                </c:pt>
                <c:pt idx="14">
                  <c:v>36.799999999999997</c:v>
                </c:pt>
                <c:pt idx="15">
                  <c:v>36.5</c:v>
                </c:pt>
                <c:pt idx="16">
                  <c:v>36.4</c:v>
                </c:pt>
                <c:pt idx="17">
                  <c:v>33.9</c:v>
                </c:pt>
                <c:pt idx="18">
                  <c:v>33.4</c:v>
                </c:pt>
                <c:pt idx="19">
                  <c:v>33.4</c:v>
                </c:pt>
                <c:pt idx="20">
                  <c:v>32.9</c:v>
                </c:pt>
                <c:pt idx="21">
                  <c:v>30.9</c:v>
                </c:pt>
                <c:pt idx="22">
                  <c:v>30.9</c:v>
                </c:pt>
                <c:pt idx="23">
                  <c:v>30.4</c:v>
                </c:pt>
                <c:pt idx="24">
                  <c:v>29.6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DAF-43FE-9BC7-D0D8DBBB48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22"/>
        <c:axId val="1459620655"/>
        <c:axId val="1459626063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Samsung Z Fold Index</c:v>
                </c:pt>
              </c:strCache>
            </c:strRef>
          </c:tx>
          <c:spPr>
            <a:ln w="19050" cap="rnd">
              <a:solidFill>
                <a:srgbClr val="008291"/>
              </a:solidFill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Watched any video</c:v>
                </c:pt>
                <c:pt idx="1">
                  <c:v>Purchased any new or secondhand product and / or service</c:v>
                </c:pt>
                <c:pt idx="2">
                  <c:v>Watched a music video</c:v>
                </c:pt>
                <c:pt idx="3">
                  <c:v>Used a voice assistant</c:v>
                </c:pt>
                <c:pt idx="4">
                  <c:v>Listened to a music-streaming service</c:v>
                </c:pt>
                <c:pt idx="5">
                  <c:v>Watched other short video (Under 10 mins)</c:v>
                </c:pt>
                <c:pt idx="6">
                  <c:v>None of these</c:v>
                </c:pt>
                <c:pt idx="7">
                  <c:v>Shopped / browsed for products online</c:v>
                </c:pt>
                <c:pt idx="8">
                  <c:v>Watched a comedy / meme / viral video</c:v>
                </c:pt>
                <c:pt idx="9">
                  <c:v>Ordered groceries</c:v>
                </c:pt>
                <c:pt idx="10">
                  <c:v>Purchased a product / service</c:v>
                </c:pt>
                <c:pt idx="11">
                  <c:v>Read / watched food recipes</c:v>
                </c:pt>
                <c:pt idx="12">
                  <c:v>Watched sports highlights / clips</c:v>
                </c:pt>
                <c:pt idx="13">
                  <c:v>Watched a sports match / commentary</c:v>
                </c:pt>
                <c:pt idx="14">
                  <c:v>Watched other long video (10 mins+)</c:v>
                </c:pt>
                <c:pt idx="15">
                  <c:v>Watched an educational video</c:v>
                </c:pt>
                <c:pt idx="16">
                  <c:v>Attended a conference / video call</c:v>
                </c:pt>
                <c:pt idx="17">
                  <c:v>Written a review of a product / service</c:v>
                </c:pt>
                <c:pt idx="18">
                  <c:v>Used a voice assistant (e.g. Siri, Alexa) to find information</c:v>
                </c:pt>
                <c:pt idx="19">
                  <c:v>Watched a product review video</c:v>
                </c:pt>
                <c:pt idx="20">
                  <c:v>Watched a live video stream</c:v>
                </c:pt>
                <c:pt idx="21">
                  <c:v>Translated text into a different language</c:v>
                </c:pt>
                <c:pt idx="22">
                  <c:v>Watched a vlog / influencer video</c:v>
                </c:pt>
                <c:pt idx="23">
                  <c:v>Used a voice assistant to complete an action (e.g. play a song)</c:v>
                </c:pt>
                <c:pt idx="24">
                  <c:v>Shared your own blog post or video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105.9</c:v>
                </c:pt>
                <c:pt idx="1">
                  <c:v>125.1</c:v>
                </c:pt>
                <c:pt idx="2">
                  <c:v>122.8</c:v>
                </c:pt>
                <c:pt idx="3">
                  <c:v>183.4</c:v>
                </c:pt>
                <c:pt idx="4">
                  <c:v>141</c:v>
                </c:pt>
                <c:pt idx="5">
                  <c:v>103.8</c:v>
                </c:pt>
                <c:pt idx="6">
                  <c:v>87.2</c:v>
                </c:pt>
                <c:pt idx="7">
                  <c:v>77.3</c:v>
                </c:pt>
                <c:pt idx="8">
                  <c:v>124.2</c:v>
                </c:pt>
                <c:pt idx="9">
                  <c:v>153.6</c:v>
                </c:pt>
                <c:pt idx="10">
                  <c:v>103.1</c:v>
                </c:pt>
                <c:pt idx="11">
                  <c:v>110.8</c:v>
                </c:pt>
                <c:pt idx="12">
                  <c:v>177.1</c:v>
                </c:pt>
                <c:pt idx="13">
                  <c:v>165</c:v>
                </c:pt>
                <c:pt idx="14">
                  <c:v>131.9</c:v>
                </c:pt>
                <c:pt idx="15">
                  <c:v>159.6</c:v>
                </c:pt>
                <c:pt idx="16">
                  <c:v>166.5</c:v>
                </c:pt>
                <c:pt idx="17">
                  <c:v>165.8</c:v>
                </c:pt>
                <c:pt idx="18">
                  <c:v>201.6</c:v>
                </c:pt>
                <c:pt idx="19">
                  <c:v>157.9</c:v>
                </c:pt>
                <c:pt idx="20">
                  <c:v>148.1</c:v>
                </c:pt>
                <c:pt idx="21">
                  <c:v>129.69999999999999</c:v>
                </c:pt>
                <c:pt idx="22">
                  <c:v>146.6</c:v>
                </c:pt>
                <c:pt idx="23">
                  <c:v>201.5</c:v>
                </c:pt>
                <c:pt idx="24">
                  <c:v>179.5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DAF-43FE-9BC7-D0D8DBBB48C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vivo X Series Index</c:v>
                </c:pt>
              </c:strCache>
            </c:strRef>
          </c:tx>
          <c:spPr>
            <a:ln w="19050" cap="rnd">
              <a:solidFill>
                <a:srgbClr val="5461C8"/>
              </a:solidFill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Watched any video</c:v>
                </c:pt>
                <c:pt idx="1">
                  <c:v>Purchased any new or secondhand product and / or service</c:v>
                </c:pt>
                <c:pt idx="2">
                  <c:v>Watched a music video</c:v>
                </c:pt>
                <c:pt idx="3">
                  <c:v>Used a voice assistant</c:v>
                </c:pt>
                <c:pt idx="4">
                  <c:v>Listened to a music-streaming service</c:v>
                </c:pt>
                <c:pt idx="5">
                  <c:v>Watched other short video (Under 10 mins)</c:v>
                </c:pt>
                <c:pt idx="6">
                  <c:v>None of these</c:v>
                </c:pt>
                <c:pt idx="7">
                  <c:v>Shopped / browsed for products online</c:v>
                </c:pt>
                <c:pt idx="8">
                  <c:v>Watched a comedy / meme / viral video</c:v>
                </c:pt>
                <c:pt idx="9">
                  <c:v>Ordered groceries</c:v>
                </c:pt>
                <c:pt idx="10">
                  <c:v>Purchased a product / service</c:v>
                </c:pt>
                <c:pt idx="11">
                  <c:v>Read / watched food recipes</c:v>
                </c:pt>
                <c:pt idx="12">
                  <c:v>Watched sports highlights / clips</c:v>
                </c:pt>
                <c:pt idx="13">
                  <c:v>Watched a sports match / commentary</c:v>
                </c:pt>
                <c:pt idx="14">
                  <c:v>Watched other long video (10 mins+)</c:v>
                </c:pt>
                <c:pt idx="15">
                  <c:v>Watched an educational video</c:v>
                </c:pt>
                <c:pt idx="16">
                  <c:v>Attended a conference / video call</c:v>
                </c:pt>
                <c:pt idx="17">
                  <c:v>Written a review of a product / service</c:v>
                </c:pt>
                <c:pt idx="18">
                  <c:v>Used a voice assistant (e.g. Siri, Alexa) to find information</c:v>
                </c:pt>
                <c:pt idx="19">
                  <c:v>Watched a product review video</c:v>
                </c:pt>
                <c:pt idx="20">
                  <c:v>Watched a live video stream</c:v>
                </c:pt>
                <c:pt idx="21">
                  <c:v>Translated text into a different language</c:v>
                </c:pt>
                <c:pt idx="22">
                  <c:v>Watched a vlog / influencer video</c:v>
                </c:pt>
                <c:pt idx="23">
                  <c:v>Used a voice assistant to complete an action (e.g. play a song)</c:v>
                </c:pt>
                <c:pt idx="24">
                  <c:v>Shared your own blog post or video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104.3</c:v>
                </c:pt>
                <c:pt idx="1">
                  <c:v>115.7</c:v>
                </c:pt>
                <c:pt idx="2">
                  <c:v>112.3</c:v>
                </c:pt>
                <c:pt idx="3">
                  <c:v>159.80000000000001</c:v>
                </c:pt>
                <c:pt idx="4">
                  <c:v>117.2</c:v>
                </c:pt>
                <c:pt idx="5">
                  <c:v>86.9</c:v>
                </c:pt>
                <c:pt idx="6">
                  <c:v>107.9</c:v>
                </c:pt>
                <c:pt idx="7">
                  <c:v>86.5</c:v>
                </c:pt>
                <c:pt idx="8">
                  <c:v>122.3</c:v>
                </c:pt>
                <c:pt idx="9">
                  <c:v>145.9</c:v>
                </c:pt>
                <c:pt idx="10">
                  <c:v>102.7</c:v>
                </c:pt>
                <c:pt idx="11">
                  <c:v>101</c:v>
                </c:pt>
                <c:pt idx="12">
                  <c:v>148</c:v>
                </c:pt>
                <c:pt idx="13">
                  <c:v>154.80000000000001</c:v>
                </c:pt>
                <c:pt idx="14">
                  <c:v>99.5</c:v>
                </c:pt>
                <c:pt idx="15">
                  <c:v>141.80000000000001</c:v>
                </c:pt>
                <c:pt idx="16">
                  <c:v>137.80000000000001</c:v>
                </c:pt>
                <c:pt idx="17">
                  <c:v>149</c:v>
                </c:pt>
                <c:pt idx="18">
                  <c:v>169.2</c:v>
                </c:pt>
                <c:pt idx="19">
                  <c:v>133.5</c:v>
                </c:pt>
                <c:pt idx="20">
                  <c:v>118.5</c:v>
                </c:pt>
                <c:pt idx="21">
                  <c:v>110.1</c:v>
                </c:pt>
                <c:pt idx="22">
                  <c:v>131.19999999999999</c:v>
                </c:pt>
                <c:pt idx="23">
                  <c:v>160.1</c:v>
                </c:pt>
                <c:pt idx="24">
                  <c:v>154.30000000000001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0DAF-43FE-9BC7-D0D8DBBB48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11380415"/>
        <c:axId val="1011387903"/>
      </c:lineChart>
      <c:catAx>
        <c:axId val="14596206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9626063"/>
        <c:crosses val="autoZero"/>
        <c:auto val="1"/>
        <c:lblAlgn val="ctr"/>
        <c:lblOffset val="100"/>
        <c:noMultiLvlLbl val="0"/>
      </c:catAx>
      <c:valAx>
        <c:axId val="1459626063"/>
        <c:scaling>
          <c:orientation val="minMax"/>
          <c:max val="10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9620655"/>
        <c:crosses val="autoZero"/>
        <c:crossBetween val="between"/>
      </c:valAx>
      <c:valAx>
        <c:axId val="1011387903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1380415"/>
        <c:crosses val="max"/>
        <c:crossBetween val="between"/>
      </c:valAx>
      <c:catAx>
        <c:axId val="101138041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01138790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100" b="1"/>
              <a:t>Attitudes: Top 15 'Describes me' statements (with Index &gt;142%)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6004070847815691"/>
          <c:y val="0.24227454024344985"/>
          <c:w val="0.49237018801583415"/>
          <c:h val="0.64740511668111855"/>
        </c:manualLayout>
      </c:layout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Samsung Z Fold Share</c:v>
                </c:pt>
              </c:strCache>
            </c:strRef>
          </c:tx>
          <c:spPr>
            <a:ln w="28575" cap="rnd">
              <a:solidFill>
                <a:srgbClr val="008291"/>
              </a:solidFill>
              <a:round/>
            </a:ln>
            <a:effectLst/>
          </c:spPr>
          <c:marker>
            <c:symbol val="none"/>
          </c:marker>
          <c:cat>
            <c:strRef>
              <c:f>Sheet1!$A$2:$A$16</c:f>
              <c:strCache>
                <c:ptCount val="15"/>
                <c:pt idx="0">
                  <c:v>I buy new tech products as soon as they are available</c:v>
                </c:pt>
                <c:pt idx="1">
                  <c:v>I buy products / services to access the community built around them</c:v>
                </c:pt>
                <c:pt idx="2">
                  <c:v>I tend to buy the premium version of products</c:v>
                </c:pt>
                <c:pt idx="3">
                  <c:v>I feel represented in the advertising I see</c:v>
                </c:pt>
                <c:pt idx="4">
                  <c:v>I consider myself an opinion leader</c:v>
                </c:pt>
                <c:pt idx="5">
                  <c:v>Affluent</c:v>
                </c:pt>
                <c:pt idx="6">
                  <c:v>I think immigration is good for my country</c:v>
                </c:pt>
                <c:pt idx="7">
                  <c:v>I feel in control of my personal data online</c:v>
                </c:pt>
                <c:pt idx="8">
                  <c:v>I prefer thinking about the past, rather than the future</c:v>
                </c:pt>
                <c:pt idx="9">
                  <c:v>I take risks</c:v>
                </c:pt>
                <c:pt idx="10">
                  <c:v>I feel using social media causes me anxiety</c:v>
                </c:pt>
                <c:pt idx="11">
                  <c:v>I tend to buy brands I have seen advertised</c:v>
                </c:pt>
                <c:pt idx="12">
                  <c:v>I am comfortable with my apps tracking my activity (e.g. walking, sleeping)</c:v>
                </c:pt>
                <c:pt idx="13">
                  <c:v>I trust new technology to improve my health</c:v>
                </c:pt>
                <c:pt idx="14">
                  <c:v>I like to be the first to try new things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46.3</c:v>
                </c:pt>
                <c:pt idx="1">
                  <c:v>41.4</c:v>
                </c:pt>
                <c:pt idx="2">
                  <c:v>37.4</c:v>
                </c:pt>
                <c:pt idx="3">
                  <c:v>31</c:v>
                </c:pt>
                <c:pt idx="4">
                  <c:v>45.6</c:v>
                </c:pt>
                <c:pt idx="5">
                  <c:v>23</c:v>
                </c:pt>
                <c:pt idx="6">
                  <c:v>25.9</c:v>
                </c:pt>
                <c:pt idx="7">
                  <c:v>48.9</c:v>
                </c:pt>
                <c:pt idx="8">
                  <c:v>24.9</c:v>
                </c:pt>
                <c:pt idx="9">
                  <c:v>45.1</c:v>
                </c:pt>
                <c:pt idx="10">
                  <c:v>32.5</c:v>
                </c:pt>
                <c:pt idx="11">
                  <c:v>42.6</c:v>
                </c:pt>
                <c:pt idx="12">
                  <c:v>45</c:v>
                </c:pt>
                <c:pt idx="13">
                  <c:v>54.9</c:v>
                </c:pt>
                <c:pt idx="14">
                  <c:v>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F8-420B-A235-D0B37F024BD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vivo X Fold3 Share</c:v>
                </c:pt>
              </c:strCache>
            </c:strRef>
          </c:tx>
          <c:spPr>
            <a:ln w="28575" cap="rnd">
              <a:solidFill>
                <a:srgbClr val="5461C8"/>
              </a:solidFill>
              <a:round/>
            </a:ln>
            <a:effectLst/>
          </c:spPr>
          <c:marker>
            <c:symbol val="none"/>
          </c:marker>
          <c:cat>
            <c:strRef>
              <c:f>Sheet1!$A$2:$A$16</c:f>
              <c:strCache>
                <c:ptCount val="15"/>
                <c:pt idx="0">
                  <c:v>I buy new tech products as soon as they are available</c:v>
                </c:pt>
                <c:pt idx="1">
                  <c:v>I buy products / services to access the community built around them</c:v>
                </c:pt>
                <c:pt idx="2">
                  <c:v>I tend to buy the premium version of products</c:v>
                </c:pt>
                <c:pt idx="3">
                  <c:v>I feel represented in the advertising I see</c:v>
                </c:pt>
                <c:pt idx="4">
                  <c:v>I consider myself an opinion leader</c:v>
                </c:pt>
                <c:pt idx="5">
                  <c:v>Affluent</c:v>
                </c:pt>
                <c:pt idx="6">
                  <c:v>I think immigration is good for my country</c:v>
                </c:pt>
                <c:pt idx="7">
                  <c:v>I feel in control of my personal data online</c:v>
                </c:pt>
                <c:pt idx="8">
                  <c:v>I prefer thinking about the past, rather than the future</c:v>
                </c:pt>
                <c:pt idx="9">
                  <c:v>I take risks</c:v>
                </c:pt>
                <c:pt idx="10">
                  <c:v>I feel using social media causes me anxiety</c:v>
                </c:pt>
                <c:pt idx="11">
                  <c:v>I tend to buy brands I have seen advertised</c:v>
                </c:pt>
                <c:pt idx="12">
                  <c:v>I am comfortable with my apps tracking my activity (e.g. walking, sleeping)</c:v>
                </c:pt>
                <c:pt idx="13">
                  <c:v>I trust new technology to improve my health</c:v>
                </c:pt>
                <c:pt idx="14">
                  <c:v>I like to be the first to try new things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38.5</c:v>
                </c:pt>
                <c:pt idx="1">
                  <c:v>29.8</c:v>
                </c:pt>
                <c:pt idx="2">
                  <c:v>36.200000000000003</c:v>
                </c:pt>
                <c:pt idx="3">
                  <c:v>27.5</c:v>
                </c:pt>
                <c:pt idx="4">
                  <c:v>35.9</c:v>
                </c:pt>
                <c:pt idx="5">
                  <c:v>22.5</c:v>
                </c:pt>
                <c:pt idx="6">
                  <c:v>24.5</c:v>
                </c:pt>
                <c:pt idx="7">
                  <c:v>40.1</c:v>
                </c:pt>
                <c:pt idx="8">
                  <c:v>19.8</c:v>
                </c:pt>
                <c:pt idx="9">
                  <c:v>40</c:v>
                </c:pt>
                <c:pt idx="10">
                  <c:v>22.7</c:v>
                </c:pt>
                <c:pt idx="11">
                  <c:v>35.700000000000003</c:v>
                </c:pt>
                <c:pt idx="12">
                  <c:v>38.1</c:v>
                </c:pt>
                <c:pt idx="13">
                  <c:v>46</c:v>
                </c:pt>
                <c:pt idx="14">
                  <c:v>45.7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AF8-420B-A235-D0B37F024B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49598720"/>
        <c:axId val="749587488"/>
      </c:radarChart>
      <c:catAx>
        <c:axId val="749598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pPr>
            <a:endParaRPr lang="en-US"/>
          </a:p>
        </c:txPr>
        <c:crossAx val="749587488"/>
        <c:crosses val="autoZero"/>
        <c:auto val="1"/>
        <c:lblAlgn val="ctr"/>
        <c:lblOffset val="100"/>
        <c:noMultiLvlLbl val="0"/>
      </c:catAx>
      <c:valAx>
        <c:axId val="7495874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9D9F9E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49598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 sz="1050"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200"/>
              <a:t>Share (in 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Samsung Z Fold Share</c:v>
                </c:pt>
              </c:strCache>
            </c:strRef>
          </c:tx>
          <c:spPr>
            <a:solidFill>
              <a:srgbClr val="008291"/>
            </a:solidFill>
            <a:ln>
              <a:noFill/>
            </a:ln>
            <a:effectLst/>
          </c:spPr>
          <c:invertIfNegative val="0"/>
          <c:cat>
            <c:strRef>
              <c:f>Sheet1!$A$2:$A$16</c:f>
              <c:strCache>
                <c:ptCount val="15"/>
                <c:pt idx="0">
                  <c:v>Ads seen on TV</c:v>
                </c:pt>
                <c:pt idx="1">
                  <c:v>Search engines</c:v>
                </c:pt>
                <c:pt idx="2">
                  <c:v>Online retail websites</c:v>
                </c:pt>
                <c:pt idx="3">
                  <c:v>TV shows / films</c:v>
                </c:pt>
                <c:pt idx="4">
                  <c:v>Ads seen on social media</c:v>
                </c:pt>
                <c:pt idx="5">
                  <c:v>Brand / product websites</c:v>
                </c:pt>
                <c:pt idx="6">
                  <c:v>Ads seen on websites</c:v>
                </c:pt>
                <c:pt idx="7">
                  <c:v>Ads seen on mobile or tablet apps</c:v>
                </c:pt>
                <c:pt idx="8">
                  <c:v>Consumer review sites</c:v>
                </c:pt>
                <c:pt idx="9">
                  <c:v>Ads seen before online videos or TV play</c:v>
                </c:pt>
                <c:pt idx="10">
                  <c:v>Word-of-mouth recommendations from friend or family members</c:v>
                </c:pt>
                <c:pt idx="11">
                  <c:v>Product comparison websites</c:v>
                </c:pt>
                <c:pt idx="12">
                  <c:v>Ads in magazines or newspapers</c:v>
                </c:pt>
                <c:pt idx="13">
                  <c:v>Ads seen in video / mobile games</c:v>
                </c:pt>
                <c:pt idx="14">
                  <c:v>Recommendations / comments on social media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40.200000000000003</c:v>
                </c:pt>
                <c:pt idx="1">
                  <c:v>28</c:v>
                </c:pt>
                <c:pt idx="2">
                  <c:v>27.5</c:v>
                </c:pt>
                <c:pt idx="3">
                  <c:v>32</c:v>
                </c:pt>
                <c:pt idx="4">
                  <c:v>32.700000000000003</c:v>
                </c:pt>
                <c:pt idx="5">
                  <c:v>26.4</c:v>
                </c:pt>
                <c:pt idx="6">
                  <c:v>20.7</c:v>
                </c:pt>
                <c:pt idx="7">
                  <c:v>21.2</c:v>
                </c:pt>
                <c:pt idx="8">
                  <c:v>21</c:v>
                </c:pt>
                <c:pt idx="9">
                  <c:v>24.9</c:v>
                </c:pt>
                <c:pt idx="10">
                  <c:v>27.1</c:v>
                </c:pt>
                <c:pt idx="11">
                  <c:v>20.100000000000001</c:v>
                </c:pt>
                <c:pt idx="12">
                  <c:v>23.9</c:v>
                </c:pt>
                <c:pt idx="13">
                  <c:v>23.6</c:v>
                </c:pt>
                <c:pt idx="14">
                  <c:v>21.8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4E-4A9B-9EFE-F523D6C291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vivo X Fold3 Share</c:v>
                </c:pt>
              </c:strCache>
            </c:strRef>
          </c:tx>
          <c:spPr>
            <a:solidFill>
              <a:srgbClr val="5461C8"/>
            </a:solidFill>
            <a:ln>
              <a:noFill/>
            </a:ln>
            <a:effectLst/>
          </c:spPr>
          <c:invertIfNegative val="0"/>
          <c:cat>
            <c:strRef>
              <c:f>Sheet1!$A$2:$A$16</c:f>
              <c:strCache>
                <c:ptCount val="15"/>
                <c:pt idx="0">
                  <c:v>Ads seen on TV</c:v>
                </c:pt>
                <c:pt idx="1">
                  <c:v>Search engines</c:v>
                </c:pt>
                <c:pt idx="2">
                  <c:v>Online retail websites</c:v>
                </c:pt>
                <c:pt idx="3">
                  <c:v>TV shows / films</c:v>
                </c:pt>
                <c:pt idx="4">
                  <c:v>Ads seen on social media</c:v>
                </c:pt>
                <c:pt idx="5">
                  <c:v>Brand / product websites</c:v>
                </c:pt>
                <c:pt idx="6">
                  <c:v>Ads seen on websites</c:v>
                </c:pt>
                <c:pt idx="7">
                  <c:v>Ads seen on mobile or tablet apps</c:v>
                </c:pt>
                <c:pt idx="8">
                  <c:v>Consumer review sites</c:v>
                </c:pt>
                <c:pt idx="9">
                  <c:v>Ads seen before online videos or TV play</c:v>
                </c:pt>
                <c:pt idx="10">
                  <c:v>Word-of-mouth recommendations from friend or family members</c:v>
                </c:pt>
                <c:pt idx="11">
                  <c:v>Product comparison websites</c:v>
                </c:pt>
                <c:pt idx="12">
                  <c:v>Ads in magazines or newspapers</c:v>
                </c:pt>
                <c:pt idx="13">
                  <c:v>Ads seen in video / mobile games</c:v>
                </c:pt>
                <c:pt idx="14">
                  <c:v>Recommendations / comments on social media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32.5</c:v>
                </c:pt>
                <c:pt idx="1">
                  <c:v>30.2</c:v>
                </c:pt>
                <c:pt idx="2">
                  <c:v>29.9</c:v>
                </c:pt>
                <c:pt idx="3">
                  <c:v>29.5</c:v>
                </c:pt>
                <c:pt idx="4">
                  <c:v>29.1</c:v>
                </c:pt>
                <c:pt idx="5">
                  <c:v>26.4</c:v>
                </c:pt>
                <c:pt idx="6">
                  <c:v>24.8</c:v>
                </c:pt>
                <c:pt idx="7">
                  <c:v>24.7</c:v>
                </c:pt>
                <c:pt idx="8">
                  <c:v>23.1</c:v>
                </c:pt>
                <c:pt idx="9">
                  <c:v>22.3</c:v>
                </c:pt>
                <c:pt idx="10">
                  <c:v>22.3</c:v>
                </c:pt>
                <c:pt idx="11">
                  <c:v>22</c:v>
                </c:pt>
                <c:pt idx="12">
                  <c:v>21.5</c:v>
                </c:pt>
                <c:pt idx="13">
                  <c:v>21.4</c:v>
                </c:pt>
                <c:pt idx="14">
                  <c:v>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24E-4A9B-9EFE-F523D6C291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7"/>
        <c:overlap val="-50"/>
        <c:axId val="1351668591"/>
        <c:axId val="1351656111"/>
      </c:barChart>
      <c:catAx>
        <c:axId val="135166859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51656111"/>
        <c:crosses val="autoZero"/>
        <c:auto val="1"/>
        <c:lblAlgn val="ctr"/>
        <c:lblOffset val="100"/>
        <c:noMultiLvlLbl val="0"/>
      </c:catAx>
      <c:valAx>
        <c:axId val="135165611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516685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200"/>
              <a:t>Index (in 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Samsung Z Fold Index</c:v>
                </c:pt>
              </c:strCache>
            </c:strRef>
          </c:tx>
          <c:spPr>
            <a:solidFill>
              <a:srgbClr val="008291"/>
            </a:solidFill>
            <a:ln>
              <a:noFill/>
            </a:ln>
            <a:effectLst/>
          </c:spPr>
          <c:invertIfNegative val="0"/>
          <c:cat>
            <c:strRef>
              <c:f>Sheet1!$A$2:$A$16</c:f>
              <c:strCache>
                <c:ptCount val="15"/>
                <c:pt idx="0">
                  <c:v>Ads seen on TV</c:v>
                </c:pt>
                <c:pt idx="1">
                  <c:v>Search engines</c:v>
                </c:pt>
                <c:pt idx="2">
                  <c:v>Online retail websites</c:v>
                </c:pt>
                <c:pt idx="3">
                  <c:v>TV shows / films</c:v>
                </c:pt>
                <c:pt idx="4">
                  <c:v>Ads seen on social media</c:v>
                </c:pt>
                <c:pt idx="5">
                  <c:v>Brand / product websites</c:v>
                </c:pt>
                <c:pt idx="6">
                  <c:v>Ads seen on websites</c:v>
                </c:pt>
                <c:pt idx="7">
                  <c:v>Ads seen on mobile or tablet apps</c:v>
                </c:pt>
                <c:pt idx="8">
                  <c:v>Consumer review sites</c:v>
                </c:pt>
                <c:pt idx="9">
                  <c:v>Ads seen before online videos or TV shows start to play</c:v>
                </c:pt>
                <c:pt idx="10">
                  <c:v>Word-of-mouth recommendations from friend or family members</c:v>
                </c:pt>
                <c:pt idx="11">
                  <c:v>Product comparison websites</c:v>
                </c:pt>
                <c:pt idx="12">
                  <c:v>Ads in magazines or newspapers</c:v>
                </c:pt>
                <c:pt idx="13">
                  <c:v>Ads seen in video / mobile games</c:v>
                </c:pt>
                <c:pt idx="14">
                  <c:v>Recommendations / comments on social media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145.69999999999999</c:v>
                </c:pt>
                <c:pt idx="1">
                  <c:v>91.2</c:v>
                </c:pt>
                <c:pt idx="2">
                  <c:v>131.19999999999999</c:v>
                </c:pt>
                <c:pt idx="3">
                  <c:v>154</c:v>
                </c:pt>
                <c:pt idx="4">
                  <c:v>127.2</c:v>
                </c:pt>
                <c:pt idx="5">
                  <c:v>134.6</c:v>
                </c:pt>
                <c:pt idx="6">
                  <c:v>99.4</c:v>
                </c:pt>
                <c:pt idx="7">
                  <c:v>110.9</c:v>
                </c:pt>
                <c:pt idx="8">
                  <c:v>125.8</c:v>
                </c:pt>
                <c:pt idx="9">
                  <c:v>163.80000000000001</c:v>
                </c:pt>
                <c:pt idx="10">
                  <c:v>105.2</c:v>
                </c:pt>
                <c:pt idx="11">
                  <c:v>132.5</c:v>
                </c:pt>
                <c:pt idx="12">
                  <c:v>236.4</c:v>
                </c:pt>
                <c:pt idx="13">
                  <c:v>221.5</c:v>
                </c:pt>
                <c:pt idx="14">
                  <c:v>110.4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96-4677-ADAC-B490B9A82B4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vivo X Fold3 Index</c:v>
                </c:pt>
              </c:strCache>
            </c:strRef>
          </c:tx>
          <c:spPr>
            <a:solidFill>
              <a:srgbClr val="5461C8"/>
            </a:solidFill>
            <a:ln>
              <a:noFill/>
            </a:ln>
            <a:effectLst/>
          </c:spPr>
          <c:invertIfNegative val="0"/>
          <c:cat>
            <c:strRef>
              <c:f>Sheet1!$A$2:$A$16</c:f>
              <c:strCache>
                <c:ptCount val="15"/>
                <c:pt idx="0">
                  <c:v>Ads seen on TV</c:v>
                </c:pt>
                <c:pt idx="1">
                  <c:v>Search engines</c:v>
                </c:pt>
                <c:pt idx="2">
                  <c:v>Online retail websites</c:v>
                </c:pt>
                <c:pt idx="3">
                  <c:v>TV shows / films</c:v>
                </c:pt>
                <c:pt idx="4">
                  <c:v>Ads seen on social media</c:v>
                </c:pt>
                <c:pt idx="5">
                  <c:v>Brand / product websites</c:v>
                </c:pt>
                <c:pt idx="6">
                  <c:v>Ads seen on websites</c:v>
                </c:pt>
                <c:pt idx="7">
                  <c:v>Ads seen on mobile or tablet apps</c:v>
                </c:pt>
                <c:pt idx="8">
                  <c:v>Consumer review sites</c:v>
                </c:pt>
                <c:pt idx="9">
                  <c:v>Ads seen before online videos or TV shows start to play</c:v>
                </c:pt>
                <c:pt idx="10">
                  <c:v>Word-of-mouth recommendations from friend or family members</c:v>
                </c:pt>
                <c:pt idx="11">
                  <c:v>Product comparison websites</c:v>
                </c:pt>
                <c:pt idx="12">
                  <c:v>Ads in magazines or newspapers</c:v>
                </c:pt>
                <c:pt idx="13">
                  <c:v>Ads seen in video / mobile games</c:v>
                </c:pt>
                <c:pt idx="14">
                  <c:v>Recommendations / comments on social media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105.7</c:v>
                </c:pt>
                <c:pt idx="1">
                  <c:v>95.2</c:v>
                </c:pt>
                <c:pt idx="2">
                  <c:v>132.80000000000001</c:v>
                </c:pt>
                <c:pt idx="3">
                  <c:v>127.6</c:v>
                </c:pt>
                <c:pt idx="4">
                  <c:v>102.4</c:v>
                </c:pt>
                <c:pt idx="5">
                  <c:v>105.5</c:v>
                </c:pt>
                <c:pt idx="6">
                  <c:v>109.2</c:v>
                </c:pt>
                <c:pt idx="7">
                  <c:v>117.6</c:v>
                </c:pt>
                <c:pt idx="8">
                  <c:v>106.5</c:v>
                </c:pt>
                <c:pt idx="9">
                  <c:v>131.69999999999999</c:v>
                </c:pt>
                <c:pt idx="10">
                  <c:v>79.5</c:v>
                </c:pt>
                <c:pt idx="11">
                  <c:v>119.5</c:v>
                </c:pt>
                <c:pt idx="12">
                  <c:v>167.3</c:v>
                </c:pt>
                <c:pt idx="13">
                  <c:v>159</c:v>
                </c:pt>
                <c:pt idx="14">
                  <c:v>93.8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696-4677-ADAC-B490B9A82B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7"/>
        <c:overlap val="-50"/>
        <c:axId val="1351668591"/>
        <c:axId val="1351656111"/>
      </c:barChart>
      <c:catAx>
        <c:axId val="135166859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51656111"/>
        <c:crosses val="autoZero"/>
        <c:auto val="1"/>
        <c:lblAlgn val="ctr"/>
        <c:lblOffset val="100"/>
        <c:noMultiLvlLbl val="0"/>
      </c:catAx>
      <c:valAx>
        <c:axId val="135165611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516685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Option 3 - 8 Cr</a:t>
            </a:r>
          </a:p>
          <a:p>
            <a:pPr>
              <a:defRPr/>
            </a:pPr>
            <a:r>
              <a:rPr lang="en-US"/>
              <a:t>(Core Only)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'ChannelSplit basis RF-CPM-Cost'!$B$37</c:f>
              <c:strCache>
                <c:ptCount val="1"/>
                <c:pt idx="0">
                  <c:v>Budget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4B-4E86-BBE2-794B3F4F3F7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4B-4E86-BBE2-794B3F4F3F7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4B-4E86-BBE2-794B3F4F3F7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74B-4E86-BBE2-794B3F4F3F7C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174B-4E86-BBE2-794B3F4F3F7C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174B-4E86-BBE2-794B3F4F3F7C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174B-4E86-BBE2-794B3F4F3F7C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174B-4E86-BBE2-794B3F4F3F7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'ChannelSplit basis RF-CPM-Cost'!$A$38:$A$45</c:f>
              <c:strCache>
                <c:ptCount val="8"/>
                <c:pt idx="0">
                  <c:v>Online Search</c:v>
                </c:pt>
                <c:pt idx="1">
                  <c:v>Social Media </c:v>
                </c:pt>
                <c:pt idx="2">
                  <c:v>Online Video Auction</c:v>
                </c:pt>
                <c:pt idx="3">
                  <c:v>Display Auction</c:v>
                </c:pt>
                <c:pt idx="4">
                  <c:v>Online Video Reserve Buy</c:v>
                </c:pt>
                <c:pt idx="5">
                  <c:v>Display Reserve Buy</c:v>
                </c:pt>
                <c:pt idx="6">
                  <c:v>Concurrency &amp; Webcasting</c:v>
                </c:pt>
                <c:pt idx="7">
                  <c:v>Ad Serving &amp; Agency Fees</c:v>
                </c:pt>
              </c:strCache>
            </c:strRef>
          </c:cat>
          <c:val>
            <c:numRef>
              <c:f>'ChannelSplit basis RF-CPM-Cost'!$B$38:$B$45</c:f>
              <c:numCache>
                <c:formatCode>#,##0</c:formatCode>
                <c:ptCount val="8"/>
                <c:pt idx="0">
                  <c:v>15000000</c:v>
                </c:pt>
                <c:pt idx="1">
                  <c:v>14100000</c:v>
                </c:pt>
                <c:pt idx="2">
                  <c:v>19000000</c:v>
                </c:pt>
                <c:pt idx="3">
                  <c:v>4500000</c:v>
                </c:pt>
                <c:pt idx="4">
                  <c:v>5500000</c:v>
                </c:pt>
                <c:pt idx="5">
                  <c:v>18000000</c:v>
                </c:pt>
                <c:pt idx="6">
                  <c:v>1620000</c:v>
                </c:pt>
                <c:pt idx="7">
                  <c:v>2280000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74B-4E86-BBE2-794B3F4F3F7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6929305448175676E-2"/>
          <c:y val="0.81782581866905879"/>
          <c:w val="0.98307069455182428"/>
          <c:h val="0.1626556837122235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0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X Fold3 Channel Split</a:t>
            </a:r>
          </a:p>
          <a:p>
            <a:pPr>
              <a:defRPr/>
            </a:pPr>
            <a:r>
              <a:rPr lang="en-US"/>
              <a:t>Budget – 8 Cr</a:t>
            </a:r>
          </a:p>
        </c:rich>
      </c:tx>
      <c:layout>
        <c:manualLayout>
          <c:xMode val="edge"/>
          <c:yMode val="edge"/>
          <c:x val="0.72985565874956404"/>
          <c:y val="0.3689727532921168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33375042432604507"/>
          <c:y val="0.14024201956344173"/>
          <c:w val="0.28601706846627839"/>
          <c:h val="0.60707805122620151"/>
        </c:manualLayout>
      </c:layout>
      <c:pieChart>
        <c:varyColors val="1"/>
        <c:ser>
          <c:idx val="0"/>
          <c:order val="0"/>
          <c:tx>
            <c:strRef>
              <c:f>'ChannelSplit basis RnF-CPM-Cost'!$C$30</c:f>
              <c:strCache>
                <c:ptCount val="1"/>
                <c:pt idx="0">
                  <c:v>Share</c:v>
                </c:pt>
              </c:strCache>
            </c:strRef>
          </c:tx>
          <c:explosion val="5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BF8-48BB-8212-F225EF9F358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BF8-48BB-8212-F225EF9F358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BF8-48BB-8212-F225EF9F358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BF8-48BB-8212-F225EF9F3587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BF8-48BB-8212-F225EF9F3587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6BF8-48BB-8212-F225EF9F3587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DD02-4129-A644-89E926B18D69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DD02-4129-A644-89E926B18D6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'ChannelSplit basis RnF-CPM-Cost'!$A$31:$A$38</c:f>
              <c:strCache>
                <c:ptCount val="8"/>
                <c:pt idx="0">
                  <c:v>Online Search</c:v>
                </c:pt>
                <c:pt idx="1">
                  <c:v>Social Media </c:v>
                </c:pt>
                <c:pt idx="2">
                  <c:v>Online Video Auction</c:v>
                </c:pt>
                <c:pt idx="3">
                  <c:v>Display Auction</c:v>
                </c:pt>
                <c:pt idx="4">
                  <c:v>Online Video Reserve Buy</c:v>
                </c:pt>
                <c:pt idx="5">
                  <c:v>Display Reserve Buy</c:v>
                </c:pt>
                <c:pt idx="6">
                  <c:v>Concurrency &amp; Webcasting</c:v>
                </c:pt>
                <c:pt idx="7">
                  <c:v>Ad Serving &amp; Agency Fees</c:v>
                </c:pt>
              </c:strCache>
            </c:strRef>
          </c:cat>
          <c:val>
            <c:numRef>
              <c:f>'ChannelSplit basis RnF-CPM-Cost'!$C$31:$C$38</c:f>
              <c:numCache>
                <c:formatCode>0%</c:formatCode>
                <c:ptCount val="8"/>
                <c:pt idx="0">
                  <c:v>0.1875</c:v>
                </c:pt>
                <c:pt idx="1">
                  <c:v>0.17624999999999999</c:v>
                </c:pt>
                <c:pt idx="2">
                  <c:v>0.23749999999999999</c:v>
                </c:pt>
                <c:pt idx="3">
                  <c:v>5.6250000000000001E-2</c:v>
                </c:pt>
                <c:pt idx="4">
                  <c:v>6.8750000000000006E-2</c:v>
                </c:pt>
                <c:pt idx="5">
                  <c:v>0.22500000000000001</c:v>
                </c:pt>
                <c:pt idx="6">
                  <c:v>2.0250000000000001E-2</c:v>
                </c:pt>
                <c:pt idx="7">
                  <c:v>2.8500000000000001E-2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BF8-48BB-8212-F225EF9F3587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3218636243466622E-4"/>
          <c:y val="0.77950370881948639"/>
          <c:w val="0.99725224443057403"/>
          <c:h val="0.188870055184046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 sz="900"/>
      </a:pPr>
      <a:endParaRPr lang="en-US"/>
    </a:p>
  </c:txPr>
  <c:externalData r:id="rId4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100"/>
              <a:t>X100 Channel Split</a:t>
            </a:r>
          </a:p>
          <a:p>
            <a:pPr>
              <a:defRPr sz="1100"/>
            </a:pPr>
            <a:r>
              <a:rPr lang="en-US" sz="1100"/>
              <a:t>Budget – 14.7 Cr</a:t>
            </a:r>
          </a:p>
        </c:rich>
      </c:tx>
      <c:layout>
        <c:manualLayout>
          <c:xMode val="edge"/>
          <c:yMode val="edge"/>
          <c:x val="0.69155153156281834"/>
          <c:y val="0.3426175566283942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32996531867863699"/>
          <c:y val="0.13109738888483069"/>
          <c:w val="0.28046836991532254"/>
          <c:h val="0.59530080617848813"/>
        </c:manualLayout>
      </c:layout>
      <c:pieChart>
        <c:varyColors val="1"/>
        <c:ser>
          <c:idx val="0"/>
          <c:order val="0"/>
          <c:tx>
            <c:strRef>
              <c:f>'ChannelSplit basis RF-CPM-Cost'!$C$74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200-44C4-9C1C-E6E72BCDFCB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200-44C4-9C1C-E6E72BCDFCB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200-44C4-9C1C-E6E72BCDFCB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200-44C4-9C1C-E6E72BCDFCBD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200-44C4-9C1C-E6E72BCDFCBD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4200-44C4-9C1C-E6E72BCDFCBD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4200-44C4-9C1C-E6E72BCDFCBD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4200-44C4-9C1C-E6E72BCDFCB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'ChannelSplit basis RF-CPM-Cost'!$A$75:$A$82</c:f>
              <c:strCache>
                <c:ptCount val="8"/>
                <c:pt idx="0">
                  <c:v>Online Search</c:v>
                </c:pt>
                <c:pt idx="1">
                  <c:v>Social Media </c:v>
                </c:pt>
                <c:pt idx="2">
                  <c:v>Online Video Auction</c:v>
                </c:pt>
                <c:pt idx="3">
                  <c:v>Display Auction</c:v>
                </c:pt>
                <c:pt idx="4">
                  <c:v>Online Video Reserve Buy</c:v>
                </c:pt>
                <c:pt idx="5">
                  <c:v>Display Reserve Buy</c:v>
                </c:pt>
                <c:pt idx="6">
                  <c:v>Concurrency &amp; Webcasting</c:v>
                </c:pt>
                <c:pt idx="7">
                  <c:v>Ad Serving &amp; Agency Fees</c:v>
                </c:pt>
              </c:strCache>
            </c:strRef>
          </c:cat>
          <c:val>
            <c:numRef>
              <c:f>'ChannelSplit basis RF-CPM-Cost'!$C$75:$C$82</c:f>
              <c:numCache>
                <c:formatCode>0%</c:formatCode>
                <c:ptCount val="8"/>
                <c:pt idx="0">
                  <c:v>0.20493890221491504</c:v>
                </c:pt>
                <c:pt idx="1">
                  <c:v>0.24057664980879542</c:v>
                </c:pt>
                <c:pt idx="2">
                  <c:v>0.2270373440863438</c:v>
                </c:pt>
                <c:pt idx="3">
                  <c:v>5.7021735097891497E-2</c:v>
                </c:pt>
                <c:pt idx="4">
                  <c:v>9.4045388706678223E-2</c:v>
                </c:pt>
                <c:pt idx="5">
                  <c:v>0.13540275836228241</c:v>
                </c:pt>
                <c:pt idx="6">
                  <c:v>1.1021344214381825E-2</c:v>
                </c:pt>
                <c:pt idx="7">
                  <c:v>2.9955877508711846E-2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200-44C4-9C1C-E6E72BCDFCBD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77268456108429029"/>
          <c:w val="0.99711771156466411"/>
          <c:h val="0.195689202919242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32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Reach dispersion</a:t>
            </a:r>
            <a:r>
              <a:rPr lang="en-US" baseline="0"/>
              <a:t> across X &amp; V Series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32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1+ Unique Reach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118851020</c:v>
                </c:pt>
                <c:pt idx="1">
                  <c:v>185763306</c:v>
                </c:pt>
                <c:pt idx="2">
                  <c:v>217709191</c:v>
                </c:pt>
                <c:pt idx="3">
                  <c:v>79200000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AB7-4541-8E90-C0A9F8F7E7B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3+ Unique Reach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70451501</c:v>
                </c:pt>
                <c:pt idx="1">
                  <c:v>111665299</c:v>
                </c:pt>
                <c:pt idx="2">
                  <c:v>151044749</c:v>
                </c:pt>
                <c:pt idx="3">
                  <c:v>47500000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AB7-4541-8E90-C0A9F8F7E7B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5_+ Unique Reach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Sheet1!$D$2:$D$5</c:f>
              <c:numCache>
                <c:formatCode>#,##0</c:formatCode>
                <c:ptCount val="4"/>
                <c:pt idx="0">
                  <c:v>42141525</c:v>
                </c:pt>
                <c:pt idx="1">
                  <c:v>79975728</c:v>
                </c:pt>
                <c:pt idx="2">
                  <c:v>115319753</c:v>
                </c:pt>
                <c:pt idx="3">
                  <c:v>36000000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AB7-4541-8E90-C0A9F8F7E7B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7+ Unique Reach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Sheet1!$E$2:$E$5</c:f>
              <c:numCache>
                <c:formatCode>#,##0</c:formatCode>
                <c:ptCount val="4"/>
                <c:pt idx="0">
                  <c:v>28041049</c:v>
                </c:pt>
                <c:pt idx="1">
                  <c:v>61829975</c:v>
                </c:pt>
                <c:pt idx="2">
                  <c:v>94724560</c:v>
                </c:pt>
                <c:pt idx="3">
                  <c:v>28000000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AB7-4541-8E90-C0A9F8F7E7B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10+ Unique Reach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Sheet1!$F$2:$F$5</c:f>
              <c:numCache>
                <c:formatCode>#,##0</c:formatCode>
                <c:ptCount val="4"/>
                <c:pt idx="0">
                  <c:v>15968425</c:v>
                </c:pt>
                <c:pt idx="1">
                  <c:v>44356286</c:v>
                </c:pt>
                <c:pt idx="2">
                  <c:v>74102706</c:v>
                </c:pt>
                <c:pt idx="3">
                  <c:v>20000000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AB7-4541-8E90-C0A9F8F7E7B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41665743"/>
        <c:axId val="541642863"/>
      </c:barChart>
      <c:catAx>
        <c:axId val="541665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1642863"/>
        <c:crosses val="autoZero"/>
        <c:auto val="1"/>
        <c:lblAlgn val="ctr"/>
        <c:lblOffset val="100"/>
        <c:noMultiLvlLbl val="0"/>
      </c:catAx>
      <c:valAx>
        <c:axId val="541642863"/>
        <c:scaling>
          <c:orientation val="minMax"/>
        </c:scaling>
        <c:delete val="0"/>
        <c:axPos val="l"/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1665743"/>
        <c:crosses val="autoZero"/>
        <c:crossBetween val="between"/>
        <c:dispUnits>
          <c:builtInUnit val="millions"/>
          <c:dispUnitsLbl>
            <c:spPr>
              <a:noFill/>
              <a:ln>
                <a:noFill/>
              </a:ln>
              <a:effectLst/>
            </c:spPr>
            <c:txPr>
              <a:bodyPr rot="-540000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</c:dispUnitsLbl>
        </c:dispUnits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accent2"/>
      </a:solidFill>
    </a:ln>
    <a:effectLst/>
  </c:spPr>
  <c:txPr>
    <a:bodyPr/>
    <a:lstStyle/>
    <a:p>
      <a:pPr>
        <a:defRPr sz="1100"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32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Reach dispersion pattern across X &amp; V Series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32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1+ Unique Reach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30-4C72-83DE-61388938ABC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3+ Unique Reach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0.59277153027378304</c:v>
                </c:pt>
                <c:pt idx="1">
                  <c:v>0.60111601911305346</c:v>
                </c:pt>
                <c:pt idx="2">
                  <c:v>0.69379132918646502</c:v>
                </c:pt>
                <c:pt idx="3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30-4C72-83DE-61388938ABC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5_+ Unique Reach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0.35457436545348958</c:v>
                </c:pt>
                <c:pt idx="1">
                  <c:v>0.43052489602009991</c:v>
                </c:pt>
                <c:pt idx="2">
                  <c:v>0.52969630023566616</c:v>
                </c:pt>
                <c:pt idx="3">
                  <c:v>0.45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430-4C72-83DE-61388938ABC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7+ Unique Reach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Sheet1!$E$2:$E$5</c:f>
              <c:numCache>
                <c:formatCode>0%</c:formatCode>
                <c:ptCount val="4"/>
                <c:pt idx="0">
                  <c:v>0.23593444128624222</c:v>
                </c:pt>
                <c:pt idx="1">
                  <c:v>0.33284277897164471</c:v>
                </c:pt>
                <c:pt idx="2">
                  <c:v>0.43509674334327941</c:v>
                </c:pt>
                <c:pt idx="3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430-4C72-83DE-61388938ABC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10+ Unique Reach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X90</c:v>
                </c:pt>
                <c:pt idx="1">
                  <c:v>X100</c:v>
                </c:pt>
                <c:pt idx="2">
                  <c:v>V30</c:v>
                </c:pt>
                <c:pt idx="3">
                  <c:v>X Fold3</c:v>
                </c:pt>
              </c:strCache>
            </c:strRef>
          </c:cat>
          <c:val>
            <c:numRef>
              <c:f>Sheet1!$F$2:$F$5</c:f>
              <c:numCache>
                <c:formatCode>0%</c:formatCode>
                <c:ptCount val="4"/>
                <c:pt idx="0">
                  <c:v>0.13435665087266394</c:v>
                </c:pt>
                <c:pt idx="1">
                  <c:v>0.23877851312573001</c:v>
                </c:pt>
                <c:pt idx="2">
                  <c:v>0.34037472492376308</c:v>
                </c:pt>
                <c:pt idx="3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430-4C72-83DE-61388938ABC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41665743"/>
        <c:axId val="541642863"/>
      </c:barChart>
      <c:catAx>
        <c:axId val="541665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1642863"/>
        <c:crosses val="autoZero"/>
        <c:auto val="1"/>
        <c:lblAlgn val="ctr"/>
        <c:lblOffset val="100"/>
        <c:noMultiLvlLbl val="0"/>
      </c:catAx>
      <c:valAx>
        <c:axId val="541642863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5416657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accent2"/>
      </a:solidFill>
    </a:ln>
    <a:effectLst/>
  </c:spPr>
  <c:txPr>
    <a:bodyPr/>
    <a:lstStyle/>
    <a:p>
      <a:pPr>
        <a:defRPr sz="1100"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QV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numRef>
              <c:f>Sheet1!$A$2:$A$43</c:f>
              <c:numCache>
                <c:formatCode>d\-mmm\-yy</c:formatCode>
                <c:ptCount val="42"/>
                <c:pt idx="0">
                  <c:v>45432</c:v>
                </c:pt>
                <c:pt idx="1">
                  <c:v>45433</c:v>
                </c:pt>
                <c:pt idx="2">
                  <c:v>45434</c:v>
                </c:pt>
                <c:pt idx="3">
                  <c:v>45435</c:v>
                </c:pt>
                <c:pt idx="4">
                  <c:v>45436</c:v>
                </c:pt>
                <c:pt idx="5">
                  <c:v>45437</c:v>
                </c:pt>
                <c:pt idx="6">
                  <c:v>45438</c:v>
                </c:pt>
                <c:pt idx="7">
                  <c:v>45439</c:v>
                </c:pt>
                <c:pt idx="8">
                  <c:v>45440</c:v>
                </c:pt>
                <c:pt idx="9">
                  <c:v>45441</c:v>
                </c:pt>
                <c:pt idx="10">
                  <c:v>45442</c:v>
                </c:pt>
                <c:pt idx="11">
                  <c:v>45443</c:v>
                </c:pt>
                <c:pt idx="12">
                  <c:v>45444</c:v>
                </c:pt>
                <c:pt idx="13">
                  <c:v>45445</c:v>
                </c:pt>
                <c:pt idx="14">
                  <c:v>45446</c:v>
                </c:pt>
                <c:pt idx="15">
                  <c:v>45447</c:v>
                </c:pt>
                <c:pt idx="16">
                  <c:v>45448</c:v>
                </c:pt>
                <c:pt idx="17">
                  <c:v>45449</c:v>
                </c:pt>
                <c:pt idx="18">
                  <c:v>45450</c:v>
                </c:pt>
                <c:pt idx="19">
                  <c:v>45451</c:v>
                </c:pt>
                <c:pt idx="20">
                  <c:v>45452</c:v>
                </c:pt>
                <c:pt idx="21">
                  <c:v>45453</c:v>
                </c:pt>
                <c:pt idx="22">
                  <c:v>45454</c:v>
                </c:pt>
                <c:pt idx="23">
                  <c:v>45455</c:v>
                </c:pt>
                <c:pt idx="24">
                  <c:v>45456</c:v>
                </c:pt>
                <c:pt idx="25">
                  <c:v>45457</c:v>
                </c:pt>
                <c:pt idx="26">
                  <c:v>45458</c:v>
                </c:pt>
                <c:pt idx="27">
                  <c:v>45459</c:v>
                </c:pt>
                <c:pt idx="28">
                  <c:v>45460</c:v>
                </c:pt>
                <c:pt idx="29">
                  <c:v>45461</c:v>
                </c:pt>
                <c:pt idx="30">
                  <c:v>45462</c:v>
                </c:pt>
                <c:pt idx="31">
                  <c:v>45463</c:v>
                </c:pt>
                <c:pt idx="32">
                  <c:v>45464</c:v>
                </c:pt>
                <c:pt idx="33">
                  <c:v>45465</c:v>
                </c:pt>
                <c:pt idx="34">
                  <c:v>45466</c:v>
                </c:pt>
                <c:pt idx="35">
                  <c:v>45467</c:v>
                </c:pt>
                <c:pt idx="36">
                  <c:v>45468</c:v>
                </c:pt>
                <c:pt idx="37">
                  <c:v>45469</c:v>
                </c:pt>
                <c:pt idx="38">
                  <c:v>45470</c:v>
                </c:pt>
                <c:pt idx="39">
                  <c:v>45471</c:v>
                </c:pt>
                <c:pt idx="40">
                  <c:v>45472</c:v>
                </c:pt>
                <c:pt idx="41">
                  <c:v>45473</c:v>
                </c:pt>
              </c:numCache>
            </c:numRef>
          </c:cat>
          <c:val>
            <c:numRef>
              <c:f>Sheet1!$B$2:$B$43</c:f>
              <c:numCache>
                <c:formatCode>General</c:formatCode>
                <c:ptCount val="42"/>
                <c:pt idx="0">
                  <c:v>12195</c:v>
                </c:pt>
                <c:pt idx="1">
                  <c:v>26450</c:v>
                </c:pt>
                <c:pt idx="2">
                  <c:v>31050</c:v>
                </c:pt>
                <c:pt idx="3">
                  <c:v>35650</c:v>
                </c:pt>
                <c:pt idx="4">
                  <c:v>32200</c:v>
                </c:pt>
                <c:pt idx="5">
                  <c:v>33350</c:v>
                </c:pt>
                <c:pt idx="6">
                  <c:v>40250</c:v>
                </c:pt>
                <c:pt idx="7">
                  <c:v>39100</c:v>
                </c:pt>
                <c:pt idx="8">
                  <c:v>34500</c:v>
                </c:pt>
                <c:pt idx="9">
                  <c:v>34500</c:v>
                </c:pt>
                <c:pt idx="10">
                  <c:v>32200</c:v>
                </c:pt>
                <c:pt idx="11">
                  <c:v>34500</c:v>
                </c:pt>
                <c:pt idx="12">
                  <c:v>32200</c:v>
                </c:pt>
                <c:pt idx="13">
                  <c:v>34500</c:v>
                </c:pt>
                <c:pt idx="14">
                  <c:v>36800</c:v>
                </c:pt>
                <c:pt idx="15">
                  <c:v>44850</c:v>
                </c:pt>
                <c:pt idx="16">
                  <c:v>52900</c:v>
                </c:pt>
                <c:pt idx="17">
                  <c:v>104868</c:v>
                </c:pt>
                <c:pt idx="18">
                  <c:v>55000</c:v>
                </c:pt>
                <c:pt idx="19">
                  <c:v>45000</c:v>
                </c:pt>
                <c:pt idx="20">
                  <c:v>40000</c:v>
                </c:pt>
                <c:pt idx="21">
                  <c:v>41000</c:v>
                </c:pt>
                <c:pt idx="22">
                  <c:v>35000</c:v>
                </c:pt>
                <c:pt idx="23">
                  <c:v>35000</c:v>
                </c:pt>
                <c:pt idx="24">
                  <c:v>58978</c:v>
                </c:pt>
                <c:pt idx="25">
                  <c:v>35000</c:v>
                </c:pt>
                <c:pt idx="26">
                  <c:v>33000</c:v>
                </c:pt>
                <c:pt idx="27">
                  <c:v>25000</c:v>
                </c:pt>
                <c:pt idx="28">
                  <c:v>23180</c:v>
                </c:pt>
                <c:pt idx="29">
                  <c:v>22800</c:v>
                </c:pt>
                <c:pt idx="30">
                  <c:v>21280</c:v>
                </c:pt>
                <c:pt idx="31">
                  <c:v>22800</c:v>
                </c:pt>
                <c:pt idx="32">
                  <c:v>22040</c:v>
                </c:pt>
                <c:pt idx="33">
                  <c:v>20900</c:v>
                </c:pt>
                <c:pt idx="34">
                  <c:v>19000</c:v>
                </c:pt>
                <c:pt idx="35">
                  <c:v>17100</c:v>
                </c:pt>
                <c:pt idx="36">
                  <c:v>15960</c:v>
                </c:pt>
                <c:pt idx="37">
                  <c:v>15200</c:v>
                </c:pt>
                <c:pt idx="38">
                  <c:v>15960</c:v>
                </c:pt>
                <c:pt idx="39">
                  <c:v>15200</c:v>
                </c:pt>
                <c:pt idx="40">
                  <c:v>15580</c:v>
                </c:pt>
                <c:pt idx="41">
                  <c:v>15960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E4-4335-ACDC-45ED8320FA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55716511"/>
        <c:axId val="1255722335"/>
      </c:lineChart>
      <c:dateAx>
        <c:axId val="1255716511"/>
        <c:scaling>
          <c:orientation val="minMax"/>
        </c:scaling>
        <c:delete val="0"/>
        <c:axPos val="b"/>
        <c:numFmt formatCode="d\-mmm\-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55722335"/>
        <c:crosses val="autoZero"/>
        <c:auto val="1"/>
        <c:lblOffset val="100"/>
        <c:baseTimeUnit val="days"/>
      </c:dateAx>
      <c:valAx>
        <c:axId val="125572233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557165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1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E5C9D0-7F96-47C2-AD28-BB4B4F9B86EA}" type="doc">
      <dgm:prSet loTypeId="urn:microsoft.com/office/officeart/2005/8/layout/target3" loCatId="list" qsTypeId="urn:microsoft.com/office/officeart/2005/8/quickstyle/simple3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6504584F-0F85-414B-8807-C530CD9CBE1E}">
      <dgm:prSet phldrT="[Text]" custT="1"/>
      <dgm:spPr/>
      <dgm:t>
        <a:bodyPr/>
        <a:lstStyle/>
        <a:p>
          <a:r>
            <a:rPr lang="en-US" sz="2400"/>
            <a:t>*Competition</a:t>
          </a:r>
          <a:br>
            <a:rPr lang="en-US" sz="2400"/>
          </a:br>
          <a:r>
            <a:rPr lang="en-US" sz="2400" b="1" u="sng"/>
            <a:t>P1</a:t>
          </a:r>
        </a:p>
      </dgm:t>
    </dgm:pt>
    <dgm:pt modelId="{4107F957-9545-40BA-A674-0FE430F29040}" type="parTrans" cxnId="{6A1F1751-B8DC-4E49-A1AB-D923C48AD7CE}">
      <dgm:prSet/>
      <dgm:spPr/>
      <dgm:t>
        <a:bodyPr/>
        <a:lstStyle/>
        <a:p>
          <a:endParaRPr lang="en-US"/>
        </a:p>
      </dgm:t>
    </dgm:pt>
    <dgm:pt modelId="{FBEE68FD-3417-4B5A-8333-CF757C68E4E2}" type="sibTrans" cxnId="{6A1F1751-B8DC-4E49-A1AB-D923C48AD7CE}">
      <dgm:prSet/>
      <dgm:spPr/>
      <dgm:t>
        <a:bodyPr/>
        <a:lstStyle/>
        <a:p>
          <a:endParaRPr lang="en-US"/>
        </a:p>
      </dgm:t>
    </dgm:pt>
    <dgm:pt modelId="{8D55098E-5F71-411F-8797-C74A53E0BC51}">
      <dgm:prSet phldrT="[Text]" custT="1"/>
      <dgm:spPr/>
      <dgm:t>
        <a:bodyPr/>
        <a:lstStyle/>
        <a:p>
          <a:r>
            <a:rPr lang="en-US" sz="1600"/>
            <a:t>Capture Market Share</a:t>
          </a:r>
        </a:p>
      </dgm:t>
    </dgm:pt>
    <dgm:pt modelId="{B58BE43F-1F13-49C4-8108-345A2E59BEC6}" type="parTrans" cxnId="{4687B036-2A95-4ABD-A8EE-432EB28DA9AD}">
      <dgm:prSet/>
      <dgm:spPr/>
      <dgm:t>
        <a:bodyPr/>
        <a:lstStyle/>
        <a:p>
          <a:endParaRPr lang="en-US"/>
        </a:p>
      </dgm:t>
    </dgm:pt>
    <dgm:pt modelId="{5BB869F3-CE5E-4B9E-B695-C584F0397785}" type="sibTrans" cxnId="{4687B036-2A95-4ABD-A8EE-432EB28DA9AD}">
      <dgm:prSet/>
      <dgm:spPr/>
      <dgm:t>
        <a:bodyPr/>
        <a:lstStyle/>
        <a:p>
          <a:endParaRPr lang="en-US"/>
        </a:p>
      </dgm:t>
    </dgm:pt>
    <dgm:pt modelId="{815F3397-F0A9-41B6-B474-7C29114CF18E}">
      <dgm:prSet phldrT="[Text]" custT="1"/>
      <dgm:spPr/>
      <dgm:t>
        <a:bodyPr/>
        <a:lstStyle/>
        <a:p>
          <a:r>
            <a:rPr lang="en-US" sz="1600"/>
            <a:t>Drive Consideration</a:t>
          </a:r>
          <a:br>
            <a:rPr lang="en-US" sz="1600"/>
          </a:br>
          <a:endParaRPr lang="en-US" sz="1600" i="1" u="sng"/>
        </a:p>
      </dgm:t>
    </dgm:pt>
    <dgm:pt modelId="{404937AF-FCED-41FC-B041-3BBE41B609BE}" type="parTrans" cxnId="{387A43F3-F6DE-44FF-A83C-CF21A014A573}">
      <dgm:prSet/>
      <dgm:spPr/>
      <dgm:t>
        <a:bodyPr/>
        <a:lstStyle/>
        <a:p>
          <a:endParaRPr lang="en-US"/>
        </a:p>
      </dgm:t>
    </dgm:pt>
    <dgm:pt modelId="{1C0CFAD7-11B0-4F63-8050-C61D937D3859}" type="sibTrans" cxnId="{387A43F3-F6DE-44FF-A83C-CF21A014A573}">
      <dgm:prSet/>
      <dgm:spPr/>
      <dgm:t>
        <a:bodyPr/>
        <a:lstStyle/>
        <a:p>
          <a:endParaRPr lang="en-US"/>
        </a:p>
      </dgm:t>
    </dgm:pt>
    <dgm:pt modelId="{64F72A1F-11CB-43BE-8466-BCB30502EAC5}">
      <dgm:prSet phldrT="[Text]" custT="1"/>
      <dgm:spPr/>
      <dgm:t>
        <a:bodyPr/>
        <a:lstStyle/>
        <a:p>
          <a:r>
            <a:rPr lang="en-US" sz="2400"/>
            <a:t>Brand</a:t>
          </a:r>
          <a:br>
            <a:rPr lang="en-US" sz="2400"/>
          </a:br>
          <a:r>
            <a:rPr lang="en-US" sz="1400"/>
            <a:t>(incl. Brand Others)</a:t>
          </a:r>
          <a:br>
            <a:rPr lang="en-US" sz="2400"/>
          </a:br>
          <a:r>
            <a:rPr lang="en-US" sz="2400" b="1" u="sng"/>
            <a:t>P3</a:t>
          </a:r>
        </a:p>
      </dgm:t>
    </dgm:pt>
    <dgm:pt modelId="{CA1E4895-7A4D-4189-9CE0-9B4DEA0EFBC2}" type="parTrans" cxnId="{81815A7C-9146-40B6-8158-C37D3E422E70}">
      <dgm:prSet/>
      <dgm:spPr/>
      <dgm:t>
        <a:bodyPr/>
        <a:lstStyle/>
        <a:p>
          <a:endParaRPr lang="en-US"/>
        </a:p>
      </dgm:t>
    </dgm:pt>
    <dgm:pt modelId="{6E603279-21AF-44B6-A7F3-9E2C1BC7E580}" type="sibTrans" cxnId="{81815A7C-9146-40B6-8158-C37D3E422E70}">
      <dgm:prSet/>
      <dgm:spPr/>
      <dgm:t>
        <a:bodyPr/>
        <a:lstStyle/>
        <a:p>
          <a:endParaRPr lang="en-US"/>
        </a:p>
      </dgm:t>
    </dgm:pt>
    <dgm:pt modelId="{A50C9E98-6989-418F-9C78-27413E4C309B}">
      <dgm:prSet phldrT="[Text]" custT="1"/>
      <dgm:spPr/>
      <dgm:t>
        <a:bodyPr/>
        <a:lstStyle/>
        <a:p>
          <a:r>
            <a:rPr lang="en-US" sz="1600"/>
            <a:t>Protect Brand Real Estate</a:t>
          </a:r>
          <a:br>
            <a:rPr lang="en-US" sz="1600"/>
          </a:br>
          <a:endParaRPr lang="en-US" sz="1600" i="1" u="sng"/>
        </a:p>
      </dgm:t>
    </dgm:pt>
    <dgm:pt modelId="{279992A4-1BDF-4F99-BE82-839A95E55143}" type="parTrans" cxnId="{79A405C8-5284-448F-BB0D-0EC740A7D578}">
      <dgm:prSet/>
      <dgm:spPr/>
      <dgm:t>
        <a:bodyPr/>
        <a:lstStyle/>
        <a:p>
          <a:endParaRPr lang="en-US"/>
        </a:p>
      </dgm:t>
    </dgm:pt>
    <dgm:pt modelId="{CE80549B-0B32-48A6-BB54-34B988A32D4E}" type="sibTrans" cxnId="{79A405C8-5284-448F-BB0D-0EC740A7D578}">
      <dgm:prSet/>
      <dgm:spPr/>
      <dgm:t>
        <a:bodyPr/>
        <a:lstStyle/>
        <a:p>
          <a:endParaRPr lang="en-US"/>
        </a:p>
      </dgm:t>
    </dgm:pt>
    <dgm:pt modelId="{70719FD0-3446-4869-874E-B69EE455F6A9}">
      <dgm:prSet phldrT="[Text]" custT="1"/>
      <dgm:spPr/>
      <dgm:t>
        <a:bodyPr/>
        <a:lstStyle/>
        <a:p>
          <a:r>
            <a:rPr lang="en-US" sz="2400"/>
            <a:t>*Generic</a:t>
          </a:r>
          <a:br>
            <a:rPr lang="en-US" sz="2400"/>
          </a:br>
          <a:r>
            <a:rPr lang="en-US" sz="2400" b="1" u="sng"/>
            <a:t>P2</a:t>
          </a:r>
        </a:p>
      </dgm:t>
    </dgm:pt>
    <dgm:pt modelId="{80C0E347-9882-4774-B906-36EC9B98BE05}" type="parTrans" cxnId="{019B346D-8E7B-456B-9C90-3951D4288058}">
      <dgm:prSet/>
      <dgm:spPr/>
      <dgm:t>
        <a:bodyPr/>
        <a:lstStyle/>
        <a:p>
          <a:endParaRPr lang="en-US"/>
        </a:p>
      </dgm:t>
    </dgm:pt>
    <dgm:pt modelId="{D01B23E4-FD7A-4B28-A57E-DD22E1E5700C}" type="sibTrans" cxnId="{019B346D-8E7B-456B-9C90-3951D4288058}">
      <dgm:prSet/>
      <dgm:spPr/>
      <dgm:t>
        <a:bodyPr/>
        <a:lstStyle/>
        <a:p>
          <a:endParaRPr lang="en-US"/>
        </a:p>
      </dgm:t>
    </dgm:pt>
    <dgm:pt modelId="{EF16E76E-38D0-4CF6-92F9-28AEA694BBEE}">
      <dgm:prSet phldrT="[Text]" custT="1"/>
      <dgm:spPr/>
      <dgm:t>
        <a:bodyPr/>
        <a:lstStyle/>
        <a:p>
          <a:r>
            <a:rPr lang="en-US" sz="1600"/>
            <a:t>Improve Brand visibility</a:t>
          </a:r>
        </a:p>
      </dgm:t>
    </dgm:pt>
    <dgm:pt modelId="{77359906-0ABA-4D64-8466-1F228D14E8CF}" type="parTrans" cxnId="{53957A5C-1DAA-4A17-8EDC-4CB4B1934878}">
      <dgm:prSet/>
      <dgm:spPr/>
      <dgm:t>
        <a:bodyPr/>
        <a:lstStyle/>
        <a:p>
          <a:endParaRPr lang="en-US"/>
        </a:p>
      </dgm:t>
    </dgm:pt>
    <dgm:pt modelId="{F4065A5A-9EAC-43B4-98B9-317BCB7FA533}" type="sibTrans" cxnId="{53957A5C-1DAA-4A17-8EDC-4CB4B1934878}">
      <dgm:prSet/>
      <dgm:spPr/>
      <dgm:t>
        <a:bodyPr/>
        <a:lstStyle/>
        <a:p>
          <a:endParaRPr lang="en-US"/>
        </a:p>
      </dgm:t>
    </dgm:pt>
    <dgm:pt modelId="{431F5CCF-7AC6-4070-B05C-50FE6E471BD2}">
      <dgm:prSet phldrT="[Text]" custT="1"/>
      <dgm:spPr/>
      <dgm:t>
        <a:bodyPr/>
        <a:lstStyle/>
        <a:p>
          <a:r>
            <a:rPr lang="en-US" sz="1600"/>
            <a:t>Uplift Brand Core Searches</a:t>
          </a:r>
          <a:br>
            <a:rPr lang="en-US" sz="1600"/>
          </a:br>
          <a:endParaRPr lang="en-US" sz="1600" i="1" u="sng"/>
        </a:p>
      </dgm:t>
    </dgm:pt>
    <dgm:pt modelId="{3F55513E-C873-4B31-85F0-A95B4FB263A0}" type="parTrans" cxnId="{BB085FE0-E7DF-489E-AB42-A9D1C2A48089}">
      <dgm:prSet/>
      <dgm:spPr/>
      <dgm:t>
        <a:bodyPr/>
        <a:lstStyle/>
        <a:p>
          <a:endParaRPr lang="en-US"/>
        </a:p>
      </dgm:t>
    </dgm:pt>
    <dgm:pt modelId="{81F2007C-886E-4A55-8182-D15098DBCB77}" type="sibTrans" cxnId="{BB085FE0-E7DF-489E-AB42-A9D1C2A48089}">
      <dgm:prSet/>
      <dgm:spPr/>
      <dgm:t>
        <a:bodyPr/>
        <a:lstStyle/>
        <a:p>
          <a:endParaRPr lang="en-US"/>
        </a:p>
      </dgm:t>
    </dgm:pt>
    <dgm:pt modelId="{CBC90E90-D944-4E6C-B8BA-939E651B7772}" type="pres">
      <dgm:prSet presAssocID="{D0E5C9D0-7F96-47C2-AD28-BB4B4F9B86EA}" presName="Name0" presStyleCnt="0">
        <dgm:presLayoutVars>
          <dgm:chMax val="7"/>
          <dgm:dir/>
          <dgm:animLvl val="lvl"/>
          <dgm:resizeHandles val="exact"/>
        </dgm:presLayoutVars>
      </dgm:prSet>
      <dgm:spPr/>
    </dgm:pt>
    <dgm:pt modelId="{4F6AC630-987D-4A7B-83C2-C7B6AA495A5E}" type="pres">
      <dgm:prSet presAssocID="{6504584F-0F85-414B-8807-C530CD9CBE1E}" presName="circle1" presStyleLbl="node1" presStyleIdx="0" presStyleCnt="3"/>
      <dgm:spPr/>
    </dgm:pt>
    <dgm:pt modelId="{17659117-7DDA-4F79-AB3C-E2361DF9F3C5}" type="pres">
      <dgm:prSet presAssocID="{6504584F-0F85-414B-8807-C530CD9CBE1E}" presName="space" presStyleCnt="0"/>
      <dgm:spPr/>
    </dgm:pt>
    <dgm:pt modelId="{CD3D8ABF-297F-4672-A468-E5A0E7934314}" type="pres">
      <dgm:prSet presAssocID="{6504584F-0F85-414B-8807-C530CD9CBE1E}" presName="rect1" presStyleLbl="alignAcc1" presStyleIdx="0" presStyleCnt="3"/>
      <dgm:spPr/>
    </dgm:pt>
    <dgm:pt modelId="{63BBC9D7-EF9B-496E-BFC2-DA43176FA169}" type="pres">
      <dgm:prSet presAssocID="{64F72A1F-11CB-43BE-8466-BCB30502EAC5}" presName="vertSpace2" presStyleLbl="node1" presStyleIdx="0" presStyleCnt="3"/>
      <dgm:spPr/>
    </dgm:pt>
    <dgm:pt modelId="{A626D086-8E0B-475E-ACAF-206AC57E0645}" type="pres">
      <dgm:prSet presAssocID="{64F72A1F-11CB-43BE-8466-BCB30502EAC5}" presName="circle2" presStyleLbl="node1" presStyleIdx="1" presStyleCnt="3"/>
      <dgm:spPr/>
    </dgm:pt>
    <dgm:pt modelId="{E16DA083-C81F-4AA0-911D-77AB22D95843}" type="pres">
      <dgm:prSet presAssocID="{64F72A1F-11CB-43BE-8466-BCB30502EAC5}" presName="rect2" presStyleLbl="alignAcc1" presStyleIdx="1" presStyleCnt="3"/>
      <dgm:spPr/>
    </dgm:pt>
    <dgm:pt modelId="{5B59413D-C1BC-4737-B365-66EC4BEE29AD}" type="pres">
      <dgm:prSet presAssocID="{70719FD0-3446-4869-874E-B69EE455F6A9}" presName="vertSpace3" presStyleLbl="node1" presStyleIdx="1" presStyleCnt="3"/>
      <dgm:spPr/>
    </dgm:pt>
    <dgm:pt modelId="{CF5D086F-7288-4EBA-879D-49BD6E35E5AB}" type="pres">
      <dgm:prSet presAssocID="{70719FD0-3446-4869-874E-B69EE455F6A9}" presName="circle3" presStyleLbl="node1" presStyleIdx="2" presStyleCnt="3"/>
      <dgm:spPr/>
    </dgm:pt>
    <dgm:pt modelId="{6D991FC8-D1AE-4E42-AB70-7594887C45DA}" type="pres">
      <dgm:prSet presAssocID="{70719FD0-3446-4869-874E-B69EE455F6A9}" presName="rect3" presStyleLbl="alignAcc1" presStyleIdx="2" presStyleCnt="3"/>
      <dgm:spPr/>
    </dgm:pt>
    <dgm:pt modelId="{90802DC4-3A15-406F-85AF-222DDB9742D9}" type="pres">
      <dgm:prSet presAssocID="{6504584F-0F85-414B-8807-C530CD9CBE1E}" presName="rect1ParTx" presStyleLbl="alignAcc1" presStyleIdx="2" presStyleCnt="3">
        <dgm:presLayoutVars>
          <dgm:chMax val="1"/>
          <dgm:bulletEnabled val="1"/>
        </dgm:presLayoutVars>
      </dgm:prSet>
      <dgm:spPr/>
    </dgm:pt>
    <dgm:pt modelId="{0A3BDCD5-0618-4087-9C81-5725C8D7E20A}" type="pres">
      <dgm:prSet presAssocID="{6504584F-0F85-414B-8807-C530CD9CBE1E}" presName="rect1ChTx" presStyleLbl="alignAcc1" presStyleIdx="2" presStyleCnt="3">
        <dgm:presLayoutVars>
          <dgm:bulletEnabled val="1"/>
        </dgm:presLayoutVars>
      </dgm:prSet>
      <dgm:spPr/>
    </dgm:pt>
    <dgm:pt modelId="{636E4718-0416-468D-AC3B-E8A5F0E525CE}" type="pres">
      <dgm:prSet presAssocID="{64F72A1F-11CB-43BE-8466-BCB30502EAC5}" presName="rect2ParTx" presStyleLbl="alignAcc1" presStyleIdx="2" presStyleCnt="3">
        <dgm:presLayoutVars>
          <dgm:chMax val="1"/>
          <dgm:bulletEnabled val="1"/>
        </dgm:presLayoutVars>
      </dgm:prSet>
      <dgm:spPr/>
    </dgm:pt>
    <dgm:pt modelId="{77056AEB-5296-465B-8B73-70A1CDBC794B}" type="pres">
      <dgm:prSet presAssocID="{64F72A1F-11CB-43BE-8466-BCB30502EAC5}" presName="rect2ChTx" presStyleLbl="alignAcc1" presStyleIdx="2" presStyleCnt="3">
        <dgm:presLayoutVars>
          <dgm:bulletEnabled val="1"/>
        </dgm:presLayoutVars>
      </dgm:prSet>
      <dgm:spPr/>
    </dgm:pt>
    <dgm:pt modelId="{46A65132-6CFC-4954-8AA0-22EDBA4EFF9C}" type="pres">
      <dgm:prSet presAssocID="{70719FD0-3446-4869-874E-B69EE455F6A9}" presName="rect3ParTx" presStyleLbl="alignAcc1" presStyleIdx="2" presStyleCnt="3">
        <dgm:presLayoutVars>
          <dgm:chMax val="1"/>
          <dgm:bulletEnabled val="1"/>
        </dgm:presLayoutVars>
      </dgm:prSet>
      <dgm:spPr/>
    </dgm:pt>
    <dgm:pt modelId="{25E3332A-2269-499E-ACA9-ABD674902C24}" type="pres">
      <dgm:prSet presAssocID="{70719FD0-3446-4869-874E-B69EE455F6A9}" presName="rect3ChTx" presStyleLbl="alignAcc1" presStyleIdx="2" presStyleCnt="3">
        <dgm:presLayoutVars>
          <dgm:bulletEnabled val="1"/>
        </dgm:presLayoutVars>
      </dgm:prSet>
      <dgm:spPr/>
    </dgm:pt>
  </dgm:ptLst>
  <dgm:cxnLst>
    <dgm:cxn modelId="{C5B7D704-808E-4AB3-9EC6-585FBA1B4379}" type="presOf" srcId="{70719FD0-3446-4869-874E-B69EE455F6A9}" destId="{46A65132-6CFC-4954-8AA0-22EDBA4EFF9C}" srcOrd="1" destOrd="0" presId="urn:microsoft.com/office/officeart/2005/8/layout/target3"/>
    <dgm:cxn modelId="{7069860C-DE1A-4971-8947-7739038308CA}" type="presOf" srcId="{431F5CCF-7AC6-4070-B05C-50FE6E471BD2}" destId="{25E3332A-2269-499E-ACA9-ABD674902C24}" srcOrd="0" destOrd="1" presId="urn:microsoft.com/office/officeart/2005/8/layout/target3"/>
    <dgm:cxn modelId="{90E80C24-584F-493D-9B7B-63A8A45201E8}" type="presOf" srcId="{6504584F-0F85-414B-8807-C530CD9CBE1E}" destId="{CD3D8ABF-297F-4672-A468-E5A0E7934314}" srcOrd="0" destOrd="0" presId="urn:microsoft.com/office/officeart/2005/8/layout/target3"/>
    <dgm:cxn modelId="{4687B036-2A95-4ABD-A8EE-432EB28DA9AD}" srcId="{6504584F-0F85-414B-8807-C530CD9CBE1E}" destId="{8D55098E-5F71-411F-8797-C74A53E0BC51}" srcOrd="0" destOrd="0" parTransId="{B58BE43F-1F13-49C4-8108-345A2E59BEC6}" sibTransId="{5BB869F3-CE5E-4B9E-B695-C584F0397785}"/>
    <dgm:cxn modelId="{BD96033A-409D-4BFA-AE6A-44C500935E9A}" type="presOf" srcId="{64F72A1F-11CB-43BE-8466-BCB30502EAC5}" destId="{E16DA083-C81F-4AA0-911D-77AB22D95843}" srcOrd="0" destOrd="0" presId="urn:microsoft.com/office/officeart/2005/8/layout/target3"/>
    <dgm:cxn modelId="{53957A5C-1DAA-4A17-8EDC-4CB4B1934878}" srcId="{70719FD0-3446-4869-874E-B69EE455F6A9}" destId="{EF16E76E-38D0-4CF6-92F9-28AEA694BBEE}" srcOrd="0" destOrd="0" parTransId="{77359906-0ABA-4D64-8466-1F228D14E8CF}" sibTransId="{F4065A5A-9EAC-43B4-98B9-317BCB7FA533}"/>
    <dgm:cxn modelId="{53CB6864-3131-4800-8AE3-E610787C163D}" type="presOf" srcId="{6504584F-0F85-414B-8807-C530CD9CBE1E}" destId="{90802DC4-3A15-406F-85AF-222DDB9742D9}" srcOrd="1" destOrd="0" presId="urn:microsoft.com/office/officeart/2005/8/layout/target3"/>
    <dgm:cxn modelId="{019B346D-8E7B-456B-9C90-3951D4288058}" srcId="{D0E5C9D0-7F96-47C2-AD28-BB4B4F9B86EA}" destId="{70719FD0-3446-4869-874E-B69EE455F6A9}" srcOrd="2" destOrd="0" parTransId="{80C0E347-9882-4774-B906-36EC9B98BE05}" sibTransId="{D01B23E4-FD7A-4B28-A57E-DD22E1E5700C}"/>
    <dgm:cxn modelId="{6A1F1751-B8DC-4E49-A1AB-D923C48AD7CE}" srcId="{D0E5C9D0-7F96-47C2-AD28-BB4B4F9B86EA}" destId="{6504584F-0F85-414B-8807-C530CD9CBE1E}" srcOrd="0" destOrd="0" parTransId="{4107F957-9545-40BA-A674-0FE430F29040}" sibTransId="{FBEE68FD-3417-4B5A-8333-CF757C68E4E2}"/>
    <dgm:cxn modelId="{81815A7C-9146-40B6-8158-C37D3E422E70}" srcId="{D0E5C9D0-7F96-47C2-AD28-BB4B4F9B86EA}" destId="{64F72A1F-11CB-43BE-8466-BCB30502EAC5}" srcOrd="1" destOrd="0" parTransId="{CA1E4895-7A4D-4189-9CE0-9B4DEA0EFBC2}" sibTransId="{6E603279-21AF-44B6-A7F3-9E2C1BC7E580}"/>
    <dgm:cxn modelId="{1FDFDE8A-0E51-426C-A1FC-D47318BCAB49}" type="presOf" srcId="{64F72A1F-11CB-43BE-8466-BCB30502EAC5}" destId="{636E4718-0416-468D-AC3B-E8A5F0E525CE}" srcOrd="1" destOrd="0" presId="urn:microsoft.com/office/officeart/2005/8/layout/target3"/>
    <dgm:cxn modelId="{C1F9C29F-084D-4FCB-8F6D-8E0A862E4789}" type="presOf" srcId="{815F3397-F0A9-41B6-B474-7C29114CF18E}" destId="{0A3BDCD5-0618-4087-9C81-5725C8D7E20A}" srcOrd="0" destOrd="1" presId="urn:microsoft.com/office/officeart/2005/8/layout/target3"/>
    <dgm:cxn modelId="{7481C6AA-E87A-4265-9846-A7D4EE0E0C9F}" type="presOf" srcId="{A50C9E98-6989-418F-9C78-27413E4C309B}" destId="{77056AEB-5296-465B-8B73-70A1CDBC794B}" srcOrd="0" destOrd="0" presId="urn:microsoft.com/office/officeart/2005/8/layout/target3"/>
    <dgm:cxn modelId="{5E5F1EBF-54F8-413B-B3E9-868F73C0F8A9}" type="presOf" srcId="{D0E5C9D0-7F96-47C2-AD28-BB4B4F9B86EA}" destId="{CBC90E90-D944-4E6C-B8BA-939E651B7772}" srcOrd="0" destOrd="0" presId="urn:microsoft.com/office/officeart/2005/8/layout/target3"/>
    <dgm:cxn modelId="{5B9198C4-EC00-411E-BF73-EC746169A6A9}" type="presOf" srcId="{70719FD0-3446-4869-874E-B69EE455F6A9}" destId="{6D991FC8-D1AE-4E42-AB70-7594887C45DA}" srcOrd="0" destOrd="0" presId="urn:microsoft.com/office/officeart/2005/8/layout/target3"/>
    <dgm:cxn modelId="{79A405C8-5284-448F-BB0D-0EC740A7D578}" srcId="{64F72A1F-11CB-43BE-8466-BCB30502EAC5}" destId="{A50C9E98-6989-418F-9C78-27413E4C309B}" srcOrd="0" destOrd="0" parTransId="{279992A4-1BDF-4F99-BE82-839A95E55143}" sibTransId="{CE80549B-0B32-48A6-BB54-34B988A32D4E}"/>
    <dgm:cxn modelId="{BB085FE0-E7DF-489E-AB42-A9D1C2A48089}" srcId="{70719FD0-3446-4869-874E-B69EE455F6A9}" destId="{431F5CCF-7AC6-4070-B05C-50FE6E471BD2}" srcOrd="1" destOrd="0" parTransId="{3F55513E-C873-4B31-85F0-A95B4FB263A0}" sibTransId="{81F2007C-886E-4A55-8182-D15098DBCB77}"/>
    <dgm:cxn modelId="{387A43F3-F6DE-44FF-A83C-CF21A014A573}" srcId="{6504584F-0F85-414B-8807-C530CD9CBE1E}" destId="{815F3397-F0A9-41B6-B474-7C29114CF18E}" srcOrd="1" destOrd="0" parTransId="{404937AF-FCED-41FC-B041-3BBE41B609BE}" sibTransId="{1C0CFAD7-11B0-4F63-8050-C61D937D3859}"/>
    <dgm:cxn modelId="{D740ABFD-2EB5-441A-AD3A-0F766E5FB129}" type="presOf" srcId="{8D55098E-5F71-411F-8797-C74A53E0BC51}" destId="{0A3BDCD5-0618-4087-9C81-5725C8D7E20A}" srcOrd="0" destOrd="0" presId="urn:microsoft.com/office/officeart/2005/8/layout/target3"/>
    <dgm:cxn modelId="{F05EBEFD-4291-4116-A7D9-E9F094BA3108}" type="presOf" srcId="{EF16E76E-38D0-4CF6-92F9-28AEA694BBEE}" destId="{25E3332A-2269-499E-ACA9-ABD674902C24}" srcOrd="0" destOrd="0" presId="urn:microsoft.com/office/officeart/2005/8/layout/target3"/>
    <dgm:cxn modelId="{C3A0CA24-3559-48BA-8717-047BE7E295B4}" type="presParOf" srcId="{CBC90E90-D944-4E6C-B8BA-939E651B7772}" destId="{4F6AC630-987D-4A7B-83C2-C7B6AA495A5E}" srcOrd="0" destOrd="0" presId="urn:microsoft.com/office/officeart/2005/8/layout/target3"/>
    <dgm:cxn modelId="{80283072-1BFD-44B8-A559-E91DB4815B03}" type="presParOf" srcId="{CBC90E90-D944-4E6C-B8BA-939E651B7772}" destId="{17659117-7DDA-4F79-AB3C-E2361DF9F3C5}" srcOrd="1" destOrd="0" presId="urn:microsoft.com/office/officeart/2005/8/layout/target3"/>
    <dgm:cxn modelId="{11AC90FC-EFB9-465B-B64F-7C692980E081}" type="presParOf" srcId="{CBC90E90-D944-4E6C-B8BA-939E651B7772}" destId="{CD3D8ABF-297F-4672-A468-E5A0E7934314}" srcOrd="2" destOrd="0" presId="urn:microsoft.com/office/officeart/2005/8/layout/target3"/>
    <dgm:cxn modelId="{63242959-0604-4483-9255-236BF3CF56B8}" type="presParOf" srcId="{CBC90E90-D944-4E6C-B8BA-939E651B7772}" destId="{63BBC9D7-EF9B-496E-BFC2-DA43176FA169}" srcOrd="3" destOrd="0" presId="urn:microsoft.com/office/officeart/2005/8/layout/target3"/>
    <dgm:cxn modelId="{0BD2D7E0-8A0C-4E0B-8472-A8C136E9ED1F}" type="presParOf" srcId="{CBC90E90-D944-4E6C-B8BA-939E651B7772}" destId="{A626D086-8E0B-475E-ACAF-206AC57E0645}" srcOrd="4" destOrd="0" presId="urn:microsoft.com/office/officeart/2005/8/layout/target3"/>
    <dgm:cxn modelId="{265529EE-287B-4121-A36E-97A6452789E8}" type="presParOf" srcId="{CBC90E90-D944-4E6C-B8BA-939E651B7772}" destId="{E16DA083-C81F-4AA0-911D-77AB22D95843}" srcOrd="5" destOrd="0" presId="urn:microsoft.com/office/officeart/2005/8/layout/target3"/>
    <dgm:cxn modelId="{72673605-CB53-4AA1-8C57-EFB62A59FE96}" type="presParOf" srcId="{CBC90E90-D944-4E6C-B8BA-939E651B7772}" destId="{5B59413D-C1BC-4737-B365-66EC4BEE29AD}" srcOrd="6" destOrd="0" presId="urn:microsoft.com/office/officeart/2005/8/layout/target3"/>
    <dgm:cxn modelId="{CAEC2EF0-EE7B-4C8C-A0C8-DDFB22AC5E17}" type="presParOf" srcId="{CBC90E90-D944-4E6C-B8BA-939E651B7772}" destId="{CF5D086F-7288-4EBA-879D-49BD6E35E5AB}" srcOrd="7" destOrd="0" presId="urn:microsoft.com/office/officeart/2005/8/layout/target3"/>
    <dgm:cxn modelId="{36DA1ECB-6B05-4EAE-AE15-7577BC4F4BC1}" type="presParOf" srcId="{CBC90E90-D944-4E6C-B8BA-939E651B7772}" destId="{6D991FC8-D1AE-4E42-AB70-7594887C45DA}" srcOrd="8" destOrd="0" presId="urn:microsoft.com/office/officeart/2005/8/layout/target3"/>
    <dgm:cxn modelId="{A06C39B7-0BC7-4890-BEB6-116C8CE9F341}" type="presParOf" srcId="{CBC90E90-D944-4E6C-B8BA-939E651B7772}" destId="{90802DC4-3A15-406F-85AF-222DDB9742D9}" srcOrd="9" destOrd="0" presId="urn:microsoft.com/office/officeart/2005/8/layout/target3"/>
    <dgm:cxn modelId="{F448DC95-F45D-4C55-9448-5E56C7C3C005}" type="presParOf" srcId="{CBC90E90-D944-4E6C-B8BA-939E651B7772}" destId="{0A3BDCD5-0618-4087-9C81-5725C8D7E20A}" srcOrd="10" destOrd="0" presId="urn:microsoft.com/office/officeart/2005/8/layout/target3"/>
    <dgm:cxn modelId="{1113C9CF-B104-41DB-A383-6440B56DA6CA}" type="presParOf" srcId="{CBC90E90-D944-4E6C-B8BA-939E651B7772}" destId="{636E4718-0416-468D-AC3B-E8A5F0E525CE}" srcOrd="11" destOrd="0" presId="urn:microsoft.com/office/officeart/2005/8/layout/target3"/>
    <dgm:cxn modelId="{7EF5F3A5-B884-4AE1-8F72-A2496FB1B099}" type="presParOf" srcId="{CBC90E90-D944-4E6C-B8BA-939E651B7772}" destId="{77056AEB-5296-465B-8B73-70A1CDBC794B}" srcOrd="12" destOrd="0" presId="urn:microsoft.com/office/officeart/2005/8/layout/target3"/>
    <dgm:cxn modelId="{90EFD141-BC41-44DF-B936-25526D5A9DAC}" type="presParOf" srcId="{CBC90E90-D944-4E6C-B8BA-939E651B7772}" destId="{46A65132-6CFC-4954-8AA0-22EDBA4EFF9C}" srcOrd="13" destOrd="0" presId="urn:microsoft.com/office/officeart/2005/8/layout/target3"/>
    <dgm:cxn modelId="{B0AE1303-454B-4392-92F4-A0828FFB1E39}" type="presParOf" srcId="{CBC90E90-D944-4E6C-B8BA-939E651B7772}" destId="{25E3332A-2269-499E-ACA9-ABD674902C24}" srcOrd="14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6AC630-987D-4A7B-83C2-C7B6AA495A5E}">
      <dsp:nvSpPr>
        <dsp:cNvPr id="0" name=""/>
        <dsp:cNvSpPr/>
      </dsp:nvSpPr>
      <dsp:spPr>
        <a:xfrm>
          <a:off x="0" y="0"/>
          <a:ext cx="3635565" cy="3635565"/>
        </a:xfrm>
        <a:prstGeom prst="pie">
          <a:avLst>
            <a:gd name="adj1" fmla="val 5400000"/>
            <a:gd name="adj2" fmla="val 1620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CD3D8ABF-297F-4672-A468-E5A0E7934314}">
      <dsp:nvSpPr>
        <dsp:cNvPr id="0" name=""/>
        <dsp:cNvSpPr/>
      </dsp:nvSpPr>
      <dsp:spPr>
        <a:xfrm>
          <a:off x="1817782" y="0"/>
          <a:ext cx="9118158" cy="363556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*Competition</a:t>
          </a:r>
          <a:br>
            <a:rPr lang="en-US" sz="2400" kern="1200"/>
          </a:br>
          <a:r>
            <a:rPr lang="en-US" sz="2400" b="1" u="sng" kern="1200"/>
            <a:t>P1</a:t>
          </a:r>
        </a:p>
      </dsp:txBody>
      <dsp:txXfrm>
        <a:off x="1817782" y="0"/>
        <a:ext cx="4559079" cy="1090671"/>
      </dsp:txXfrm>
    </dsp:sp>
    <dsp:sp modelId="{A626D086-8E0B-475E-ACAF-206AC57E0645}">
      <dsp:nvSpPr>
        <dsp:cNvPr id="0" name=""/>
        <dsp:cNvSpPr/>
      </dsp:nvSpPr>
      <dsp:spPr>
        <a:xfrm>
          <a:off x="636225" y="1090671"/>
          <a:ext cx="2363114" cy="2363114"/>
        </a:xfrm>
        <a:prstGeom prst="pie">
          <a:avLst>
            <a:gd name="adj1" fmla="val 5400000"/>
            <a:gd name="adj2" fmla="val 1620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E16DA083-C81F-4AA0-911D-77AB22D95843}">
      <dsp:nvSpPr>
        <dsp:cNvPr id="0" name=""/>
        <dsp:cNvSpPr/>
      </dsp:nvSpPr>
      <dsp:spPr>
        <a:xfrm>
          <a:off x="1817782" y="1090671"/>
          <a:ext cx="9118158" cy="236311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Brand</a:t>
          </a:r>
          <a:br>
            <a:rPr lang="en-US" sz="2400" kern="1200"/>
          </a:br>
          <a:r>
            <a:rPr lang="en-US" sz="1400" kern="1200"/>
            <a:t>(incl. Brand Others)</a:t>
          </a:r>
          <a:br>
            <a:rPr lang="en-US" sz="2400" kern="1200"/>
          </a:br>
          <a:r>
            <a:rPr lang="en-US" sz="2400" b="1" u="sng" kern="1200"/>
            <a:t>P3</a:t>
          </a:r>
        </a:p>
      </dsp:txBody>
      <dsp:txXfrm>
        <a:off x="1817782" y="1090671"/>
        <a:ext cx="4559079" cy="1090668"/>
      </dsp:txXfrm>
    </dsp:sp>
    <dsp:sp modelId="{CF5D086F-7288-4EBA-879D-49BD6E35E5AB}">
      <dsp:nvSpPr>
        <dsp:cNvPr id="0" name=""/>
        <dsp:cNvSpPr/>
      </dsp:nvSpPr>
      <dsp:spPr>
        <a:xfrm>
          <a:off x="1272448" y="2181340"/>
          <a:ext cx="1090668" cy="1090668"/>
        </a:xfrm>
        <a:prstGeom prst="pie">
          <a:avLst>
            <a:gd name="adj1" fmla="val 5400000"/>
            <a:gd name="adj2" fmla="val 1620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6D991FC8-D1AE-4E42-AB70-7594887C45DA}">
      <dsp:nvSpPr>
        <dsp:cNvPr id="0" name=""/>
        <dsp:cNvSpPr/>
      </dsp:nvSpPr>
      <dsp:spPr>
        <a:xfrm>
          <a:off x="1817782" y="2181340"/>
          <a:ext cx="9118158" cy="109066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*Generic</a:t>
          </a:r>
          <a:br>
            <a:rPr lang="en-US" sz="2400" kern="1200"/>
          </a:br>
          <a:r>
            <a:rPr lang="en-US" sz="2400" b="1" u="sng" kern="1200"/>
            <a:t>P2</a:t>
          </a:r>
        </a:p>
      </dsp:txBody>
      <dsp:txXfrm>
        <a:off x="1817782" y="2181340"/>
        <a:ext cx="4559079" cy="1090668"/>
      </dsp:txXfrm>
    </dsp:sp>
    <dsp:sp modelId="{0A3BDCD5-0618-4087-9C81-5725C8D7E20A}">
      <dsp:nvSpPr>
        <dsp:cNvPr id="0" name=""/>
        <dsp:cNvSpPr/>
      </dsp:nvSpPr>
      <dsp:spPr>
        <a:xfrm>
          <a:off x="6376861" y="0"/>
          <a:ext cx="4559079" cy="1090671"/>
        </a:xfrm>
        <a:prstGeom prst="rect">
          <a:avLst/>
        </a:prstGeom>
        <a:noFill/>
        <a:ln w="6350" cap="flat" cmpd="sng" algn="ctr">
          <a:noFill/>
          <a:prstDash val="solid"/>
          <a:miter lim="800000"/>
        </a:ln>
        <a:effectLst/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Capture Market Share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Drive Consideration</a:t>
          </a:r>
          <a:br>
            <a:rPr lang="en-US" sz="1600" kern="1200"/>
          </a:br>
          <a:endParaRPr lang="en-US" sz="1600" i="1" u="sng" kern="1200"/>
        </a:p>
      </dsp:txBody>
      <dsp:txXfrm>
        <a:off x="6376861" y="0"/>
        <a:ext cx="4559079" cy="1090671"/>
      </dsp:txXfrm>
    </dsp:sp>
    <dsp:sp modelId="{77056AEB-5296-465B-8B73-70A1CDBC794B}">
      <dsp:nvSpPr>
        <dsp:cNvPr id="0" name=""/>
        <dsp:cNvSpPr/>
      </dsp:nvSpPr>
      <dsp:spPr>
        <a:xfrm>
          <a:off x="6376861" y="1090671"/>
          <a:ext cx="4559079" cy="1090668"/>
        </a:xfrm>
        <a:prstGeom prst="rect">
          <a:avLst/>
        </a:prstGeom>
        <a:noFill/>
        <a:ln w="6350" cap="flat" cmpd="sng" algn="ctr">
          <a:noFill/>
          <a:prstDash val="solid"/>
          <a:miter lim="800000"/>
        </a:ln>
        <a:effectLst/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Protect Brand Real Estate</a:t>
          </a:r>
          <a:br>
            <a:rPr lang="en-US" sz="1600" kern="1200"/>
          </a:br>
          <a:endParaRPr lang="en-US" sz="1600" i="1" u="sng" kern="1200"/>
        </a:p>
      </dsp:txBody>
      <dsp:txXfrm>
        <a:off x="6376861" y="1090671"/>
        <a:ext cx="4559079" cy="1090668"/>
      </dsp:txXfrm>
    </dsp:sp>
    <dsp:sp modelId="{25E3332A-2269-499E-ACA9-ABD674902C24}">
      <dsp:nvSpPr>
        <dsp:cNvPr id="0" name=""/>
        <dsp:cNvSpPr/>
      </dsp:nvSpPr>
      <dsp:spPr>
        <a:xfrm>
          <a:off x="6376861" y="2181340"/>
          <a:ext cx="4559079" cy="1090668"/>
        </a:xfrm>
        <a:prstGeom prst="rect">
          <a:avLst/>
        </a:prstGeom>
        <a:noFill/>
        <a:ln w="6350" cap="flat" cmpd="sng" algn="ctr">
          <a:noFill/>
          <a:prstDash val="solid"/>
          <a:miter lim="800000"/>
        </a:ln>
        <a:effectLst/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Improve Brand visibility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Uplift Brand Core Searches</a:t>
          </a:r>
          <a:br>
            <a:rPr lang="en-US" sz="1600" kern="1200"/>
          </a:br>
          <a:endParaRPr lang="en-US" sz="1600" i="1" u="sng" kern="1200"/>
        </a:p>
      </dsp:txBody>
      <dsp:txXfrm>
        <a:off x="6376861" y="2181340"/>
        <a:ext cx="4559079" cy="10906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1FC69A-2640-798F-0996-83A2146FDC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0CF79A-CD03-04F3-7961-6CD0013689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90E515-A1AF-437B-AC4E-88A8EDA820FB}" type="datetimeFigureOut">
              <a:rPr lang="en-US" smtClean="0"/>
              <a:t>4/22/2025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D373C-FA0E-D3FF-D260-DEAEE6E254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0663E2-6998-24C3-69BD-4525F2E733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581E6A-86FE-4C31-A82E-E56D64BBF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92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149156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85097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10285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1919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D0428-55E7-735E-88C0-434B0125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ED9DA4-C915-DA23-EB5C-E473D05E3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0932F-FBD6-6FD6-8B8D-B22B656E6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9ACDB0-A476-C107-2900-7C38EAC95D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44200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636704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543687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167528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IN"/>
              <a:t>X Series </a:t>
            </a:r>
            <a:r>
              <a:rPr kumimoji="0" lang="en-IN" sz="1200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audiences are Mobile first, with Internet keeping them engaged &amp; entertained.</a:t>
            </a:r>
            <a:r>
              <a:rPr kumimoji="0" lang="en-IN" sz="1200" b="0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 </a:t>
            </a:r>
            <a:br>
              <a:rPr kumimoji="0" lang="en-IN" sz="1200" b="0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</a:br>
            <a:r>
              <a:rPr lang="en-IN" sz="1100" b="0"/>
              <a:t>OLV &amp; OTT platforms become critical to reach out to these audiences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664481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29070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548107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73225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18997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79955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205906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514607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966473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85043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6511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10769600" cy="4039142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0D79DC-8324-FFD4-B65A-57CD21DF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8614B1-F0A0-489A-3AAD-33E68C546680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346828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- image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98C29CC-6571-16C4-0A5E-9E0F6D8748F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15549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10769600" cy="4039142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0D79DC-8324-FFD4-B65A-57CD21DF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8614B1-F0A0-489A-3AAD-33E68C546680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81CFAAB-8D25-A525-5A66-7CC1F8C51A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4266" y="0"/>
            <a:ext cx="18000" cy="687600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1BC34C1-86ED-B6CD-4FA1-BFE76FBC98BF}"/>
              </a:ext>
            </a:extLst>
          </p:cNvPr>
          <p:cNvSpPr/>
          <p:nvPr userDrawn="1"/>
        </p:nvSpPr>
        <p:spPr>
          <a:xfrm>
            <a:off x="0" y="-490506"/>
            <a:ext cx="2731089" cy="369442"/>
          </a:xfrm>
          <a:prstGeom prst="roundRect">
            <a:avLst>
              <a:gd name="adj" fmla="val 23242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NB: </a:t>
            </a:r>
            <a:r>
              <a:rPr lang="en-GB" sz="900">
                <a:solidFill>
                  <a:schemeClr val="tx1"/>
                </a:solidFill>
                <a:latin typeface="+mn-lt"/>
              </a:rPr>
              <a:t>Headline line to be used over imagery on this slide. Not to be used on statement text</a:t>
            </a:r>
            <a:endParaRPr lang="en-GB" sz="900" b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45806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r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6354"/>
            <a:ext cx="6096000" cy="615549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279724"/>
            <a:ext cx="4990063" cy="178085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2" y="2060575"/>
            <a:ext cx="4990063" cy="4108450"/>
          </a:xfrm>
        </p:spPr>
        <p:txBody>
          <a:bodyPr numCol="1" spcCol="360000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0763B5E-38DF-023F-E8B2-FB8239862B58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645687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le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Century Gothic" panose="020B0502020202020204" pitchFamily="34" charset="0"/>
            </a:endParaRP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16185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4799" y="279724"/>
            <a:ext cx="4990063" cy="1780851"/>
          </a:xfr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65350" y="2060575"/>
            <a:ext cx="4990063" cy="4108450"/>
          </a:xfrm>
        </p:spPr>
        <p:txBody>
          <a:bodyPr numCol="1" spcCol="360000"/>
          <a:lstStyle>
            <a:lvl1pPr>
              <a:defRPr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0763B5E-38DF-023F-E8B2-FB8239862B58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Century Gothic" panose="020B0502020202020204" pitchFamily="34" charset="0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Century Gothic" panose="020B0502020202020204" pitchFamily="34" charset="0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931094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w/ black box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8196262" cy="1780851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8196262" cy="4108450"/>
          </a:xfrm>
        </p:spPr>
        <p:txBody>
          <a:bodyPr numCol="2" spcCol="360000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6FB04FF-5BAC-2BD5-FC22-039F925B7A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23424" y="0"/>
            <a:ext cx="2568575" cy="6169025"/>
          </a:xfrm>
          <a:solidFill>
            <a:schemeClr val="tx1"/>
          </a:solidFill>
        </p:spPr>
        <p:txBody>
          <a:bodyPr numCol="1" spcCol="360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8000">
                <a:solidFill>
                  <a:schemeClr val="bg1"/>
                </a:solidFill>
                <a:latin typeface="+mj-l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chemeClr val="tx2"/>
                </a:solidFill>
                <a:latin typeface="+mj-lt"/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4800"/>
              </a:spcAft>
              <a:buNone/>
              <a:defRPr sz="1600">
                <a:solidFill>
                  <a:schemeClr val="bg1"/>
                </a:solidFill>
                <a:latin typeface="+mj-lt"/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XX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0FD9022-2914-7F52-5A0E-72641AC75369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j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j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482286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 w/ colour + adjustable RH box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j-lt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BB7B82BD-D7C9-EA27-38C8-696390309C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23424" y="-1"/>
            <a:ext cx="2568575" cy="6169028"/>
          </a:xfrm>
          <a:solidFill>
            <a:schemeClr val="bg1"/>
          </a:solidFill>
        </p:spPr>
        <p:txBody>
          <a:bodyPr numCol="1" spcCol="360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8000">
                <a:solidFill>
                  <a:schemeClr val="tx1"/>
                </a:solidFill>
                <a:latin typeface="+mj-l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chemeClr val="tx2"/>
                </a:solidFill>
                <a:latin typeface="+mj-lt"/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4800"/>
              </a:spcAft>
              <a:buNone/>
              <a:defRPr sz="1600">
                <a:solidFill>
                  <a:schemeClr val="tx1"/>
                </a:solidFill>
                <a:latin typeface="+mj-lt"/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XX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520AFED-62E3-D680-8583-5024D77E7F21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F6F261-3084-02CA-45B7-471636DD7D0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j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j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357024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 w/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Century Gothic" panose="020B0502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Century Gothic" panose="020B0502020202020204" pitchFamily="34" charset="0"/>
            </a:endParaRP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23423" y="1"/>
            <a:ext cx="2569775" cy="616902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>
            <a:lvl1pPr>
              <a:defRPr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E512F60-D130-DB98-71CB-5C4FFFC9D2B4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3A3E4B8-D659-5EC6-927A-2121CE38D98B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Century Gothic" panose="020B0502020202020204" pitchFamily="34" charset="0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Century Gothic" panose="020B0502020202020204" pitchFamily="34" charset="0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986601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 w/ image + black bo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31789" y="6354"/>
            <a:ext cx="4495800" cy="615549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BB7B82BD-D7C9-EA27-38C8-696390309C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23424" y="0"/>
            <a:ext cx="2568575" cy="6155496"/>
          </a:xfrm>
        </p:spPr>
        <p:txBody>
          <a:bodyPr numCol="1" spcCol="360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8000">
                <a:solidFill>
                  <a:schemeClr val="bg1"/>
                </a:solidFill>
                <a:latin typeface="+mn-lt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chemeClr val="tx2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4800"/>
              </a:spcAft>
              <a:buNone/>
              <a:defRPr sz="1600">
                <a:solidFill>
                  <a:schemeClr val="bg1"/>
                </a:solidFill>
                <a:latin typeface="+mn-lt"/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algn="ctr">
              <a:spcBef>
                <a:spcPts val="0"/>
              </a:spcBef>
              <a:spcAft>
                <a:spcPts val="0"/>
              </a:spcAft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XX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2AE0620-5A7D-A48E-B01F-3591700519A5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2129674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block colour R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j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A0C17C-CD5C-B2B2-48E3-7FC8FE1DE12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j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j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2264551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 block colou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D572EAC-B651-3D6C-EF45-6A68A0F12134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j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5C62386-C2D0-5EC4-1719-ABF5CBCA155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j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j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296416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reativ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9959E86-D769-AF18-FB19-1E9646A2CA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924050" y="1901825"/>
            <a:ext cx="10267950" cy="4956175"/>
          </a:xfrm>
          <a:solidFill>
            <a:schemeClr val="bg1"/>
          </a:solidFill>
        </p:spPr>
        <p:txBody>
          <a:bodyPr lIns="648000" tIns="503999" rIns="720000" bIns="360000"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16726" y="2409290"/>
            <a:ext cx="9138202" cy="3759735"/>
          </a:xfrm>
        </p:spPr>
        <p:txBody>
          <a:bodyPr numCol="1" spcCol="360000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A0C17C-CD5C-B2B2-48E3-7FC8FE1DE12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0BA130C7-4808-D37A-BE2C-C22372221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7555463" cy="1615858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80190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reative layout w/ image b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92000" cy="6858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9959E86-D769-AF18-FB19-1E9646A2CA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924050" y="1901825"/>
            <a:ext cx="10267950" cy="4956175"/>
          </a:xfrm>
          <a:solidFill>
            <a:schemeClr val="bg1"/>
          </a:solidFill>
        </p:spPr>
        <p:txBody>
          <a:bodyPr lIns="648000" tIns="503999" rIns="720000" bIns="360000"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16726" y="2409290"/>
            <a:ext cx="9138202" cy="3759735"/>
          </a:xfrm>
        </p:spPr>
        <p:txBody>
          <a:bodyPr numCol="1" spcCol="360000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A0C17C-CD5C-B2B2-48E3-7FC8FE1DE12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0BA130C7-4808-D37A-BE2C-C22372221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7555463" cy="161585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6133B677-29A5-A0EC-E6BD-A37065FD786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4266" y="0"/>
            <a:ext cx="18000" cy="687600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4CA71-4FEB-E6F8-25A7-3AC9F40B9080}"/>
              </a:ext>
            </a:extLst>
          </p:cNvPr>
          <p:cNvSpPr/>
          <p:nvPr userDrawn="1"/>
        </p:nvSpPr>
        <p:spPr>
          <a:xfrm>
            <a:off x="0" y="-490506"/>
            <a:ext cx="2731089" cy="369442"/>
          </a:xfrm>
          <a:prstGeom prst="roundRect">
            <a:avLst>
              <a:gd name="adj" fmla="val 23242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NB: </a:t>
            </a:r>
            <a:r>
              <a:rPr lang="en-GB" sz="900">
                <a:solidFill>
                  <a:schemeClr val="tx1"/>
                </a:solidFill>
                <a:latin typeface="+mn-lt"/>
              </a:rPr>
              <a:t>Headline line to be used over imagery on this slide. Not to be used on statement text</a:t>
            </a:r>
            <a:endParaRPr lang="en-GB" sz="900" b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7474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/3 block colour R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8A1BC5B-0CBD-4BA7-96DF-4842AE3F77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623425" y="0"/>
            <a:ext cx="2568575" cy="6169025"/>
          </a:xfrm>
          <a:solidFill>
            <a:schemeClr val="bg2">
              <a:lumMod val="20000"/>
              <a:lumOff val="80000"/>
            </a:schemeClr>
          </a:solidFill>
        </p:spPr>
        <p:txBody>
          <a:bodyPr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36DCDF-44E0-5872-FC9F-9A82F5C6A8BF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85813" y="2060575"/>
            <a:ext cx="4345538" cy="4108450"/>
          </a:xfrm>
        </p:spPr>
        <p:txBody>
          <a:bodyPr numCol="1" spcCol="360000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76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6169CB28-1D52-DC01-A716-31468E22FE7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31789" y="0"/>
            <a:ext cx="4495800" cy="6174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EC772E9-69F2-44C7-EA22-CD86A71996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99375" y="1368425"/>
            <a:ext cx="4492625" cy="3429000"/>
          </a:xfrm>
          <a:solidFill>
            <a:schemeClr val="tx1"/>
          </a:solidFill>
        </p:spPr>
        <p:txBody>
          <a:bodyPr lIns="432000" tIns="360000" rIns="432000" bIns="360000" anchor="ctr"/>
          <a:lstStyle>
            <a:lvl1pPr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tx2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06D0988-1731-EBBF-16FB-1BEAD56FBF6F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23299863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0"/>
            <a:ext cx="51308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23423" y="1"/>
            <a:ext cx="2569775" cy="616902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279725"/>
            <a:ext cx="4193133" cy="612098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About us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5813" y="722138"/>
            <a:ext cx="4193133" cy="1236133"/>
          </a:xfrm>
        </p:spPr>
        <p:txBody>
          <a:bodyPr numCol="1" spcCol="360000"/>
          <a:lstStyle>
            <a:lvl1pPr>
              <a:lnSpc>
                <a:spcPct val="120000"/>
              </a:lnSpc>
              <a:spcAft>
                <a:spcPts val="0"/>
              </a:spcAft>
              <a:defRPr sz="2000" b="1">
                <a:latin typeface="+mn-lt"/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40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20000"/>
              </a:lnSpc>
              <a:spcAft>
                <a:spcPts val="0"/>
              </a:spcAft>
              <a:buNone/>
              <a:defRPr sz="1400" b="1">
                <a:solidFill>
                  <a:schemeClr val="tx2"/>
                </a:solidFill>
                <a:latin typeface="+mn-lt"/>
              </a:defRPr>
            </a:lvl3pPr>
          </a:lstStyle>
          <a:p>
            <a:pPr lvl="0"/>
            <a:r>
              <a:rPr lang="en-GB"/>
              <a:t>Name Surname</a:t>
            </a:r>
          </a:p>
          <a:p>
            <a:pPr marL="0" marR="0" lvl="1" indent="0" algn="l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GB"/>
              <a:t>Personal Gender Pronouns</a:t>
            </a:r>
          </a:p>
          <a:p>
            <a:pPr lvl="2"/>
            <a:r>
              <a:rPr lang="en-GB"/>
              <a:t>Job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DF1546-854E-5AEA-B461-BEBE0FF239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85813" y="2060576"/>
            <a:ext cx="4192601" cy="410845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B4A39F78-EBBB-48C6-FED1-4F6DF296DE4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130801" y="1"/>
            <a:ext cx="4492622" cy="3429000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E2F26926-A7AB-71E8-9853-4F38F51C877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679547" y="3429000"/>
            <a:ext cx="3419298" cy="2740025"/>
          </a:xfrm>
        </p:spPr>
        <p:txBody>
          <a:bodyPr tIns="180000" bIns="180000" anchor="ctr"/>
          <a:lstStyle>
            <a:lvl1pPr>
              <a:spcAft>
                <a:spcPts val="0"/>
              </a:spcAft>
              <a:defRPr sz="1400" b="1">
                <a:latin typeface="+mn-lt"/>
              </a:defRPr>
            </a:lvl1pPr>
            <a:lvl2pPr>
              <a:defRPr sz="1600">
                <a:solidFill>
                  <a:schemeClr val="tx1"/>
                </a:solidFill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871BA91-8C48-CB81-ED47-208A0F068404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1828628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 alternativ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DD64C1-1627-ABB6-D3CF-00E6689F64B5}"/>
              </a:ext>
            </a:extLst>
          </p:cNvPr>
          <p:cNvSpPr/>
          <p:nvPr userDrawn="1"/>
        </p:nvSpPr>
        <p:spPr>
          <a:xfrm>
            <a:off x="1" y="1"/>
            <a:ext cx="5130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Century Gothic" panose="020B0502020202020204" pitchFamily="34" charset="0"/>
            </a:endParaRPr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46069711-D5BC-074A-575D-A5C8ADAA51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23423" y="1"/>
            <a:ext cx="2569775" cy="616902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279725"/>
            <a:ext cx="4193133" cy="612098"/>
          </a:xfr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r>
              <a:rPr lang="en-GB"/>
              <a:t>About us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5813" y="722138"/>
            <a:ext cx="4193133" cy="1236133"/>
          </a:xfrm>
        </p:spPr>
        <p:txBody>
          <a:bodyPr numCol="1" spcCol="360000"/>
          <a:lstStyle>
            <a:lvl1pPr>
              <a:lnSpc>
                <a:spcPct val="120000"/>
              </a:lnSpc>
              <a:spcAft>
                <a:spcPts val="0"/>
              </a:spcAft>
              <a:defRPr sz="2000" b="1">
                <a:latin typeface="Century Gothic" panose="020B0502020202020204" pitchFamily="34" charset="0"/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4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marL="0" indent="0">
              <a:lnSpc>
                <a:spcPct val="120000"/>
              </a:lnSpc>
              <a:spcAft>
                <a:spcPts val="0"/>
              </a:spcAft>
              <a:buNone/>
              <a:defRPr sz="1400" b="1">
                <a:solidFill>
                  <a:schemeClr val="tx2"/>
                </a:solidFill>
                <a:latin typeface="Century Gothic" panose="020B0502020202020204" pitchFamily="34" charset="0"/>
              </a:defRPr>
            </a:lvl3pPr>
          </a:lstStyle>
          <a:p>
            <a:pPr lvl="0"/>
            <a:r>
              <a:rPr lang="en-GB"/>
              <a:t>Name Surname</a:t>
            </a:r>
          </a:p>
          <a:p>
            <a:pPr marL="0" marR="0" lvl="1" indent="0" algn="l" defTabSz="3637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GB"/>
              <a:t>Personal Gender Pronouns</a:t>
            </a:r>
          </a:p>
          <a:p>
            <a:pPr lvl="2"/>
            <a:r>
              <a:rPr lang="en-GB"/>
              <a:t>Job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33D105DF-AA77-7688-00FC-905DC593F18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DF1546-854E-5AEA-B461-BEBE0FF239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85813" y="3871414"/>
            <a:ext cx="8196262" cy="2297612"/>
          </a:xfrm>
        </p:spPr>
        <p:txBody>
          <a:bodyPr numCol="2" spcCol="360000"/>
          <a:lstStyle>
            <a:lvl1pPr>
              <a:defRPr>
                <a:latin typeface="Century Gothic" panose="020B0502020202020204" pitchFamily="34" charset="0"/>
              </a:defRPr>
            </a:lvl1pPr>
            <a:lvl2pPr>
              <a:defRPr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  <a:lvl4pPr>
              <a:defRPr>
                <a:latin typeface="Century Gothic" panose="020B0502020202020204" pitchFamily="34" charset="0"/>
              </a:defRPr>
            </a:lvl4pPr>
            <a:lvl5pPr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B4A39F78-EBBB-48C6-FED1-4F6DF296DE4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122306" y="1"/>
            <a:ext cx="4501117" cy="3429000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8E295680-BBDD-4439-F9C1-7D05EDD124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5813" y="2066362"/>
            <a:ext cx="4192582" cy="1368990"/>
          </a:xfrm>
        </p:spPr>
        <p:txBody>
          <a:bodyPr numCol="1" spcCol="360000"/>
          <a:lstStyle>
            <a:lvl1pPr>
              <a:spcAft>
                <a:spcPts val="600"/>
              </a:spcAft>
              <a:defRPr sz="200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>
              <a:spcAft>
                <a:spcPts val="600"/>
              </a:spcAft>
              <a:defRPr sz="16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defRPr>
                <a:latin typeface="Century Gothic" panose="020B0502020202020204" pitchFamily="34" charset="0"/>
              </a:defRPr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AECFDEA-E3D1-5065-AAFE-4D2554A70741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Century Gothic" panose="020B0502020202020204" pitchFamily="34" charset="0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Century Gothic" panose="020B0502020202020204" pitchFamily="34" charset="0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7742442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ig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E38E8F08-EAE3-3623-1104-E02DF47541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3200" cy="2740026"/>
          </a:xfrm>
          <a:solidFill>
            <a:schemeClr val="bg1">
              <a:lumMod val="50000"/>
            </a:schemeClr>
          </a:solidFill>
        </p:spPr>
        <p:txBody>
          <a:bodyPr anchor="b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9525" y="2060576"/>
            <a:ext cx="2568575" cy="2740026"/>
          </a:xfrm>
          <a:solidFill>
            <a:schemeClr val="bg2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  <a:latin typeface="+mn-lt"/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tx1"/>
                </a:solidFill>
                <a:latin typeface="+mn-lt"/>
              </a:defRPr>
            </a:lvl2pPr>
            <a:lvl3pPr algn="ctr">
              <a:defRPr>
                <a:latin typeface="+mn-lt"/>
              </a:defRPr>
            </a:lvl3pPr>
            <a:lvl4pPr algn="ctr">
              <a:defRPr>
                <a:latin typeface="+mn-lt"/>
              </a:defRPr>
            </a:lvl4pPr>
            <a:lvl5pPr algn="ctr"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0D79DC-8324-FFD4-B65A-57CD21DF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33334E3-4F05-ECF6-2E02-F55F1E7274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11713" y="2060576"/>
            <a:ext cx="2568575" cy="2740026"/>
          </a:xfrm>
          <a:solidFill>
            <a:schemeClr val="bg2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  <a:latin typeface="+mn-lt"/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tx1"/>
                </a:solidFill>
                <a:latin typeface="+mn-lt"/>
              </a:defRPr>
            </a:lvl2pPr>
            <a:lvl3pPr algn="ctr">
              <a:defRPr>
                <a:latin typeface="+mn-lt"/>
              </a:defRPr>
            </a:lvl3pPr>
            <a:lvl4pPr algn="ctr">
              <a:defRPr>
                <a:latin typeface="+mn-lt"/>
              </a:defRPr>
            </a:lvl4pPr>
            <a:lvl5pPr algn="ctr"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543A0CCB-11D5-E8CA-53B5-294042D27A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50780" y="2060576"/>
            <a:ext cx="2568575" cy="2740026"/>
          </a:xfrm>
          <a:solidFill>
            <a:schemeClr val="bg2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  <a:latin typeface="+mn-lt"/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tx1"/>
                </a:solidFill>
                <a:latin typeface="+mn-lt"/>
              </a:defRPr>
            </a:lvl2pPr>
            <a:lvl3pPr algn="ctr">
              <a:defRPr>
                <a:latin typeface="+mn-lt"/>
              </a:defRPr>
            </a:lvl3pPr>
            <a:lvl4pPr algn="ctr">
              <a:defRPr>
                <a:latin typeface="+mn-lt"/>
              </a:defRPr>
            </a:lvl4pPr>
            <a:lvl5pPr algn="ctr"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D33C581-B6B9-DC60-BD58-9247567D9C8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8307137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ig points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E38E8F08-EAE3-3623-1104-E02DF47541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3200" cy="2740026"/>
          </a:xfrm>
          <a:solidFill>
            <a:schemeClr val="bg1">
              <a:lumMod val="50000"/>
            </a:schemeClr>
          </a:solidFill>
        </p:spPr>
        <p:txBody>
          <a:bodyPr anchor="b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A93EE1-5BB6-EE64-34F8-ED2A42E3D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9525" y="2060576"/>
            <a:ext cx="2568575" cy="2740026"/>
          </a:xfrm>
          <a:solidFill>
            <a:schemeClr val="tx1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  <a:latin typeface="+mn-lt"/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 algn="ctr">
              <a:defRPr>
                <a:solidFill>
                  <a:schemeClr val="bg1"/>
                </a:solidFill>
                <a:latin typeface="+mn-lt"/>
              </a:defRPr>
            </a:lvl3pPr>
            <a:lvl4pPr algn="ctr">
              <a:defRPr>
                <a:solidFill>
                  <a:schemeClr val="bg1"/>
                </a:solidFill>
                <a:latin typeface="+mn-lt"/>
              </a:defRPr>
            </a:lvl4pPr>
            <a:lvl5pPr algn="ctr"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E3083E-D7AA-4FB4-1495-728405061493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0D79DC-8324-FFD4-B65A-57CD21DF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33334E3-4F05-ECF6-2E02-F55F1E7274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11713" y="2060576"/>
            <a:ext cx="2568575" cy="2740026"/>
          </a:xfrm>
          <a:solidFill>
            <a:schemeClr val="tx1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  <a:latin typeface="+mn-lt"/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 algn="ctr">
              <a:defRPr>
                <a:solidFill>
                  <a:schemeClr val="bg1"/>
                </a:solidFill>
                <a:latin typeface="+mn-lt"/>
              </a:defRPr>
            </a:lvl3pPr>
            <a:lvl4pPr algn="ctr">
              <a:defRPr>
                <a:solidFill>
                  <a:schemeClr val="bg1"/>
                </a:solidFill>
                <a:latin typeface="+mn-lt"/>
              </a:defRPr>
            </a:lvl4pPr>
            <a:lvl5pPr algn="ctr"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543A0CCB-11D5-E8CA-53B5-294042D27A8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50780" y="2060576"/>
            <a:ext cx="2568575" cy="2740026"/>
          </a:xfrm>
          <a:solidFill>
            <a:schemeClr val="tx1"/>
          </a:solidFill>
        </p:spPr>
        <p:txBody>
          <a:bodyPr lIns="180000" tIns="72000" rIns="180000" bIns="72000" anchor="ctr"/>
          <a:lstStyle>
            <a:lvl1pPr algn="ctr">
              <a:lnSpc>
                <a:spcPct val="100000"/>
              </a:lnSpc>
              <a:spcAft>
                <a:spcPts val="0"/>
              </a:spcAft>
              <a:defRPr sz="2000" b="1">
                <a:solidFill>
                  <a:schemeClr val="tx2"/>
                </a:solidFill>
                <a:latin typeface="+mn-lt"/>
              </a:defRPr>
            </a:lvl1pPr>
            <a:lvl2pPr algn="ctr">
              <a:lnSpc>
                <a:spcPct val="110000"/>
              </a:lnSpc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 algn="ctr">
              <a:defRPr>
                <a:solidFill>
                  <a:schemeClr val="bg1"/>
                </a:solidFill>
                <a:latin typeface="+mn-lt"/>
              </a:defRPr>
            </a:lvl3pPr>
            <a:lvl4pPr algn="ctr">
              <a:defRPr>
                <a:solidFill>
                  <a:schemeClr val="bg1"/>
                </a:solidFill>
                <a:latin typeface="+mn-lt"/>
              </a:defRPr>
            </a:lvl4pPr>
            <a:lvl5pPr algn="ctr"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8DEB7F9-27FF-E5EF-B365-24F2EE393EFD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338645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4915F8E-79BE-5D09-752E-8C8D275C621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9623425" cy="6858000"/>
          </a:xfrm>
          <a:solidFill>
            <a:schemeClr val="bg1">
              <a:lumMod val="5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A46828F-697F-2B87-C817-7F92921E3F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060575"/>
            <a:ext cx="7699375" cy="4797425"/>
          </a:xfrm>
          <a:solidFill>
            <a:schemeClr val="tx1"/>
          </a:solidFill>
        </p:spPr>
        <p:txBody>
          <a:bodyPr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0C02F7-7386-FF76-B2DD-EDFBCC9D07CF}"/>
              </a:ext>
            </a:extLst>
          </p:cNvPr>
          <p:cNvSpPr/>
          <p:nvPr userDrawn="1"/>
        </p:nvSpPr>
        <p:spPr>
          <a:xfrm>
            <a:off x="9623425" y="3429000"/>
            <a:ext cx="2568574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FF8CB4C-8678-4A3C-7D3C-466A9CBDAC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62345" y="184229"/>
            <a:ext cx="1050925" cy="2581275"/>
          </a:xfrm>
        </p:spPr>
        <p:txBody>
          <a:bodyPr/>
          <a:lstStyle>
            <a:lvl1pPr algn="r">
              <a:lnSpc>
                <a:spcPts val="5500"/>
              </a:lnSpc>
              <a:spcAft>
                <a:spcPts val="0"/>
              </a:spcAft>
              <a:defRPr sz="6000">
                <a:ln w="19050">
                  <a:solidFill>
                    <a:schemeClr val="bg1"/>
                  </a:solidFill>
                </a:ln>
                <a:latin typeface="+mn-lt"/>
              </a:defRPr>
            </a:lvl1pPr>
          </a:lstStyle>
          <a:p>
            <a:pPr lvl="0"/>
            <a:r>
              <a:rPr lang="en-GB"/>
              <a:t>02 03 23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1B5A42E-81C0-743F-F7F1-74B73C934C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23425" y="3635296"/>
            <a:ext cx="2400997" cy="2168913"/>
          </a:xfrm>
        </p:spPr>
        <p:txBody>
          <a:bodyPr/>
          <a:lstStyle>
            <a:lvl1pPr algn="r">
              <a:lnSpc>
                <a:spcPct val="80000"/>
              </a:lnSpc>
              <a:spcAft>
                <a:spcPts val="600"/>
              </a:spcAft>
              <a:defRPr sz="2000" b="1">
                <a:solidFill>
                  <a:schemeClr val="bg1"/>
                </a:solidFill>
                <a:latin typeface="+mn-lt"/>
              </a:defRPr>
            </a:lvl1pPr>
            <a:lvl2pPr algn="r">
              <a:lnSpc>
                <a:spcPct val="80000"/>
              </a:lnSpc>
              <a:spcAft>
                <a:spcPts val="600"/>
              </a:spcAft>
              <a:defRPr sz="3600">
                <a:solidFill>
                  <a:schemeClr val="bg1"/>
                </a:solidFill>
                <a:latin typeface="+mn-lt"/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Subtitle</a:t>
            </a:r>
          </a:p>
          <a:p>
            <a:pPr lvl="1"/>
            <a:r>
              <a:rPr lang="en-GB"/>
              <a:t>Title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4E78176-255C-8F44-53B8-45C26220EC22}"/>
              </a:ext>
            </a:extLst>
          </p:cNvPr>
          <p:cNvGrpSpPr/>
          <p:nvPr userDrawn="1"/>
        </p:nvGrpSpPr>
        <p:grpSpPr>
          <a:xfrm>
            <a:off x="11234130" y="5954751"/>
            <a:ext cx="642565" cy="642565"/>
            <a:chOff x="11656530" y="6299513"/>
            <a:chExt cx="433867" cy="433867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368FBD7-20E2-465E-4AC5-5D05243C3539}"/>
                </a:ext>
              </a:extLst>
            </p:cNvPr>
            <p:cNvSpPr/>
            <p:nvPr/>
          </p:nvSpPr>
          <p:spPr>
            <a:xfrm>
              <a:off x="11656530" y="6299513"/>
              <a:ext cx="433867" cy="433867"/>
            </a:xfrm>
            <a:custGeom>
              <a:avLst/>
              <a:gdLst>
                <a:gd name="connsiteX0" fmla="*/ 433868 w 433867"/>
                <a:gd name="connsiteY0" fmla="*/ 216934 h 433867"/>
                <a:gd name="connsiteX1" fmla="*/ 216934 w 433867"/>
                <a:gd name="connsiteY1" fmla="*/ 433868 h 433867"/>
                <a:gd name="connsiteX2" fmla="*/ 0 w 433867"/>
                <a:gd name="connsiteY2" fmla="*/ 216934 h 433867"/>
                <a:gd name="connsiteX3" fmla="*/ 216934 w 433867"/>
                <a:gd name="connsiteY3" fmla="*/ 0 h 433867"/>
                <a:gd name="connsiteX4" fmla="*/ 433868 w 433867"/>
                <a:gd name="connsiteY4" fmla="*/ 216934 h 433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867" h="433867">
                  <a:moveTo>
                    <a:pt x="433868" y="216934"/>
                  </a:moveTo>
                  <a:cubicBezTo>
                    <a:pt x="433868" y="336743"/>
                    <a:pt x="336743" y="433868"/>
                    <a:pt x="216934" y="433868"/>
                  </a:cubicBezTo>
                  <a:cubicBezTo>
                    <a:pt x="97125" y="433868"/>
                    <a:pt x="0" y="336743"/>
                    <a:pt x="0" y="216934"/>
                  </a:cubicBezTo>
                  <a:cubicBezTo>
                    <a:pt x="0" y="97125"/>
                    <a:pt x="97125" y="0"/>
                    <a:pt x="216934" y="0"/>
                  </a:cubicBezTo>
                  <a:cubicBezTo>
                    <a:pt x="336743" y="0"/>
                    <a:pt x="433868" y="97125"/>
                    <a:pt x="433868" y="216934"/>
                  </a:cubicBezTo>
                  <a:close/>
                </a:path>
              </a:pathLst>
            </a:custGeom>
            <a:solidFill>
              <a:schemeClr val="bg1"/>
            </a:solidFill>
            <a:ln w="11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+mn-lt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CF8DBE24-1BEA-6706-9B97-AD29299B105B}"/>
                </a:ext>
              </a:extLst>
            </p:cNvPr>
            <p:cNvSpPr/>
            <p:nvPr/>
          </p:nvSpPr>
          <p:spPr>
            <a:xfrm>
              <a:off x="11714548" y="6453441"/>
              <a:ext cx="318365" cy="127333"/>
            </a:xfrm>
            <a:custGeom>
              <a:avLst/>
              <a:gdLst>
                <a:gd name="connsiteX0" fmla="*/ 63648 w 318365"/>
                <a:gd name="connsiteY0" fmla="*/ 17774 h 127333"/>
                <a:gd name="connsiteX1" fmla="*/ 39941 w 318365"/>
                <a:gd name="connsiteY1" fmla="*/ 23707 h 127333"/>
                <a:gd name="connsiteX2" fmla="*/ 23829 w 318365"/>
                <a:gd name="connsiteY2" fmla="*/ 40074 h 127333"/>
                <a:gd name="connsiteX3" fmla="*/ 18029 w 318365"/>
                <a:gd name="connsiteY3" fmla="*/ 63660 h 127333"/>
                <a:gd name="connsiteX4" fmla="*/ 18041 w 318365"/>
                <a:gd name="connsiteY4" fmla="*/ 63660 h 127333"/>
                <a:gd name="connsiteX5" fmla="*/ 23841 w 318365"/>
                <a:gd name="connsiteY5" fmla="*/ 87756 h 127333"/>
                <a:gd name="connsiteX6" fmla="*/ 26437 w 318365"/>
                <a:gd name="connsiteY6" fmla="*/ 91845 h 127333"/>
                <a:gd name="connsiteX7" fmla="*/ 90814 w 318365"/>
                <a:gd name="connsiteY7" fmla="*/ 27238 h 127333"/>
                <a:gd name="connsiteX8" fmla="*/ 83498 w 318365"/>
                <a:gd name="connsiteY8" fmla="*/ 22154 h 127333"/>
                <a:gd name="connsiteX9" fmla="*/ 63648 w 318365"/>
                <a:gd name="connsiteY9" fmla="*/ 17774 h 127333"/>
                <a:gd name="connsiteX10" fmla="*/ 63394 w 318365"/>
                <a:gd name="connsiteY10" fmla="*/ 1031 h 127333"/>
                <a:gd name="connsiteX11" fmla="*/ 92136 w 318365"/>
                <a:gd name="connsiteY11" fmla="*/ 7862 h 127333"/>
                <a:gd name="connsiteX12" fmla="*/ 92124 w 318365"/>
                <a:gd name="connsiteY12" fmla="*/ 7862 h 127333"/>
                <a:gd name="connsiteX13" fmla="*/ 112616 w 318365"/>
                <a:gd name="connsiteY13" fmla="*/ 27068 h 127333"/>
                <a:gd name="connsiteX14" fmla="*/ 37369 w 318365"/>
                <a:gd name="connsiteY14" fmla="*/ 102570 h 127333"/>
                <a:gd name="connsiteX15" fmla="*/ 40062 w 318365"/>
                <a:gd name="connsiteY15" fmla="*/ 104269 h 127333"/>
                <a:gd name="connsiteX16" fmla="*/ 63903 w 318365"/>
                <a:gd name="connsiteY16" fmla="*/ 110323 h 127333"/>
                <a:gd name="connsiteX17" fmla="*/ 84529 w 318365"/>
                <a:gd name="connsiteY17" fmla="*/ 106586 h 127333"/>
                <a:gd name="connsiteX18" fmla="*/ 99998 w 318365"/>
                <a:gd name="connsiteY18" fmla="*/ 95885 h 127333"/>
                <a:gd name="connsiteX19" fmla="*/ 111852 w 318365"/>
                <a:gd name="connsiteY19" fmla="*/ 107739 h 127333"/>
                <a:gd name="connsiteX20" fmla="*/ 90850 w 318365"/>
                <a:gd name="connsiteY20" fmla="*/ 122298 h 127333"/>
                <a:gd name="connsiteX21" fmla="*/ 63915 w 318365"/>
                <a:gd name="connsiteY21" fmla="*/ 127321 h 127333"/>
                <a:gd name="connsiteX22" fmla="*/ 31181 w 318365"/>
                <a:gd name="connsiteY22" fmla="*/ 118816 h 127333"/>
                <a:gd name="connsiteX23" fmla="*/ 8372 w 318365"/>
                <a:gd name="connsiteY23" fmla="*/ 95873 h 127333"/>
                <a:gd name="connsiteX24" fmla="*/ 0 w 318365"/>
                <a:gd name="connsiteY24" fmla="*/ 63660 h 127333"/>
                <a:gd name="connsiteX25" fmla="*/ 8372 w 318365"/>
                <a:gd name="connsiteY25" fmla="*/ 31957 h 127333"/>
                <a:gd name="connsiteX26" fmla="*/ 31048 w 318365"/>
                <a:gd name="connsiteY26" fmla="*/ 9403 h 127333"/>
                <a:gd name="connsiteX27" fmla="*/ 63394 w 318365"/>
                <a:gd name="connsiteY27" fmla="*/ 1031 h 127333"/>
                <a:gd name="connsiteX28" fmla="*/ 179966 w 318365"/>
                <a:gd name="connsiteY28" fmla="*/ 0 h 127333"/>
                <a:gd name="connsiteX29" fmla="*/ 208187 w 318365"/>
                <a:gd name="connsiteY29" fmla="*/ 7219 h 127333"/>
                <a:gd name="connsiteX30" fmla="*/ 221193 w 318365"/>
                <a:gd name="connsiteY30" fmla="*/ 19024 h 127333"/>
                <a:gd name="connsiteX31" fmla="*/ 234090 w 318365"/>
                <a:gd name="connsiteY31" fmla="*/ 7219 h 127333"/>
                <a:gd name="connsiteX32" fmla="*/ 262445 w 318365"/>
                <a:gd name="connsiteY32" fmla="*/ 0 h 127333"/>
                <a:gd name="connsiteX33" fmla="*/ 291952 w 318365"/>
                <a:gd name="connsiteY33" fmla="*/ 7086 h 127333"/>
                <a:gd name="connsiteX34" fmla="*/ 311413 w 318365"/>
                <a:gd name="connsiteY34" fmla="*/ 26546 h 127333"/>
                <a:gd name="connsiteX35" fmla="*/ 311400 w 318365"/>
                <a:gd name="connsiteY35" fmla="*/ 26559 h 127333"/>
                <a:gd name="connsiteX36" fmla="*/ 318365 w 318365"/>
                <a:gd name="connsiteY36" fmla="*/ 55168 h 127333"/>
                <a:gd name="connsiteX37" fmla="*/ 318365 w 318365"/>
                <a:gd name="connsiteY37" fmla="*/ 127333 h 127333"/>
                <a:gd name="connsiteX38" fmla="*/ 284344 w 318365"/>
                <a:gd name="connsiteY38" fmla="*/ 127333 h 127333"/>
                <a:gd name="connsiteX39" fmla="*/ 284344 w 318365"/>
                <a:gd name="connsiteY39" fmla="*/ 57740 h 127333"/>
                <a:gd name="connsiteX40" fmla="*/ 278411 w 318365"/>
                <a:gd name="connsiteY40" fmla="*/ 38145 h 127333"/>
                <a:gd name="connsiteX41" fmla="*/ 261147 w 318365"/>
                <a:gd name="connsiteY41" fmla="*/ 31181 h 127333"/>
                <a:gd name="connsiteX42" fmla="*/ 244136 w 318365"/>
                <a:gd name="connsiteY42" fmla="*/ 38012 h 127333"/>
                <a:gd name="connsiteX43" fmla="*/ 238203 w 318365"/>
                <a:gd name="connsiteY43" fmla="*/ 57728 h 127333"/>
                <a:gd name="connsiteX44" fmla="*/ 238203 w 318365"/>
                <a:gd name="connsiteY44" fmla="*/ 127321 h 127333"/>
                <a:gd name="connsiteX45" fmla="*/ 204183 w 318365"/>
                <a:gd name="connsiteY45" fmla="*/ 127321 h 127333"/>
                <a:gd name="connsiteX46" fmla="*/ 204183 w 318365"/>
                <a:gd name="connsiteY46" fmla="*/ 57728 h 127333"/>
                <a:gd name="connsiteX47" fmla="*/ 198250 w 318365"/>
                <a:gd name="connsiteY47" fmla="*/ 38012 h 127333"/>
                <a:gd name="connsiteX48" fmla="*/ 180985 w 318365"/>
                <a:gd name="connsiteY48" fmla="*/ 31181 h 127333"/>
                <a:gd name="connsiteX49" fmla="*/ 163842 w 318365"/>
                <a:gd name="connsiteY49" fmla="*/ 38012 h 127333"/>
                <a:gd name="connsiteX50" fmla="*/ 157787 w 318365"/>
                <a:gd name="connsiteY50" fmla="*/ 57728 h 127333"/>
                <a:gd name="connsiteX51" fmla="*/ 157787 w 318365"/>
                <a:gd name="connsiteY51" fmla="*/ 127321 h 127333"/>
                <a:gd name="connsiteX52" fmla="*/ 124022 w 318365"/>
                <a:gd name="connsiteY52" fmla="*/ 127321 h 127333"/>
                <a:gd name="connsiteX53" fmla="*/ 124022 w 318365"/>
                <a:gd name="connsiteY53" fmla="*/ 55156 h 127333"/>
                <a:gd name="connsiteX54" fmla="*/ 130986 w 318365"/>
                <a:gd name="connsiteY54" fmla="*/ 26546 h 127333"/>
                <a:gd name="connsiteX55" fmla="*/ 150581 w 318365"/>
                <a:gd name="connsiteY55" fmla="*/ 7086 h 127333"/>
                <a:gd name="connsiteX56" fmla="*/ 179966 w 318365"/>
                <a:gd name="connsiteY56" fmla="*/ 0 h 127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318365" h="127333">
                  <a:moveTo>
                    <a:pt x="63648" y="17774"/>
                  </a:moveTo>
                  <a:cubicBezTo>
                    <a:pt x="54719" y="17774"/>
                    <a:pt x="46808" y="19752"/>
                    <a:pt x="39941" y="23707"/>
                  </a:cubicBezTo>
                  <a:cubicBezTo>
                    <a:pt x="33062" y="27662"/>
                    <a:pt x="27699" y="33110"/>
                    <a:pt x="23829" y="40074"/>
                  </a:cubicBezTo>
                  <a:cubicBezTo>
                    <a:pt x="19958" y="47038"/>
                    <a:pt x="18029" y="54900"/>
                    <a:pt x="18029" y="63660"/>
                  </a:cubicBezTo>
                  <a:lnTo>
                    <a:pt x="18041" y="63660"/>
                  </a:lnTo>
                  <a:cubicBezTo>
                    <a:pt x="18041" y="72772"/>
                    <a:pt x="19971" y="80792"/>
                    <a:pt x="23841" y="87756"/>
                  </a:cubicBezTo>
                  <a:cubicBezTo>
                    <a:pt x="24630" y="89188"/>
                    <a:pt x="25515" y="90534"/>
                    <a:pt x="26437" y="91845"/>
                  </a:cubicBezTo>
                  <a:lnTo>
                    <a:pt x="90814" y="27238"/>
                  </a:lnTo>
                  <a:cubicBezTo>
                    <a:pt x="88618" y="25272"/>
                    <a:pt x="86179" y="23586"/>
                    <a:pt x="83498" y="22154"/>
                  </a:cubicBezTo>
                  <a:cubicBezTo>
                    <a:pt x="77989" y="19242"/>
                    <a:pt x="71377" y="17774"/>
                    <a:pt x="63648" y="17774"/>
                  </a:cubicBezTo>
                  <a:close/>
                  <a:moveTo>
                    <a:pt x="63394" y="1031"/>
                  </a:moveTo>
                  <a:cubicBezTo>
                    <a:pt x="74228" y="1031"/>
                    <a:pt x="83801" y="3312"/>
                    <a:pt x="92136" y="7862"/>
                  </a:cubicBezTo>
                  <a:lnTo>
                    <a:pt x="92124" y="7862"/>
                  </a:lnTo>
                  <a:cubicBezTo>
                    <a:pt x="100459" y="12424"/>
                    <a:pt x="107290" y="18818"/>
                    <a:pt x="112616" y="27068"/>
                  </a:cubicBezTo>
                  <a:lnTo>
                    <a:pt x="37369" y="102570"/>
                  </a:lnTo>
                  <a:cubicBezTo>
                    <a:pt x="38242" y="103165"/>
                    <a:pt x="39140" y="103735"/>
                    <a:pt x="40062" y="104269"/>
                  </a:cubicBezTo>
                  <a:cubicBezTo>
                    <a:pt x="47014" y="108309"/>
                    <a:pt x="54961" y="110323"/>
                    <a:pt x="63903" y="110323"/>
                  </a:cubicBezTo>
                  <a:cubicBezTo>
                    <a:pt x="71814" y="110323"/>
                    <a:pt x="78681" y="109073"/>
                    <a:pt x="84529" y="106586"/>
                  </a:cubicBezTo>
                  <a:cubicBezTo>
                    <a:pt x="90377" y="104087"/>
                    <a:pt x="95533" y="100520"/>
                    <a:pt x="99998" y="95885"/>
                  </a:cubicBezTo>
                  <a:lnTo>
                    <a:pt x="111852" y="107739"/>
                  </a:lnTo>
                  <a:cubicBezTo>
                    <a:pt x="105834" y="114096"/>
                    <a:pt x="98846" y="118949"/>
                    <a:pt x="90850" y="122298"/>
                  </a:cubicBezTo>
                  <a:cubicBezTo>
                    <a:pt x="82855" y="125647"/>
                    <a:pt x="73876" y="127321"/>
                    <a:pt x="63915" y="127321"/>
                  </a:cubicBezTo>
                  <a:cubicBezTo>
                    <a:pt x="51710" y="127321"/>
                    <a:pt x="40802" y="124482"/>
                    <a:pt x="31181" y="118816"/>
                  </a:cubicBezTo>
                  <a:cubicBezTo>
                    <a:pt x="21560" y="113138"/>
                    <a:pt x="13953" y="105494"/>
                    <a:pt x="8372" y="95873"/>
                  </a:cubicBezTo>
                  <a:cubicBezTo>
                    <a:pt x="2791" y="86264"/>
                    <a:pt x="0" y="75344"/>
                    <a:pt x="0" y="63660"/>
                  </a:cubicBezTo>
                  <a:cubicBezTo>
                    <a:pt x="0" y="51976"/>
                    <a:pt x="2791" y="41409"/>
                    <a:pt x="8372" y="31957"/>
                  </a:cubicBezTo>
                  <a:cubicBezTo>
                    <a:pt x="13953" y="22506"/>
                    <a:pt x="21511" y="14984"/>
                    <a:pt x="31048" y="9403"/>
                  </a:cubicBezTo>
                  <a:cubicBezTo>
                    <a:pt x="40584" y="3822"/>
                    <a:pt x="51370" y="1031"/>
                    <a:pt x="63394" y="1031"/>
                  </a:cubicBezTo>
                  <a:close/>
                  <a:moveTo>
                    <a:pt x="179966" y="0"/>
                  </a:moveTo>
                  <a:cubicBezTo>
                    <a:pt x="190789" y="0"/>
                    <a:pt x="200192" y="2414"/>
                    <a:pt x="208187" y="7219"/>
                  </a:cubicBezTo>
                  <a:cubicBezTo>
                    <a:pt x="213271" y="10276"/>
                    <a:pt x="217602" y="14220"/>
                    <a:pt x="221193" y="19024"/>
                  </a:cubicBezTo>
                  <a:cubicBezTo>
                    <a:pt x="224760" y="14220"/>
                    <a:pt x="229055" y="10289"/>
                    <a:pt x="234090" y="7219"/>
                  </a:cubicBezTo>
                  <a:cubicBezTo>
                    <a:pt x="241989" y="2414"/>
                    <a:pt x="251113" y="0"/>
                    <a:pt x="262445" y="0"/>
                  </a:cubicBezTo>
                  <a:cubicBezTo>
                    <a:pt x="273777" y="0"/>
                    <a:pt x="283616" y="2366"/>
                    <a:pt x="291952" y="7086"/>
                  </a:cubicBezTo>
                  <a:cubicBezTo>
                    <a:pt x="300287" y="11817"/>
                    <a:pt x="306778" y="18296"/>
                    <a:pt x="311413" y="26546"/>
                  </a:cubicBezTo>
                  <a:lnTo>
                    <a:pt x="311400" y="26559"/>
                  </a:lnTo>
                  <a:cubicBezTo>
                    <a:pt x="316047" y="34809"/>
                    <a:pt x="318365" y="44345"/>
                    <a:pt x="318365" y="55168"/>
                  </a:cubicBezTo>
                  <a:lnTo>
                    <a:pt x="318365" y="127333"/>
                  </a:lnTo>
                  <a:lnTo>
                    <a:pt x="284344" y="127333"/>
                  </a:lnTo>
                  <a:lnTo>
                    <a:pt x="284344" y="57740"/>
                  </a:lnTo>
                  <a:cubicBezTo>
                    <a:pt x="284344" y="49320"/>
                    <a:pt x="282367" y="42780"/>
                    <a:pt x="278411" y="38145"/>
                  </a:cubicBezTo>
                  <a:cubicBezTo>
                    <a:pt x="274456" y="33499"/>
                    <a:pt x="268535" y="31181"/>
                    <a:pt x="261147" y="31181"/>
                  </a:cubicBezTo>
                  <a:cubicBezTo>
                    <a:pt x="253758" y="31181"/>
                    <a:pt x="248092" y="33462"/>
                    <a:pt x="244136" y="38012"/>
                  </a:cubicBezTo>
                  <a:cubicBezTo>
                    <a:pt x="240181" y="42562"/>
                    <a:pt x="238203" y="49138"/>
                    <a:pt x="238203" y="57728"/>
                  </a:cubicBezTo>
                  <a:lnTo>
                    <a:pt x="238203" y="127321"/>
                  </a:lnTo>
                  <a:lnTo>
                    <a:pt x="204183" y="127321"/>
                  </a:lnTo>
                  <a:lnTo>
                    <a:pt x="204183" y="57728"/>
                  </a:lnTo>
                  <a:cubicBezTo>
                    <a:pt x="204183" y="49138"/>
                    <a:pt x="202206" y="42562"/>
                    <a:pt x="198250" y="38012"/>
                  </a:cubicBezTo>
                  <a:cubicBezTo>
                    <a:pt x="194295" y="33462"/>
                    <a:pt x="188374" y="31181"/>
                    <a:pt x="180985" y="31181"/>
                  </a:cubicBezTo>
                  <a:cubicBezTo>
                    <a:pt x="173596" y="31181"/>
                    <a:pt x="167882" y="33462"/>
                    <a:pt x="163842" y="38012"/>
                  </a:cubicBezTo>
                  <a:cubicBezTo>
                    <a:pt x="159802" y="42562"/>
                    <a:pt x="157787" y="49138"/>
                    <a:pt x="157787" y="57728"/>
                  </a:cubicBezTo>
                  <a:lnTo>
                    <a:pt x="157787" y="127321"/>
                  </a:lnTo>
                  <a:lnTo>
                    <a:pt x="124022" y="127321"/>
                  </a:lnTo>
                  <a:lnTo>
                    <a:pt x="124022" y="55156"/>
                  </a:lnTo>
                  <a:cubicBezTo>
                    <a:pt x="124022" y="44333"/>
                    <a:pt x="126352" y="34797"/>
                    <a:pt x="130986" y="26546"/>
                  </a:cubicBezTo>
                  <a:cubicBezTo>
                    <a:pt x="135633" y="18296"/>
                    <a:pt x="142161" y="11817"/>
                    <a:pt x="150581" y="7086"/>
                  </a:cubicBezTo>
                  <a:cubicBezTo>
                    <a:pt x="159001" y="2366"/>
                    <a:pt x="169144" y="0"/>
                    <a:pt x="179966" y="0"/>
                  </a:cubicBezTo>
                  <a:close/>
                </a:path>
              </a:pathLst>
            </a:custGeom>
            <a:solidFill>
              <a:schemeClr val="tx2"/>
            </a:solidFill>
            <a:ln w="11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+mn-lt"/>
              </a:endParaRPr>
            </a:p>
          </p:txBody>
        </p:sp>
      </p:grp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6A846FCB-399B-21A4-32EC-0FE3577ECA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80869" y="3640870"/>
            <a:ext cx="5535806" cy="2528155"/>
          </a:xfrm>
        </p:spPr>
        <p:txBody>
          <a:bodyPr/>
          <a:lstStyle>
            <a:lvl1pPr algn="l">
              <a:lnSpc>
                <a:spcPct val="80000"/>
              </a:lnSpc>
              <a:spcAft>
                <a:spcPts val="600"/>
              </a:spcAft>
              <a:defRPr sz="5400" b="0">
                <a:solidFill>
                  <a:schemeClr val="bg1"/>
                </a:solidFill>
                <a:latin typeface="+mn-lt"/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3600" b="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Presentation title goes here</a:t>
            </a: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F5F3F589-F9C1-DEA1-DC92-7F395BA1E7D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0797" y="2743200"/>
            <a:ext cx="18000" cy="4114800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80" name="Text Placeholder 79">
            <a:extLst>
              <a:ext uri="{FF2B5EF4-FFF2-40B4-BE49-F238E27FC236}">
                <a16:creationId xmlns:a16="http://schemas.microsoft.com/office/drawing/2014/main" id="{2BC64E91-1E7C-6E50-6A53-9E1D37F8D0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30" y="2741679"/>
            <a:ext cx="4839107" cy="433131"/>
          </a:xfrm>
          <a:custGeom>
            <a:avLst/>
            <a:gdLst>
              <a:gd name="connsiteX0" fmla="*/ 4185441 w 4839107"/>
              <a:gd name="connsiteY0" fmla="*/ 207954 h 433131"/>
              <a:gd name="connsiteX1" fmla="*/ 4146472 w 4839107"/>
              <a:gd name="connsiteY1" fmla="*/ 217681 h 433131"/>
              <a:gd name="connsiteX2" fmla="*/ 4119682 w 4839107"/>
              <a:gd name="connsiteY2" fmla="*/ 244499 h 433131"/>
              <a:gd name="connsiteX3" fmla="*/ 4109940 w 4839107"/>
              <a:gd name="connsiteY3" fmla="*/ 284065 h 433131"/>
              <a:gd name="connsiteX4" fmla="*/ 4119682 w 4839107"/>
              <a:gd name="connsiteY4" fmla="*/ 323894 h 433131"/>
              <a:gd name="connsiteX5" fmla="*/ 4146472 w 4839107"/>
              <a:gd name="connsiteY5" fmla="*/ 351104 h 433131"/>
              <a:gd name="connsiteX6" fmla="*/ 4185441 w 4839107"/>
              <a:gd name="connsiteY6" fmla="*/ 360832 h 433131"/>
              <a:gd name="connsiteX7" fmla="*/ 4225222 w 4839107"/>
              <a:gd name="connsiteY7" fmla="*/ 351104 h 433131"/>
              <a:gd name="connsiteX8" fmla="*/ 4252012 w 4839107"/>
              <a:gd name="connsiteY8" fmla="*/ 323894 h 433131"/>
              <a:gd name="connsiteX9" fmla="*/ 4261483 w 4839107"/>
              <a:gd name="connsiteY9" fmla="*/ 284065 h 433131"/>
              <a:gd name="connsiteX10" fmla="*/ 4251742 w 4839107"/>
              <a:gd name="connsiteY10" fmla="*/ 244499 h 433131"/>
              <a:gd name="connsiteX11" fmla="*/ 4224950 w 4839107"/>
              <a:gd name="connsiteY11" fmla="*/ 217681 h 433131"/>
              <a:gd name="connsiteX12" fmla="*/ 4185441 w 4839107"/>
              <a:gd name="connsiteY12" fmla="*/ 207954 h 433131"/>
              <a:gd name="connsiteX13" fmla="*/ 3547741 w 4839107"/>
              <a:gd name="connsiteY13" fmla="*/ 207298 h 433131"/>
              <a:gd name="connsiteX14" fmla="*/ 3509178 w 4839107"/>
              <a:gd name="connsiteY14" fmla="*/ 217025 h 433131"/>
              <a:gd name="connsiteX15" fmla="*/ 3483064 w 4839107"/>
              <a:gd name="connsiteY15" fmla="*/ 244237 h 433131"/>
              <a:gd name="connsiteX16" fmla="*/ 3473593 w 4839107"/>
              <a:gd name="connsiteY16" fmla="*/ 284066 h 433131"/>
              <a:gd name="connsiteX17" fmla="*/ 3483064 w 4839107"/>
              <a:gd name="connsiteY17" fmla="*/ 324553 h 433131"/>
              <a:gd name="connsiteX18" fmla="*/ 3509178 w 4839107"/>
              <a:gd name="connsiteY18" fmla="*/ 351763 h 433131"/>
              <a:gd name="connsiteX19" fmla="*/ 3547741 w 4839107"/>
              <a:gd name="connsiteY19" fmla="*/ 361491 h 433131"/>
              <a:gd name="connsiteX20" fmla="*/ 3601863 w 4839107"/>
              <a:gd name="connsiteY20" fmla="*/ 339932 h 433131"/>
              <a:gd name="connsiteX21" fmla="*/ 3622565 w 4839107"/>
              <a:gd name="connsiteY21" fmla="*/ 284066 h 433131"/>
              <a:gd name="connsiteX22" fmla="*/ 3613094 w 4839107"/>
              <a:gd name="connsiteY22" fmla="*/ 244237 h 433131"/>
              <a:gd name="connsiteX23" fmla="*/ 3586980 w 4839107"/>
              <a:gd name="connsiteY23" fmla="*/ 217025 h 433131"/>
              <a:gd name="connsiteX24" fmla="*/ 3547741 w 4839107"/>
              <a:gd name="connsiteY24" fmla="*/ 207298 h 433131"/>
              <a:gd name="connsiteX25" fmla="*/ 3052248 w 4839107"/>
              <a:gd name="connsiteY25" fmla="*/ 207298 h 433131"/>
              <a:gd name="connsiteX26" fmla="*/ 3013009 w 4839107"/>
              <a:gd name="connsiteY26" fmla="*/ 217289 h 433131"/>
              <a:gd name="connsiteX27" fmla="*/ 2986895 w 4839107"/>
              <a:gd name="connsiteY27" fmla="*/ 244499 h 433131"/>
              <a:gd name="connsiteX28" fmla="*/ 2977424 w 4839107"/>
              <a:gd name="connsiteY28" fmla="*/ 284066 h 433131"/>
              <a:gd name="connsiteX29" fmla="*/ 2986895 w 4839107"/>
              <a:gd name="connsiteY29" fmla="*/ 324553 h 433131"/>
              <a:gd name="connsiteX30" fmla="*/ 3013280 w 4839107"/>
              <a:gd name="connsiteY30" fmla="*/ 351763 h 433131"/>
              <a:gd name="connsiteX31" fmla="*/ 3051572 w 4839107"/>
              <a:gd name="connsiteY31" fmla="*/ 361491 h 433131"/>
              <a:gd name="connsiteX32" fmla="*/ 3090811 w 4839107"/>
              <a:gd name="connsiteY32" fmla="*/ 351763 h 433131"/>
              <a:gd name="connsiteX33" fmla="*/ 3116925 w 4839107"/>
              <a:gd name="connsiteY33" fmla="*/ 324553 h 433131"/>
              <a:gd name="connsiteX34" fmla="*/ 3126396 w 4839107"/>
              <a:gd name="connsiteY34" fmla="*/ 284066 h 433131"/>
              <a:gd name="connsiteX35" fmla="*/ 3116925 w 4839107"/>
              <a:gd name="connsiteY35" fmla="*/ 244237 h 433131"/>
              <a:gd name="connsiteX36" fmla="*/ 3090811 w 4839107"/>
              <a:gd name="connsiteY36" fmla="*/ 217025 h 433131"/>
              <a:gd name="connsiteX37" fmla="*/ 3052248 w 4839107"/>
              <a:gd name="connsiteY37" fmla="*/ 207298 h 433131"/>
              <a:gd name="connsiteX38" fmla="*/ 2712899 w 4839107"/>
              <a:gd name="connsiteY38" fmla="*/ 199541 h 433131"/>
              <a:gd name="connsiteX39" fmla="*/ 2671496 w 4839107"/>
              <a:gd name="connsiteY39" fmla="*/ 209926 h 433131"/>
              <a:gd name="connsiteX40" fmla="*/ 2644434 w 4839107"/>
              <a:gd name="connsiteY40" fmla="*/ 238846 h 433131"/>
              <a:gd name="connsiteX41" fmla="*/ 2638886 w 4839107"/>
              <a:gd name="connsiteY41" fmla="*/ 253830 h 433131"/>
              <a:gd name="connsiteX42" fmla="*/ 2780822 w 4839107"/>
              <a:gd name="connsiteY42" fmla="*/ 253436 h 433131"/>
              <a:gd name="connsiteX43" fmla="*/ 2774599 w 4839107"/>
              <a:gd name="connsiteY43" fmla="*/ 235033 h 433131"/>
              <a:gd name="connsiteX44" fmla="*/ 2750920 w 4839107"/>
              <a:gd name="connsiteY44" fmla="*/ 208744 h 433131"/>
              <a:gd name="connsiteX45" fmla="*/ 2712899 w 4839107"/>
              <a:gd name="connsiteY45" fmla="*/ 199541 h 433131"/>
              <a:gd name="connsiteX46" fmla="*/ 1907284 w 4839107"/>
              <a:gd name="connsiteY46" fmla="*/ 182060 h 433131"/>
              <a:gd name="connsiteX47" fmla="*/ 1851403 w 4839107"/>
              <a:gd name="connsiteY47" fmla="*/ 195599 h 433131"/>
              <a:gd name="connsiteX48" fmla="*/ 1813381 w 4839107"/>
              <a:gd name="connsiteY48" fmla="*/ 233063 h 433131"/>
              <a:gd name="connsiteX49" fmla="*/ 1799715 w 4839107"/>
              <a:gd name="connsiteY49" fmla="*/ 287089 h 433131"/>
              <a:gd name="connsiteX50" fmla="*/ 1799580 w 4839107"/>
              <a:gd name="connsiteY50" fmla="*/ 287220 h 433131"/>
              <a:gd name="connsiteX51" fmla="*/ 1813245 w 4839107"/>
              <a:gd name="connsiteY51" fmla="*/ 342430 h 433131"/>
              <a:gd name="connsiteX52" fmla="*/ 1819469 w 4839107"/>
              <a:gd name="connsiteY52" fmla="*/ 351763 h 433131"/>
              <a:gd name="connsiteX53" fmla="*/ 1971284 w 4839107"/>
              <a:gd name="connsiteY53" fmla="*/ 203750 h 433131"/>
              <a:gd name="connsiteX54" fmla="*/ 1954100 w 4839107"/>
              <a:gd name="connsiteY54" fmla="*/ 192050 h 433131"/>
              <a:gd name="connsiteX55" fmla="*/ 1907284 w 4839107"/>
              <a:gd name="connsiteY55" fmla="*/ 182060 h 433131"/>
              <a:gd name="connsiteX56" fmla="*/ 970419 w 4839107"/>
              <a:gd name="connsiteY56" fmla="*/ 181928 h 433131"/>
              <a:gd name="connsiteX57" fmla="*/ 916297 w 4839107"/>
              <a:gd name="connsiteY57" fmla="*/ 194942 h 433131"/>
              <a:gd name="connsiteX58" fmla="*/ 880171 w 4839107"/>
              <a:gd name="connsiteY58" fmla="*/ 231223 h 433131"/>
              <a:gd name="connsiteX59" fmla="*/ 868399 w 4839107"/>
              <a:gd name="connsiteY59" fmla="*/ 268161 h 433131"/>
              <a:gd name="connsiteX60" fmla="*/ 1063646 w 4839107"/>
              <a:gd name="connsiteY60" fmla="*/ 268161 h 433131"/>
              <a:gd name="connsiteX61" fmla="*/ 1053363 w 4839107"/>
              <a:gd name="connsiteY61" fmla="*/ 228331 h 433131"/>
              <a:gd name="connsiteX62" fmla="*/ 1021161 w 4839107"/>
              <a:gd name="connsiteY62" fmla="*/ 194022 h 433131"/>
              <a:gd name="connsiteX63" fmla="*/ 970419 w 4839107"/>
              <a:gd name="connsiteY63" fmla="*/ 181928 h 433131"/>
              <a:gd name="connsiteX64" fmla="*/ 145996 w 4839107"/>
              <a:gd name="connsiteY64" fmla="*/ 181928 h 433131"/>
              <a:gd name="connsiteX65" fmla="*/ 91873 w 4839107"/>
              <a:gd name="connsiteY65" fmla="*/ 194942 h 433131"/>
              <a:gd name="connsiteX66" fmla="*/ 55747 w 4839107"/>
              <a:gd name="connsiteY66" fmla="*/ 231223 h 433131"/>
              <a:gd name="connsiteX67" fmla="*/ 43975 w 4839107"/>
              <a:gd name="connsiteY67" fmla="*/ 268161 h 433131"/>
              <a:gd name="connsiteX68" fmla="*/ 239222 w 4839107"/>
              <a:gd name="connsiteY68" fmla="*/ 268161 h 433131"/>
              <a:gd name="connsiteX69" fmla="*/ 228939 w 4839107"/>
              <a:gd name="connsiteY69" fmla="*/ 228331 h 433131"/>
              <a:gd name="connsiteX70" fmla="*/ 196737 w 4839107"/>
              <a:gd name="connsiteY70" fmla="*/ 194022 h 433131"/>
              <a:gd name="connsiteX71" fmla="*/ 145996 w 4839107"/>
              <a:gd name="connsiteY71" fmla="*/ 181928 h 433131"/>
              <a:gd name="connsiteX72" fmla="*/ 1906742 w 4839107"/>
              <a:gd name="connsiteY72" fmla="*/ 143545 h 433131"/>
              <a:gd name="connsiteX73" fmla="*/ 1974531 w 4839107"/>
              <a:gd name="connsiteY73" fmla="*/ 159187 h 433131"/>
              <a:gd name="connsiteX74" fmla="*/ 1974531 w 4839107"/>
              <a:gd name="connsiteY74" fmla="*/ 158925 h 433131"/>
              <a:gd name="connsiteX75" fmla="*/ 2022836 w 4839107"/>
              <a:gd name="connsiteY75" fmla="*/ 202960 h 433131"/>
              <a:gd name="connsiteX76" fmla="*/ 1845448 w 4839107"/>
              <a:gd name="connsiteY76" fmla="*/ 375819 h 433131"/>
              <a:gd name="connsiteX77" fmla="*/ 1851673 w 4839107"/>
              <a:gd name="connsiteY77" fmla="*/ 379894 h 433131"/>
              <a:gd name="connsiteX78" fmla="*/ 1907960 w 4839107"/>
              <a:gd name="connsiteY78" fmla="*/ 393827 h 433131"/>
              <a:gd name="connsiteX79" fmla="*/ 1956670 w 4839107"/>
              <a:gd name="connsiteY79" fmla="*/ 385283 h 433131"/>
              <a:gd name="connsiteX80" fmla="*/ 1993204 w 4839107"/>
              <a:gd name="connsiteY80" fmla="*/ 360833 h 433131"/>
              <a:gd name="connsiteX81" fmla="*/ 2021212 w 4839107"/>
              <a:gd name="connsiteY81" fmla="*/ 388043 h 433131"/>
              <a:gd name="connsiteX82" fmla="*/ 1971689 w 4839107"/>
              <a:gd name="connsiteY82" fmla="*/ 421433 h 433131"/>
              <a:gd name="connsiteX83" fmla="*/ 1908095 w 4839107"/>
              <a:gd name="connsiteY83" fmla="*/ 433000 h 433131"/>
              <a:gd name="connsiteX84" fmla="*/ 1830836 w 4839107"/>
              <a:gd name="connsiteY84" fmla="*/ 413545 h 433131"/>
              <a:gd name="connsiteX85" fmla="*/ 1776984 w 4839107"/>
              <a:gd name="connsiteY85" fmla="*/ 360964 h 433131"/>
              <a:gd name="connsiteX86" fmla="*/ 1757228 w 4839107"/>
              <a:gd name="connsiteY86" fmla="*/ 287089 h 433131"/>
              <a:gd name="connsiteX87" fmla="*/ 1776984 w 4839107"/>
              <a:gd name="connsiteY87" fmla="*/ 214397 h 433131"/>
              <a:gd name="connsiteX88" fmla="*/ 1830429 w 4839107"/>
              <a:gd name="connsiteY88" fmla="*/ 162736 h 433131"/>
              <a:gd name="connsiteX89" fmla="*/ 1906742 w 4839107"/>
              <a:gd name="connsiteY89" fmla="*/ 143545 h 433131"/>
              <a:gd name="connsiteX90" fmla="*/ 1619216 w 4839107"/>
              <a:gd name="connsiteY90" fmla="*/ 143545 h 433131"/>
              <a:gd name="connsiteX91" fmla="*/ 1679427 w 4839107"/>
              <a:gd name="connsiteY91" fmla="*/ 155376 h 433131"/>
              <a:gd name="connsiteX92" fmla="*/ 1726785 w 4839107"/>
              <a:gd name="connsiteY92" fmla="*/ 188500 h 433131"/>
              <a:gd name="connsiteX93" fmla="*/ 1698777 w 4839107"/>
              <a:gd name="connsiteY93" fmla="*/ 216237 h 433131"/>
              <a:gd name="connsiteX94" fmla="*/ 1663461 w 4839107"/>
              <a:gd name="connsiteY94" fmla="*/ 191786 h 433131"/>
              <a:gd name="connsiteX95" fmla="*/ 1619081 w 4839107"/>
              <a:gd name="connsiteY95" fmla="*/ 183243 h 433131"/>
              <a:gd name="connsiteX96" fmla="*/ 1564958 w 4839107"/>
              <a:gd name="connsiteY96" fmla="*/ 196782 h 433131"/>
              <a:gd name="connsiteX97" fmla="*/ 1527884 w 4839107"/>
              <a:gd name="connsiteY97" fmla="*/ 233719 h 433131"/>
              <a:gd name="connsiteX98" fmla="*/ 1514489 w 4839107"/>
              <a:gd name="connsiteY98" fmla="*/ 287747 h 433131"/>
              <a:gd name="connsiteX99" fmla="*/ 1527884 w 4839107"/>
              <a:gd name="connsiteY99" fmla="*/ 341772 h 433131"/>
              <a:gd name="connsiteX100" fmla="*/ 1564958 w 4839107"/>
              <a:gd name="connsiteY100" fmla="*/ 379236 h 433131"/>
              <a:gd name="connsiteX101" fmla="*/ 1619081 w 4839107"/>
              <a:gd name="connsiteY101" fmla="*/ 392775 h 433131"/>
              <a:gd name="connsiteX102" fmla="*/ 1664137 w 4839107"/>
              <a:gd name="connsiteY102" fmla="*/ 384232 h 433131"/>
              <a:gd name="connsiteX103" fmla="*/ 1699453 w 4839107"/>
              <a:gd name="connsiteY103" fmla="*/ 359781 h 433131"/>
              <a:gd name="connsiteX104" fmla="*/ 1728002 w 4839107"/>
              <a:gd name="connsiteY104" fmla="*/ 387518 h 433131"/>
              <a:gd name="connsiteX105" fmla="*/ 1679697 w 4839107"/>
              <a:gd name="connsiteY105" fmla="*/ 421169 h 433131"/>
              <a:gd name="connsiteX106" fmla="*/ 1619216 w 4839107"/>
              <a:gd name="connsiteY106" fmla="*/ 433000 h 433131"/>
              <a:gd name="connsiteX107" fmla="*/ 1543579 w 4839107"/>
              <a:gd name="connsiteY107" fmla="*/ 413808 h 433131"/>
              <a:gd name="connsiteX108" fmla="*/ 1490134 w 4839107"/>
              <a:gd name="connsiteY108" fmla="*/ 361491 h 433131"/>
              <a:gd name="connsiteX109" fmla="*/ 1470378 w 4839107"/>
              <a:gd name="connsiteY109" fmla="*/ 287616 h 433131"/>
              <a:gd name="connsiteX110" fmla="*/ 1490134 w 4839107"/>
              <a:gd name="connsiteY110" fmla="*/ 214133 h 433131"/>
              <a:gd name="connsiteX111" fmla="*/ 1543579 w 4839107"/>
              <a:gd name="connsiteY111" fmla="*/ 162473 h 433131"/>
              <a:gd name="connsiteX112" fmla="*/ 1619216 w 4839107"/>
              <a:gd name="connsiteY112" fmla="*/ 143545 h 433131"/>
              <a:gd name="connsiteX113" fmla="*/ 1303002 w 4839107"/>
              <a:gd name="connsiteY113" fmla="*/ 143545 h 433131"/>
              <a:gd name="connsiteX114" fmla="*/ 1361321 w 4839107"/>
              <a:gd name="connsiteY114" fmla="*/ 158925 h 433131"/>
              <a:gd name="connsiteX115" fmla="*/ 1361456 w 4839107"/>
              <a:gd name="connsiteY115" fmla="*/ 159056 h 433131"/>
              <a:gd name="connsiteX116" fmla="*/ 1401235 w 4839107"/>
              <a:gd name="connsiteY116" fmla="*/ 200462 h 433131"/>
              <a:gd name="connsiteX117" fmla="*/ 1415578 w 4839107"/>
              <a:gd name="connsiteY117" fmla="*/ 257118 h 433131"/>
              <a:gd name="connsiteX118" fmla="*/ 1415578 w 4839107"/>
              <a:gd name="connsiteY118" fmla="*/ 427216 h 433131"/>
              <a:gd name="connsiteX119" fmla="*/ 1372416 w 4839107"/>
              <a:gd name="connsiteY119" fmla="*/ 427216 h 433131"/>
              <a:gd name="connsiteX120" fmla="*/ 1372416 w 4839107"/>
              <a:gd name="connsiteY120" fmla="*/ 264217 h 433131"/>
              <a:gd name="connsiteX121" fmla="*/ 1350225 w 4839107"/>
              <a:gd name="connsiteY121" fmla="*/ 204800 h 433131"/>
              <a:gd name="connsiteX122" fmla="*/ 1291502 w 4839107"/>
              <a:gd name="connsiteY122" fmla="*/ 182060 h 433131"/>
              <a:gd name="connsiteX123" fmla="*/ 1247663 w 4839107"/>
              <a:gd name="connsiteY123" fmla="*/ 192707 h 433131"/>
              <a:gd name="connsiteX124" fmla="*/ 1217896 w 4839107"/>
              <a:gd name="connsiteY124" fmla="*/ 221626 h 433131"/>
              <a:gd name="connsiteX125" fmla="*/ 1206936 w 4839107"/>
              <a:gd name="connsiteY125" fmla="*/ 263559 h 433131"/>
              <a:gd name="connsiteX126" fmla="*/ 1206936 w 4839107"/>
              <a:gd name="connsiteY126" fmla="*/ 427216 h 433131"/>
              <a:gd name="connsiteX127" fmla="*/ 1164449 w 4839107"/>
              <a:gd name="connsiteY127" fmla="*/ 427216 h 433131"/>
              <a:gd name="connsiteX128" fmla="*/ 1164449 w 4839107"/>
              <a:gd name="connsiteY128" fmla="*/ 149592 h 433131"/>
              <a:gd name="connsiteX129" fmla="*/ 1206936 w 4839107"/>
              <a:gd name="connsiteY129" fmla="*/ 149592 h 433131"/>
              <a:gd name="connsiteX130" fmla="*/ 1206936 w 4839107"/>
              <a:gd name="connsiteY130" fmla="*/ 190736 h 433131"/>
              <a:gd name="connsiteX131" fmla="*/ 1243739 w 4839107"/>
              <a:gd name="connsiteY131" fmla="*/ 157741 h 433131"/>
              <a:gd name="connsiteX132" fmla="*/ 1303002 w 4839107"/>
              <a:gd name="connsiteY132" fmla="*/ 143545 h 433131"/>
              <a:gd name="connsiteX133" fmla="*/ 971638 w 4839107"/>
              <a:gd name="connsiteY133" fmla="*/ 143545 h 433131"/>
              <a:gd name="connsiteX134" fmla="*/ 1040644 w 4839107"/>
              <a:gd name="connsiteY134" fmla="*/ 160633 h 433131"/>
              <a:gd name="connsiteX135" fmla="*/ 1040644 w 4839107"/>
              <a:gd name="connsiteY135" fmla="*/ 160502 h 433131"/>
              <a:gd name="connsiteX136" fmla="*/ 1088002 w 4839107"/>
              <a:gd name="connsiteY136" fmla="*/ 208088 h 433131"/>
              <a:gd name="connsiteX137" fmla="*/ 1105321 w 4839107"/>
              <a:gd name="connsiteY137" fmla="*/ 278019 h 433131"/>
              <a:gd name="connsiteX138" fmla="*/ 1104779 w 4839107"/>
              <a:gd name="connsiteY138" fmla="*/ 288929 h 433131"/>
              <a:gd name="connsiteX139" fmla="*/ 1102344 w 4839107"/>
              <a:gd name="connsiteY139" fmla="*/ 303389 h 433131"/>
              <a:gd name="connsiteX140" fmla="*/ 868264 w 4839107"/>
              <a:gd name="connsiteY140" fmla="*/ 303389 h 433131"/>
              <a:gd name="connsiteX141" fmla="*/ 880847 w 4839107"/>
              <a:gd name="connsiteY141" fmla="*/ 342430 h 433131"/>
              <a:gd name="connsiteX142" fmla="*/ 919139 w 4839107"/>
              <a:gd name="connsiteY142" fmla="*/ 380288 h 433131"/>
              <a:gd name="connsiteX143" fmla="*/ 975967 w 4839107"/>
              <a:gd name="connsiteY143" fmla="*/ 393827 h 433131"/>
              <a:gd name="connsiteX144" fmla="*/ 1024001 w 4839107"/>
              <a:gd name="connsiteY144" fmla="*/ 384626 h 433131"/>
              <a:gd name="connsiteX145" fmla="*/ 1061075 w 4839107"/>
              <a:gd name="connsiteY145" fmla="*/ 357153 h 433131"/>
              <a:gd name="connsiteX146" fmla="*/ 1088408 w 4839107"/>
              <a:gd name="connsiteY146" fmla="*/ 384363 h 433131"/>
              <a:gd name="connsiteX147" fmla="*/ 1038885 w 4839107"/>
              <a:gd name="connsiteY147" fmla="*/ 420117 h 433131"/>
              <a:gd name="connsiteX148" fmla="*/ 975291 w 4839107"/>
              <a:gd name="connsiteY148" fmla="*/ 432868 h 433131"/>
              <a:gd name="connsiteX149" fmla="*/ 898032 w 4839107"/>
              <a:gd name="connsiteY149" fmla="*/ 413939 h 433131"/>
              <a:gd name="connsiteX150" fmla="*/ 844179 w 4839107"/>
              <a:gd name="connsiteY150" fmla="*/ 362016 h 433131"/>
              <a:gd name="connsiteX151" fmla="*/ 824424 w 4839107"/>
              <a:gd name="connsiteY151" fmla="*/ 287616 h 433131"/>
              <a:gd name="connsiteX152" fmla="*/ 843908 w 4839107"/>
              <a:gd name="connsiteY152" fmla="*/ 214133 h 433131"/>
              <a:gd name="connsiteX153" fmla="*/ 896813 w 4839107"/>
              <a:gd name="connsiteY153" fmla="*/ 162473 h 433131"/>
              <a:gd name="connsiteX154" fmla="*/ 971638 w 4839107"/>
              <a:gd name="connsiteY154" fmla="*/ 143545 h 433131"/>
              <a:gd name="connsiteX155" fmla="*/ 147214 w 4839107"/>
              <a:gd name="connsiteY155" fmla="*/ 143545 h 433131"/>
              <a:gd name="connsiteX156" fmla="*/ 216220 w 4839107"/>
              <a:gd name="connsiteY156" fmla="*/ 160633 h 433131"/>
              <a:gd name="connsiteX157" fmla="*/ 216220 w 4839107"/>
              <a:gd name="connsiteY157" fmla="*/ 160502 h 433131"/>
              <a:gd name="connsiteX158" fmla="*/ 263577 w 4839107"/>
              <a:gd name="connsiteY158" fmla="*/ 208088 h 433131"/>
              <a:gd name="connsiteX159" fmla="*/ 280897 w 4839107"/>
              <a:gd name="connsiteY159" fmla="*/ 278019 h 433131"/>
              <a:gd name="connsiteX160" fmla="*/ 280355 w 4839107"/>
              <a:gd name="connsiteY160" fmla="*/ 288929 h 433131"/>
              <a:gd name="connsiteX161" fmla="*/ 277920 w 4839107"/>
              <a:gd name="connsiteY161" fmla="*/ 303389 h 433131"/>
              <a:gd name="connsiteX162" fmla="*/ 43840 w 4839107"/>
              <a:gd name="connsiteY162" fmla="*/ 303389 h 433131"/>
              <a:gd name="connsiteX163" fmla="*/ 56423 w 4839107"/>
              <a:gd name="connsiteY163" fmla="*/ 342430 h 433131"/>
              <a:gd name="connsiteX164" fmla="*/ 94715 w 4839107"/>
              <a:gd name="connsiteY164" fmla="*/ 380288 h 433131"/>
              <a:gd name="connsiteX165" fmla="*/ 151543 w 4839107"/>
              <a:gd name="connsiteY165" fmla="*/ 393827 h 433131"/>
              <a:gd name="connsiteX166" fmla="*/ 199577 w 4839107"/>
              <a:gd name="connsiteY166" fmla="*/ 384626 h 433131"/>
              <a:gd name="connsiteX167" fmla="*/ 236651 w 4839107"/>
              <a:gd name="connsiteY167" fmla="*/ 357153 h 433131"/>
              <a:gd name="connsiteX168" fmla="*/ 263984 w 4839107"/>
              <a:gd name="connsiteY168" fmla="*/ 384363 h 433131"/>
              <a:gd name="connsiteX169" fmla="*/ 214461 w 4839107"/>
              <a:gd name="connsiteY169" fmla="*/ 420117 h 433131"/>
              <a:gd name="connsiteX170" fmla="*/ 150867 w 4839107"/>
              <a:gd name="connsiteY170" fmla="*/ 432868 h 433131"/>
              <a:gd name="connsiteX171" fmla="*/ 73608 w 4839107"/>
              <a:gd name="connsiteY171" fmla="*/ 413939 h 433131"/>
              <a:gd name="connsiteX172" fmla="*/ 19755 w 4839107"/>
              <a:gd name="connsiteY172" fmla="*/ 362016 h 433131"/>
              <a:gd name="connsiteX173" fmla="*/ 0 w 4839107"/>
              <a:gd name="connsiteY173" fmla="*/ 287616 h 433131"/>
              <a:gd name="connsiteX174" fmla="*/ 19484 w 4839107"/>
              <a:gd name="connsiteY174" fmla="*/ 214133 h 433131"/>
              <a:gd name="connsiteX175" fmla="*/ 72389 w 4839107"/>
              <a:gd name="connsiteY175" fmla="*/ 162473 h 433131"/>
              <a:gd name="connsiteX176" fmla="*/ 147214 w 4839107"/>
              <a:gd name="connsiteY176" fmla="*/ 143545 h 433131"/>
              <a:gd name="connsiteX177" fmla="*/ 681810 w 4839107"/>
              <a:gd name="connsiteY177" fmla="*/ 143412 h 433131"/>
              <a:gd name="connsiteX178" fmla="*/ 740127 w 4839107"/>
              <a:gd name="connsiteY178" fmla="*/ 154586 h 433131"/>
              <a:gd name="connsiteX179" fmla="*/ 782073 w 4839107"/>
              <a:gd name="connsiteY179" fmla="*/ 187712 h 433131"/>
              <a:gd name="connsiteX180" fmla="*/ 754740 w 4839107"/>
              <a:gd name="connsiteY180" fmla="*/ 214264 h 433131"/>
              <a:gd name="connsiteX181" fmla="*/ 722808 w 4839107"/>
              <a:gd name="connsiteY181" fmla="*/ 189814 h 433131"/>
              <a:gd name="connsiteX182" fmla="*/ 679916 w 4839107"/>
              <a:gd name="connsiteY182" fmla="*/ 181271 h 433131"/>
              <a:gd name="connsiteX183" fmla="*/ 638242 w 4839107"/>
              <a:gd name="connsiteY183" fmla="*/ 191654 h 433131"/>
              <a:gd name="connsiteX184" fmla="*/ 638242 w 4839107"/>
              <a:gd name="connsiteY184" fmla="*/ 191786 h 433131"/>
              <a:gd name="connsiteX185" fmla="*/ 623899 w 4839107"/>
              <a:gd name="connsiteY185" fmla="*/ 218602 h 433131"/>
              <a:gd name="connsiteX186" fmla="*/ 635400 w 4839107"/>
              <a:gd name="connsiteY186" fmla="*/ 243709 h 433131"/>
              <a:gd name="connsiteX187" fmla="*/ 664897 w 4839107"/>
              <a:gd name="connsiteY187" fmla="*/ 258432 h 433131"/>
              <a:gd name="connsiteX188" fmla="*/ 702918 w 4839107"/>
              <a:gd name="connsiteY188" fmla="*/ 269605 h 433131"/>
              <a:gd name="connsiteX189" fmla="*/ 741210 w 4839107"/>
              <a:gd name="connsiteY189" fmla="*/ 284328 h 433131"/>
              <a:gd name="connsiteX190" fmla="*/ 770707 w 4839107"/>
              <a:gd name="connsiteY190" fmla="*/ 309173 h 433131"/>
              <a:gd name="connsiteX191" fmla="*/ 781937 w 4839107"/>
              <a:gd name="connsiteY191" fmla="*/ 351367 h 433131"/>
              <a:gd name="connsiteX192" fmla="*/ 754335 w 4839107"/>
              <a:gd name="connsiteY192" fmla="*/ 410784 h 433131"/>
              <a:gd name="connsiteX193" fmla="*/ 679240 w 4839107"/>
              <a:gd name="connsiteY193" fmla="*/ 432999 h 433131"/>
              <a:gd name="connsiteX194" fmla="*/ 634859 w 4839107"/>
              <a:gd name="connsiteY194" fmla="*/ 426821 h 433131"/>
              <a:gd name="connsiteX195" fmla="*/ 596296 w 4839107"/>
              <a:gd name="connsiteY195" fmla="*/ 409338 h 433131"/>
              <a:gd name="connsiteX196" fmla="*/ 566258 w 4839107"/>
              <a:gd name="connsiteY196" fmla="*/ 382784 h 433131"/>
              <a:gd name="connsiteX197" fmla="*/ 593591 w 4839107"/>
              <a:gd name="connsiteY197" fmla="*/ 355574 h 433131"/>
              <a:gd name="connsiteX198" fmla="*/ 632152 w 4839107"/>
              <a:gd name="connsiteY198" fmla="*/ 385413 h 433131"/>
              <a:gd name="connsiteX199" fmla="*/ 680457 w 4839107"/>
              <a:gd name="connsiteY199" fmla="*/ 395140 h 433131"/>
              <a:gd name="connsiteX200" fmla="*/ 725108 w 4839107"/>
              <a:gd name="connsiteY200" fmla="*/ 384494 h 433131"/>
              <a:gd name="connsiteX201" fmla="*/ 741210 w 4839107"/>
              <a:gd name="connsiteY201" fmla="*/ 354917 h 433131"/>
              <a:gd name="connsiteX202" fmla="*/ 729709 w 4839107"/>
              <a:gd name="connsiteY202" fmla="*/ 327180 h 433131"/>
              <a:gd name="connsiteX203" fmla="*/ 700212 w 4839107"/>
              <a:gd name="connsiteY203" fmla="*/ 311275 h 433131"/>
              <a:gd name="connsiteX204" fmla="*/ 662190 w 4839107"/>
              <a:gd name="connsiteY204" fmla="*/ 299707 h 433131"/>
              <a:gd name="connsiteX205" fmla="*/ 623899 w 4839107"/>
              <a:gd name="connsiteY205" fmla="*/ 285511 h 433131"/>
              <a:gd name="connsiteX206" fmla="*/ 594402 w 4839107"/>
              <a:gd name="connsiteY206" fmla="*/ 261587 h 433131"/>
              <a:gd name="connsiteX207" fmla="*/ 583172 w 4839107"/>
              <a:gd name="connsiteY207" fmla="*/ 221363 h 433131"/>
              <a:gd name="connsiteX208" fmla="*/ 595078 w 4839107"/>
              <a:gd name="connsiteY208" fmla="*/ 180350 h 433131"/>
              <a:gd name="connsiteX209" fmla="*/ 629176 w 4839107"/>
              <a:gd name="connsiteY209" fmla="*/ 153140 h 433131"/>
              <a:gd name="connsiteX210" fmla="*/ 681810 w 4839107"/>
              <a:gd name="connsiteY210" fmla="*/ 143412 h 433131"/>
              <a:gd name="connsiteX211" fmla="*/ 430005 w 4839107"/>
              <a:gd name="connsiteY211" fmla="*/ 143412 h 433131"/>
              <a:gd name="connsiteX212" fmla="*/ 488322 w 4839107"/>
              <a:gd name="connsiteY212" fmla="*/ 154586 h 433131"/>
              <a:gd name="connsiteX213" fmla="*/ 530267 w 4839107"/>
              <a:gd name="connsiteY213" fmla="*/ 187712 h 433131"/>
              <a:gd name="connsiteX214" fmla="*/ 502935 w 4839107"/>
              <a:gd name="connsiteY214" fmla="*/ 214264 h 433131"/>
              <a:gd name="connsiteX215" fmla="*/ 471003 w 4839107"/>
              <a:gd name="connsiteY215" fmla="*/ 189814 h 433131"/>
              <a:gd name="connsiteX216" fmla="*/ 428111 w 4839107"/>
              <a:gd name="connsiteY216" fmla="*/ 181271 h 433131"/>
              <a:gd name="connsiteX217" fmla="*/ 386437 w 4839107"/>
              <a:gd name="connsiteY217" fmla="*/ 191654 h 433131"/>
              <a:gd name="connsiteX218" fmla="*/ 386437 w 4839107"/>
              <a:gd name="connsiteY218" fmla="*/ 191786 h 433131"/>
              <a:gd name="connsiteX219" fmla="*/ 372094 w 4839107"/>
              <a:gd name="connsiteY219" fmla="*/ 218602 h 433131"/>
              <a:gd name="connsiteX220" fmla="*/ 383595 w 4839107"/>
              <a:gd name="connsiteY220" fmla="*/ 243709 h 433131"/>
              <a:gd name="connsiteX221" fmla="*/ 413092 w 4839107"/>
              <a:gd name="connsiteY221" fmla="*/ 258432 h 433131"/>
              <a:gd name="connsiteX222" fmla="*/ 451112 w 4839107"/>
              <a:gd name="connsiteY222" fmla="*/ 269605 h 433131"/>
              <a:gd name="connsiteX223" fmla="*/ 489405 w 4839107"/>
              <a:gd name="connsiteY223" fmla="*/ 284328 h 433131"/>
              <a:gd name="connsiteX224" fmla="*/ 518902 w 4839107"/>
              <a:gd name="connsiteY224" fmla="*/ 309173 h 433131"/>
              <a:gd name="connsiteX225" fmla="*/ 530132 w 4839107"/>
              <a:gd name="connsiteY225" fmla="*/ 351367 h 433131"/>
              <a:gd name="connsiteX226" fmla="*/ 502529 w 4839107"/>
              <a:gd name="connsiteY226" fmla="*/ 410784 h 433131"/>
              <a:gd name="connsiteX227" fmla="*/ 427435 w 4839107"/>
              <a:gd name="connsiteY227" fmla="*/ 432999 h 433131"/>
              <a:gd name="connsiteX228" fmla="*/ 383054 w 4839107"/>
              <a:gd name="connsiteY228" fmla="*/ 426821 h 433131"/>
              <a:gd name="connsiteX229" fmla="*/ 344491 w 4839107"/>
              <a:gd name="connsiteY229" fmla="*/ 409338 h 433131"/>
              <a:gd name="connsiteX230" fmla="*/ 314453 w 4839107"/>
              <a:gd name="connsiteY230" fmla="*/ 382784 h 433131"/>
              <a:gd name="connsiteX231" fmla="*/ 341785 w 4839107"/>
              <a:gd name="connsiteY231" fmla="*/ 355574 h 433131"/>
              <a:gd name="connsiteX232" fmla="*/ 380347 w 4839107"/>
              <a:gd name="connsiteY232" fmla="*/ 385413 h 433131"/>
              <a:gd name="connsiteX233" fmla="*/ 428651 w 4839107"/>
              <a:gd name="connsiteY233" fmla="*/ 395140 h 433131"/>
              <a:gd name="connsiteX234" fmla="*/ 473303 w 4839107"/>
              <a:gd name="connsiteY234" fmla="*/ 384494 h 433131"/>
              <a:gd name="connsiteX235" fmla="*/ 489405 w 4839107"/>
              <a:gd name="connsiteY235" fmla="*/ 354917 h 433131"/>
              <a:gd name="connsiteX236" fmla="*/ 477904 w 4839107"/>
              <a:gd name="connsiteY236" fmla="*/ 327180 h 433131"/>
              <a:gd name="connsiteX237" fmla="*/ 448407 w 4839107"/>
              <a:gd name="connsiteY237" fmla="*/ 311275 h 433131"/>
              <a:gd name="connsiteX238" fmla="*/ 410385 w 4839107"/>
              <a:gd name="connsiteY238" fmla="*/ 299707 h 433131"/>
              <a:gd name="connsiteX239" fmla="*/ 372094 w 4839107"/>
              <a:gd name="connsiteY239" fmla="*/ 285511 h 433131"/>
              <a:gd name="connsiteX240" fmla="*/ 342597 w 4839107"/>
              <a:gd name="connsiteY240" fmla="*/ 261587 h 433131"/>
              <a:gd name="connsiteX241" fmla="*/ 331366 w 4839107"/>
              <a:gd name="connsiteY241" fmla="*/ 221363 h 433131"/>
              <a:gd name="connsiteX242" fmla="*/ 343273 w 4839107"/>
              <a:gd name="connsiteY242" fmla="*/ 180350 h 433131"/>
              <a:gd name="connsiteX243" fmla="*/ 377371 w 4839107"/>
              <a:gd name="connsiteY243" fmla="*/ 153140 h 433131"/>
              <a:gd name="connsiteX244" fmla="*/ 430005 w 4839107"/>
              <a:gd name="connsiteY244" fmla="*/ 143412 h 433131"/>
              <a:gd name="connsiteX245" fmla="*/ 3265626 w 4839107"/>
              <a:gd name="connsiteY245" fmla="*/ 141704 h 433131"/>
              <a:gd name="connsiteX246" fmla="*/ 3345862 w 4839107"/>
              <a:gd name="connsiteY246" fmla="*/ 141704 h 433131"/>
              <a:gd name="connsiteX247" fmla="*/ 3345862 w 4839107"/>
              <a:gd name="connsiteY247" fmla="*/ 426953 h 433131"/>
              <a:gd name="connsiteX248" fmla="*/ 3265626 w 4839107"/>
              <a:gd name="connsiteY248" fmla="*/ 426953 h 433131"/>
              <a:gd name="connsiteX249" fmla="*/ 3533128 w 4839107"/>
              <a:gd name="connsiteY249" fmla="*/ 135921 h 433131"/>
              <a:gd name="connsiteX250" fmla="*/ 3589685 w 4839107"/>
              <a:gd name="connsiteY250" fmla="*/ 148277 h 433131"/>
              <a:gd name="connsiteX251" fmla="*/ 3618234 w 4839107"/>
              <a:gd name="connsiteY251" fmla="*/ 169178 h 433131"/>
              <a:gd name="connsiteX252" fmla="*/ 3618234 w 4839107"/>
              <a:gd name="connsiteY252" fmla="*/ 141704 h 433131"/>
              <a:gd name="connsiteX253" fmla="*/ 3697254 w 4839107"/>
              <a:gd name="connsiteY253" fmla="*/ 141704 h 433131"/>
              <a:gd name="connsiteX254" fmla="*/ 3697254 w 4839107"/>
              <a:gd name="connsiteY254" fmla="*/ 426953 h 433131"/>
              <a:gd name="connsiteX255" fmla="*/ 3618234 w 4839107"/>
              <a:gd name="connsiteY255" fmla="*/ 426953 h 433131"/>
              <a:gd name="connsiteX256" fmla="*/ 3618234 w 4839107"/>
              <a:gd name="connsiteY256" fmla="*/ 399086 h 433131"/>
              <a:gd name="connsiteX257" fmla="*/ 3589685 w 4839107"/>
              <a:gd name="connsiteY257" fmla="*/ 420117 h 433131"/>
              <a:gd name="connsiteX258" fmla="*/ 3533128 w 4839107"/>
              <a:gd name="connsiteY258" fmla="*/ 432868 h 433131"/>
              <a:gd name="connsiteX259" fmla="*/ 3460738 w 4839107"/>
              <a:gd name="connsiteY259" fmla="*/ 413414 h 433131"/>
              <a:gd name="connsiteX260" fmla="*/ 3410269 w 4839107"/>
              <a:gd name="connsiteY260" fmla="*/ 360308 h 433131"/>
              <a:gd name="connsiteX261" fmla="*/ 3392002 w 4839107"/>
              <a:gd name="connsiteY261" fmla="*/ 284724 h 433131"/>
              <a:gd name="connsiteX262" fmla="*/ 3410269 w 4839107"/>
              <a:gd name="connsiteY262" fmla="*/ 208482 h 433131"/>
              <a:gd name="connsiteX263" fmla="*/ 3460738 w 4839107"/>
              <a:gd name="connsiteY263" fmla="*/ 155376 h 433131"/>
              <a:gd name="connsiteX264" fmla="*/ 3533128 w 4839107"/>
              <a:gd name="connsiteY264" fmla="*/ 135921 h 433131"/>
              <a:gd name="connsiteX265" fmla="*/ 3900214 w 4839107"/>
              <a:gd name="connsiteY265" fmla="*/ 135394 h 433131"/>
              <a:gd name="connsiteX266" fmla="*/ 3964079 w 4839107"/>
              <a:gd name="connsiteY266" fmla="*/ 147750 h 433131"/>
              <a:gd name="connsiteX267" fmla="*/ 4014548 w 4839107"/>
              <a:gd name="connsiteY267" fmla="*/ 183242 h 433131"/>
              <a:gd name="connsiteX268" fmla="*/ 3963538 w 4839107"/>
              <a:gd name="connsiteY268" fmla="*/ 233456 h 433131"/>
              <a:gd name="connsiteX269" fmla="*/ 3935935 w 4839107"/>
              <a:gd name="connsiteY269" fmla="*/ 214528 h 433131"/>
              <a:gd name="connsiteX270" fmla="*/ 3900350 w 4839107"/>
              <a:gd name="connsiteY270" fmla="*/ 208086 h 433131"/>
              <a:gd name="connsiteX271" fmla="*/ 3861111 w 4839107"/>
              <a:gd name="connsiteY271" fmla="*/ 217814 h 433131"/>
              <a:gd name="connsiteX272" fmla="*/ 3833778 w 4839107"/>
              <a:gd name="connsiteY272" fmla="*/ 244366 h 433131"/>
              <a:gd name="connsiteX273" fmla="*/ 3823766 w 4839107"/>
              <a:gd name="connsiteY273" fmla="*/ 284197 h 433131"/>
              <a:gd name="connsiteX274" fmla="*/ 3833778 w 4839107"/>
              <a:gd name="connsiteY274" fmla="*/ 324026 h 433131"/>
              <a:gd name="connsiteX275" fmla="*/ 3861111 w 4839107"/>
              <a:gd name="connsiteY275" fmla="*/ 351236 h 433131"/>
              <a:gd name="connsiteX276" fmla="*/ 3900350 w 4839107"/>
              <a:gd name="connsiteY276" fmla="*/ 360964 h 433131"/>
              <a:gd name="connsiteX277" fmla="*/ 3936476 w 4839107"/>
              <a:gd name="connsiteY277" fmla="*/ 354128 h 433131"/>
              <a:gd name="connsiteX278" fmla="*/ 3936611 w 4839107"/>
              <a:gd name="connsiteY278" fmla="*/ 354392 h 433131"/>
              <a:gd name="connsiteX279" fmla="*/ 3964214 w 4839107"/>
              <a:gd name="connsiteY279" fmla="*/ 334542 h 433131"/>
              <a:gd name="connsiteX280" fmla="*/ 4015901 w 4839107"/>
              <a:gd name="connsiteY280" fmla="*/ 384757 h 433131"/>
              <a:gd name="connsiteX281" fmla="*/ 3964214 w 4839107"/>
              <a:gd name="connsiteY281" fmla="*/ 420774 h 433131"/>
              <a:gd name="connsiteX282" fmla="*/ 3900350 w 4839107"/>
              <a:gd name="connsiteY282" fmla="*/ 433131 h 433131"/>
              <a:gd name="connsiteX283" fmla="*/ 3819435 w 4839107"/>
              <a:gd name="connsiteY283" fmla="*/ 413676 h 433131"/>
              <a:gd name="connsiteX284" fmla="*/ 3762878 w 4839107"/>
              <a:gd name="connsiteY284" fmla="*/ 360570 h 433131"/>
              <a:gd name="connsiteX285" fmla="*/ 3742176 w 4839107"/>
              <a:gd name="connsiteY285" fmla="*/ 284986 h 433131"/>
              <a:gd name="connsiteX286" fmla="*/ 3762878 w 4839107"/>
              <a:gd name="connsiteY286" fmla="*/ 208744 h 433131"/>
              <a:gd name="connsiteX287" fmla="*/ 3819707 w 4839107"/>
              <a:gd name="connsiteY287" fmla="*/ 155243 h 433131"/>
              <a:gd name="connsiteX288" fmla="*/ 3900214 w 4839107"/>
              <a:gd name="connsiteY288" fmla="*/ 135394 h 433131"/>
              <a:gd name="connsiteX289" fmla="*/ 4512478 w 4839107"/>
              <a:gd name="connsiteY289" fmla="*/ 135263 h 433131"/>
              <a:gd name="connsiteX290" fmla="*/ 4579049 w 4839107"/>
              <a:gd name="connsiteY290" fmla="*/ 151826 h 433131"/>
              <a:gd name="connsiteX291" fmla="*/ 4609763 w 4839107"/>
              <a:gd name="connsiteY291" fmla="*/ 179299 h 433131"/>
              <a:gd name="connsiteX292" fmla="*/ 4640206 w 4839107"/>
              <a:gd name="connsiteY292" fmla="*/ 151826 h 433131"/>
              <a:gd name="connsiteX293" fmla="*/ 4707048 w 4839107"/>
              <a:gd name="connsiteY293" fmla="*/ 135263 h 433131"/>
              <a:gd name="connsiteX294" fmla="*/ 4776730 w 4839107"/>
              <a:gd name="connsiteY294" fmla="*/ 151563 h 433131"/>
              <a:gd name="connsiteX295" fmla="*/ 4822600 w 4839107"/>
              <a:gd name="connsiteY295" fmla="*/ 196124 h 433131"/>
              <a:gd name="connsiteX296" fmla="*/ 4822735 w 4839107"/>
              <a:gd name="connsiteY296" fmla="*/ 195993 h 433131"/>
              <a:gd name="connsiteX297" fmla="*/ 4839107 w 4839107"/>
              <a:gd name="connsiteY297" fmla="*/ 261587 h 433131"/>
              <a:gd name="connsiteX298" fmla="*/ 4839107 w 4839107"/>
              <a:gd name="connsiteY298" fmla="*/ 426953 h 433131"/>
              <a:gd name="connsiteX299" fmla="*/ 4758871 w 4839107"/>
              <a:gd name="connsiteY299" fmla="*/ 426953 h 433131"/>
              <a:gd name="connsiteX300" fmla="*/ 4758871 w 4839107"/>
              <a:gd name="connsiteY300" fmla="*/ 267503 h 433131"/>
              <a:gd name="connsiteX301" fmla="*/ 4744935 w 4839107"/>
              <a:gd name="connsiteY301" fmla="*/ 222678 h 433131"/>
              <a:gd name="connsiteX302" fmla="*/ 4704207 w 4839107"/>
              <a:gd name="connsiteY302" fmla="*/ 206773 h 433131"/>
              <a:gd name="connsiteX303" fmla="*/ 4664020 w 4839107"/>
              <a:gd name="connsiteY303" fmla="*/ 222415 h 433131"/>
              <a:gd name="connsiteX304" fmla="*/ 4650085 w 4839107"/>
              <a:gd name="connsiteY304" fmla="*/ 267634 h 433131"/>
              <a:gd name="connsiteX305" fmla="*/ 4650085 w 4839107"/>
              <a:gd name="connsiteY305" fmla="*/ 427084 h 433131"/>
              <a:gd name="connsiteX306" fmla="*/ 4569848 w 4839107"/>
              <a:gd name="connsiteY306" fmla="*/ 427084 h 433131"/>
              <a:gd name="connsiteX307" fmla="*/ 4569848 w 4839107"/>
              <a:gd name="connsiteY307" fmla="*/ 267634 h 433131"/>
              <a:gd name="connsiteX308" fmla="*/ 4555910 w 4839107"/>
              <a:gd name="connsiteY308" fmla="*/ 222415 h 433131"/>
              <a:gd name="connsiteX309" fmla="*/ 4515183 w 4839107"/>
              <a:gd name="connsiteY309" fmla="*/ 206773 h 433131"/>
              <a:gd name="connsiteX310" fmla="*/ 4474727 w 4839107"/>
              <a:gd name="connsiteY310" fmla="*/ 222415 h 433131"/>
              <a:gd name="connsiteX311" fmla="*/ 4460384 w 4839107"/>
              <a:gd name="connsiteY311" fmla="*/ 267634 h 433131"/>
              <a:gd name="connsiteX312" fmla="*/ 4460384 w 4839107"/>
              <a:gd name="connsiteY312" fmla="*/ 427084 h 433131"/>
              <a:gd name="connsiteX313" fmla="*/ 4380688 w 4839107"/>
              <a:gd name="connsiteY313" fmla="*/ 427084 h 433131"/>
              <a:gd name="connsiteX314" fmla="*/ 4380688 w 4839107"/>
              <a:gd name="connsiteY314" fmla="*/ 261719 h 433131"/>
              <a:gd name="connsiteX315" fmla="*/ 4397061 w 4839107"/>
              <a:gd name="connsiteY315" fmla="*/ 196124 h 433131"/>
              <a:gd name="connsiteX316" fmla="*/ 4443201 w 4839107"/>
              <a:gd name="connsiteY316" fmla="*/ 151563 h 433131"/>
              <a:gd name="connsiteX317" fmla="*/ 4512478 w 4839107"/>
              <a:gd name="connsiteY317" fmla="*/ 135263 h 433131"/>
              <a:gd name="connsiteX318" fmla="*/ 4185441 w 4839107"/>
              <a:gd name="connsiteY318" fmla="*/ 135131 h 433131"/>
              <a:gd name="connsiteX319" fmla="*/ 4265948 w 4839107"/>
              <a:gd name="connsiteY319" fmla="*/ 154980 h 433131"/>
              <a:gd name="connsiteX320" fmla="*/ 4322237 w 4839107"/>
              <a:gd name="connsiteY320" fmla="*/ 208086 h 433131"/>
              <a:gd name="connsiteX321" fmla="*/ 4342938 w 4839107"/>
              <a:gd name="connsiteY321" fmla="*/ 283407 h 433131"/>
              <a:gd name="connsiteX322" fmla="*/ 4322237 w 4839107"/>
              <a:gd name="connsiteY322" fmla="*/ 359255 h 433131"/>
              <a:gd name="connsiteX323" fmla="*/ 4265948 w 4839107"/>
              <a:gd name="connsiteY323" fmla="*/ 413019 h 433131"/>
              <a:gd name="connsiteX324" fmla="*/ 4185981 w 4839107"/>
              <a:gd name="connsiteY324" fmla="*/ 432868 h 433131"/>
              <a:gd name="connsiteX325" fmla="*/ 4106017 w 4839107"/>
              <a:gd name="connsiteY325" fmla="*/ 413019 h 433131"/>
              <a:gd name="connsiteX326" fmla="*/ 4049457 w 4839107"/>
              <a:gd name="connsiteY326" fmla="*/ 359255 h 433131"/>
              <a:gd name="connsiteX327" fmla="*/ 4028485 w 4839107"/>
              <a:gd name="connsiteY327" fmla="*/ 283407 h 433131"/>
              <a:gd name="connsiteX328" fmla="*/ 4049187 w 4839107"/>
              <a:gd name="connsiteY328" fmla="*/ 208086 h 433131"/>
              <a:gd name="connsiteX329" fmla="*/ 4105745 w 4839107"/>
              <a:gd name="connsiteY329" fmla="*/ 154980 h 433131"/>
              <a:gd name="connsiteX330" fmla="*/ 4185441 w 4839107"/>
              <a:gd name="connsiteY330" fmla="*/ 135131 h 433131"/>
              <a:gd name="connsiteX331" fmla="*/ 2712764 w 4839107"/>
              <a:gd name="connsiteY331" fmla="*/ 135131 h 433131"/>
              <a:gd name="connsiteX332" fmla="*/ 2787859 w 4839107"/>
              <a:gd name="connsiteY332" fmla="*/ 153797 h 433131"/>
              <a:gd name="connsiteX333" fmla="*/ 2787994 w 4839107"/>
              <a:gd name="connsiteY333" fmla="*/ 153665 h 433131"/>
              <a:gd name="connsiteX334" fmla="*/ 2839005 w 4839107"/>
              <a:gd name="connsiteY334" fmla="*/ 204406 h 433131"/>
              <a:gd name="connsiteX335" fmla="*/ 2857542 w 4839107"/>
              <a:gd name="connsiteY335" fmla="*/ 277360 h 433131"/>
              <a:gd name="connsiteX336" fmla="*/ 2856595 w 4839107"/>
              <a:gd name="connsiteY336" fmla="*/ 293004 h 433131"/>
              <a:gd name="connsiteX337" fmla="*/ 2853212 w 4839107"/>
              <a:gd name="connsiteY337" fmla="*/ 311013 h 433131"/>
              <a:gd name="connsiteX338" fmla="*/ 2638751 w 4839107"/>
              <a:gd name="connsiteY338" fmla="*/ 311538 h 433131"/>
              <a:gd name="connsiteX339" fmla="*/ 2644976 w 4839107"/>
              <a:gd name="connsiteY339" fmla="*/ 327838 h 433131"/>
              <a:gd name="connsiteX340" fmla="*/ 2673796 w 4839107"/>
              <a:gd name="connsiteY340" fmla="*/ 357415 h 433131"/>
              <a:gd name="connsiteX341" fmla="*/ 2717500 w 4839107"/>
              <a:gd name="connsiteY341" fmla="*/ 367800 h 433131"/>
              <a:gd name="connsiteX342" fmla="*/ 2758226 w 4839107"/>
              <a:gd name="connsiteY342" fmla="*/ 360437 h 433131"/>
              <a:gd name="connsiteX343" fmla="*/ 2789888 w 4839107"/>
              <a:gd name="connsiteY343" fmla="*/ 338223 h 433131"/>
              <a:gd name="connsiteX344" fmla="*/ 2836704 w 4839107"/>
              <a:gd name="connsiteY344" fmla="*/ 383705 h 433131"/>
              <a:gd name="connsiteX345" fmla="*/ 2784748 w 4839107"/>
              <a:gd name="connsiteY345" fmla="*/ 420379 h 433131"/>
              <a:gd name="connsiteX346" fmla="*/ 2718176 w 4839107"/>
              <a:gd name="connsiteY346" fmla="*/ 432735 h 433131"/>
              <a:gd name="connsiteX347" fmla="*/ 2636045 w 4839107"/>
              <a:gd name="connsiteY347" fmla="*/ 413544 h 433131"/>
              <a:gd name="connsiteX348" fmla="*/ 2579216 w 4839107"/>
              <a:gd name="connsiteY348" fmla="*/ 360701 h 433131"/>
              <a:gd name="connsiteX349" fmla="*/ 2558244 w 4839107"/>
              <a:gd name="connsiteY349" fmla="*/ 283934 h 433131"/>
              <a:gd name="connsiteX350" fmla="*/ 2578675 w 4839107"/>
              <a:gd name="connsiteY350" fmla="*/ 208086 h 433131"/>
              <a:gd name="connsiteX351" fmla="*/ 2634286 w 4839107"/>
              <a:gd name="connsiteY351" fmla="*/ 154980 h 433131"/>
              <a:gd name="connsiteX352" fmla="*/ 2712764 w 4839107"/>
              <a:gd name="connsiteY352" fmla="*/ 135131 h 433131"/>
              <a:gd name="connsiteX353" fmla="*/ 2194810 w 4839107"/>
              <a:gd name="connsiteY353" fmla="*/ 135131 h 433131"/>
              <a:gd name="connsiteX354" fmla="*/ 2261380 w 4839107"/>
              <a:gd name="connsiteY354" fmla="*/ 151694 h 433131"/>
              <a:gd name="connsiteX355" fmla="*/ 2292095 w 4839107"/>
              <a:gd name="connsiteY355" fmla="*/ 179167 h 433131"/>
              <a:gd name="connsiteX356" fmla="*/ 2322539 w 4839107"/>
              <a:gd name="connsiteY356" fmla="*/ 151694 h 433131"/>
              <a:gd name="connsiteX357" fmla="*/ 2389381 w 4839107"/>
              <a:gd name="connsiteY357" fmla="*/ 135131 h 433131"/>
              <a:gd name="connsiteX358" fmla="*/ 2459063 w 4839107"/>
              <a:gd name="connsiteY358" fmla="*/ 151430 h 433131"/>
              <a:gd name="connsiteX359" fmla="*/ 2459199 w 4839107"/>
              <a:gd name="connsiteY359" fmla="*/ 151300 h 433131"/>
              <a:gd name="connsiteX360" fmla="*/ 2505068 w 4839107"/>
              <a:gd name="connsiteY360" fmla="*/ 195861 h 433131"/>
              <a:gd name="connsiteX361" fmla="*/ 2521440 w 4839107"/>
              <a:gd name="connsiteY361" fmla="*/ 261454 h 433131"/>
              <a:gd name="connsiteX362" fmla="*/ 2521440 w 4839107"/>
              <a:gd name="connsiteY362" fmla="*/ 426821 h 433131"/>
              <a:gd name="connsiteX363" fmla="*/ 2441203 w 4839107"/>
              <a:gd name="connsiteY363" fmla="*/ 426821 h 433131"/>
              <a:gd name="connsiteX364" fmla="*/ 2441203 w 4839107"/>
              <a:gd name="connsiteY364" fmla="*/ 267371 h 433131"/>
              <a:gd name="connsiteX365" fmla="*/ 2427266 w 4839107"/>
              <a:gd name="connsiteY365" fmla="*/ 222546 h 433131"/>
              <a:gd name="connsiteX366" fmla="*/ 2386540 w 4839107"/>
              <a:gd name="connsiteY366" fmla="*/ 206640 h 433131"/>
              <a:gd name="connsiteX367" fmla="*/ 2346353 w 4839107"/>
              <a:gd name="connsiteY367" fmla="*/ 222283 h 433131"/>
              <a:gd name="connsiteX368" fmla="*/ 2332416 w 4839107"/>
              <a:gd name="connsiteY368" fmla="*/ 267502 h 433131"/>
              <a:gd name="connsiteX369" fmla="*/ 2332416 w 4839107"/>
              <a:gd name="connsiteY369" fmla="*/ 426952 h 433131"/>
              <a:gd name="connsiteX370" fmla="*/ 2252179 w 4839107"/>
              <a:gd name="connsiteY370" fmla="*/ 426952 h 433131"/>
              <a:gd name="connsiteX371" fmla="*/ 2252179 w 4839107"/>
              <a:gd name="connsiteY371" fmla="*/ 267502 h 433131"/>
              <a:gd name="connsiteX372" fmla="*/ 2238243 w 4839107"/>
              <a:gd name="connsiteY372" fmla="*/ 222283 h 433131"/>
              <a:gd name="connsiteX373" fmla="*/ 2197516 w 4839107"/>
              <a:gd name="connsiteY373" fmla="*/ 206640 h 433131"/>
              <a:gd name="connsiteX374" fmla="*/ 2157059 w 4839107"/>
              <a:gd name="connsiteY374" fmla="*/ 222283 h 433131"/>
              <a:gd name="connsiteX375" fmla="*/ 2142717 w 4839107"/>
              <a:gd name="connsiteY375" fmla="*/ 267502 h 433131"/>
              <a:gd name="connsiteX376" fmla="*/ 2142717 w 4839107"/>
              <a:gd name="connsiteY376" fmla="*/ 426952 h 433131"/>
              <a:gd name="connsiteX377" fmla="*/ 2063021 w 4839107"/>
              <a:gd name="connsiteY377" fmla="*/ 426952 h 433131"/>
              <a:gd name="connsiteX378" fmla="*/ 2063021 w 4839107"/>
              <a:gd name="connsiteY378" fmla="*/ 261587 h 433131"/>
              <a:gd name="connsiteX379" fmla="*/ 2079394 w 4839107"/>
              <a:gd name="connsiteY379" fmla="*/ 195992 h 433131"/>
              <a:gd name="connsiteX380" fmla="*/ 2125533 w 4839107"/>
              <a:gd name="connsiteY380" fmla="*/ 151430 h 433131"/>
              <a:gd name="connsiteX381" fmla="*/ 2194810 w 4839107"/>
              <a:gd name="connsiteY381" fmla="*/ 135131 h 433131"/>
              <a:gd name="connsiteX382" fmla="*/ 3305677 w 4839107"/>
              <a:gd name="connsiteY382" fmla="*/ 7098 h 433131"/>
              <a:gd name="connsiteX383" fmla="*/ 3338152 w 4839107"/>
              <a:gd name="connsiteY383" fmla="*/ 20111 h 433131"/>
              <a:gd name="connsiteX384" fmla="*/ 3350599 w 4839107"/>
              <a:gd name="connsiteY384" fmla="*/ 51397 h 433131"/>
              <a:gd name="connsiteX385" fmla="*/ 3338152 w 4839107"/>
              <a:gd name="connsiteY385" fmla="*/ 82945 h 433131"/>
              <a:gd name="connsiteX386" fmla="*/ 3305677 w 4839107"/>
              <a:gd name="connsiteY386" fmla="*/ 95695 h 433131"/>
              <a:gd name="connsiteX387" fmla="*/ 3273475 w 4839107"/>
              <a:gd name="connsiteY387" fmla="*/ 82945 h 433131"/>
              <a:gd name="connsiteX388" fmla="*/ 3260756 w 4839107"/>
              <a:gd name="connsiteY388" fmla="*/ 51397 h 433131"/>
              <a:gd name="connsiteX389" fmla="*/ 3273475 w 4839107"/>
              <a:gd name="connsiteY389" fmla="*/ 20111 h 433131"/>
              <a:gd name="connsiteX390" fmla="*/ 3305677 w 4839107"/>
              <a:gd name="connsiteY390" fmla="*/ 7098 h 433131"/>
              <a:gd name="connsiteX391" fmla="*/ 3121525 w 4839107"/>
              <a:gd name="connsiteY391" fmla="*/ 0 h 433131"/>
              <a:gd name="connsiteX392" fmla="*/ 3201221 w 4839107"/>
              <a:gd name="connsiteY392" fmla="*/ 0 h 433131"/>
              <a:gd name="connsiteX393" fmla="*/ 3201221 w 4839107"/>
              <a:gd name="connsiteY393" fmla="*/ 426953 h 433131"/>
              <a:gd name="connsiteX394" fmla="*/ 3122201 w 4839107"/>
              <a:gd name="connsiteY394" fmla="*/ 426953 h 433131"/>
              <a:gd name="connsiteX395" fmla="*/ 3122201 w 4839107"/>
              <a:gd name="connsiteY395" fmla="*/ 400795 h 433131"/>
              <a:gd name="connsiteX396" fmla="*/ 3095411 w 4839107"/>
              <a:gd name="connsiteY396" fmla="*/ 419854 h 433131"/>
              <a:gd name="connsiteX397" fmla="*/ 3038311 w 4839107"/>
              <a:gd name="connsiteY397" fmla="*/ 432868 h 433131"/>
              <a:gd name="connsiteX398" fmla="*/ 2965381 w 4839107"/>
              <a:gd name="connsiteY398" fmla="*/ 413414 h 433131"/>
              <a:gd name="connsiteX399" fmla="*/ 2914641 w 4839107"/>
              <a:gd name="connsiteY399" fmla="*/ 360308 h 433131"/>
              <a:gd name="connsiteX400" fmla="*/ 2896104 w 4839107"/>
              <a:gd name="connsiteY400" fmla="*/ 284724 h 433131"/>
              <a:gd name="connsiteX401" fmla="*/ 2914641 w 4839107"/>
              <a:gd name="connsiteY401" fmla="*/ 208482 h 433131"/>
              <a:gd name="connsiteX402" fmla="*/ 2965110 w 4839107"/>
              <a:gd name="connsiteY402" fmla="*/ 155376 h 433131"/>
              <a:gd name="connsiteX403" fmla="*/ 3038311 w 4839107"/>
              <a:gd name="connsiteY403" fmla="*/ 135921 h 433131"/>
              <a:gd name="connsiteX404" fmla="*/ 3095140 w 4839107"/>
              <a:gd name="connsiteY404" fmla="*/ 148277 h 433131"/>
              <a:gd name="connsiteX405" fmla="*/ 3121525 w 4839107"/>
              <a:gd name="connsiteY405" fmla="*/ 166680 h 433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</a:cxnLst>
            <a:rect l="l" t="t" r="r" b="b"/>
            <a:pathLst>
              <a:path w="4839107" h="433131">
                <a:moveTo>
                  <a:pt x="4185441" y="207954"/>
                </a:moveTo>
                <a:cubicBezTo>
                  <a:pt x="4170827" y="207954"/>
                  <a:pt x="4157838" y="211241"/>
                  <a:pt x="4146472" y="217681"/>
                </a:cubicBezTo>
                <a:cubicBezTo>
                  <a:pt x="4135107" y="224123"/>
                  <a:pt x="4126176" y="233062"/>
                  <a:pt x="4119682" y="244499"/>
                </a:cubicBezTo>
                <a:cubicBezTo>
                  <a:pt x="4113188" y="255934"/>
                  <a:pt x="4109940" y="269080"/>
                  <a:pt x="4109940" y="284065"/>
                </a:cubicBezTo>
                <a:cubicBezTo>
                  <a:pt x="4109940" y="299050"/>
                  <a:pt x="4113188" y="312326"/>
                  <a:pt x="4119682" y="323894"/>
                </a:cubicBezTo>
                <a:cubicBezTo>
                  <a:pt x="4126176" y="335594"/>
                  <a:pt x="4135107" y="344664"/>
                  <a:pt x="4146472" y="351104"/>
                </a:cubicBezTo>
                <a:cubicBezTo>
                  <a:pt x="4157838" y="357545"/>
                  <a:pt x="4170422" y="360832"/>
                  <a:pt x="4185441" y="360832"/>
                </a:cubicBezTo>
                <a:cubicBezTo>
                  <a:pt x="4200460" y="360832"/>
                  <a:pt x="4213720" y="357545"/>
                  <a:pt x="4225222" y="351104"/>
                </a:cubicBezTo>
                <a:cubicBezTo>
                  <a:pt x="4236858" y="344532"/>
                  <a:pt x="4245788" y="335462"/>
                  <a:pt x="4252012" y="323894"/>
                </a:cubicBezTo>
                <a:cubicBezTo>
                  <a:pt x="4258371" y="312326"/>
                  <a:pt x="4261483" y="299050"/>
                  <a:pt x="4261483" y="284065"/>
                </a:cubicBezTo>
                <a:cubicBezTo>
                  <a:pt x="4261483" y="269080"/>
                  <a:pt x="4258236" y="255934"/>
                  <a:pt x="4251742" y="244499"/>
                </a:cubicBezTo>
                <a:cubicBezTo>
                  <a:pt x="4245246" y="233193"/>
                  <a:pt x="4236316" y="224123"/>
                  <a:pt x="4224950" y="217681"/>
                </a:cubicBezTo>
                <a:cubicBezTo>
                  <a:pt x="4213584" y="211241"/>
                  <a:pt x="4200054" y="207954"/>
                  <a:pt x="4185441" y="207954"/>
                </a:cubicBezTo>
                <a:close/>
                <a:moveTo>
                  <a:pt x="3547741" y="207298"/>
                </a:moveTo>
                <a:cubicBezTo>
                  <a:pt x="3533263" y="207298"/>
                  <a:pt x="3520273" y="210585"/>
                  <a:pt x="3509178" y="217025"/>
                </a:cubicBezTo>
                <a:cubicBezTo>
                  <a:pt x="3498083" y="223599"/>
                  <a:pt x="3489288" y="232669"/>
                  <a:pt x="3483064" y="244237"/>
                </a:cubicBezTo>
                <a:cubicBezTo>
                  <a:pt x="3476705" y="255804"/>
                  <a:pt x="3473593" y="268686"/>
                  <a:pt x="3473593" y="284066"/>
                </a:cubicBezTo>
                <a:cubicBezTo>
                  <a:pt x="3473593" y="299445"/>
                  <a:pt x="3476840" y="312985"/>
                  <a:pt x="3483064" y="324553"/>
                </a:cubicBezTo>
                <a:cubicBezTo>
                  <a:pt x="3489288" y="336252"/>
                  <a:pt x="3498083" y="345322"/>
                  <a:pt x="3509178" y="351763"/>
                </a:cubicBezTo>
                <a:cubicBezTo>
                  <a:pt x="3520273" y="358204"/>
                  <a:pt x="3533128" y="361491"/>
                  <a:pt x="3547741" y="361491"/>
                </a:cubicBezTo>
                <a:cubicBezTo>
                  <a:pt x="3570067" y="361491"/>
                  <a:pt x="3588061" y="354261"/>
                  <a:pt x="3601863" y="339932"/>
                </a:cubicBezTo>
                <a:cubicBezTo>
                  <a:pt x="3615664" y="325472"/>
                  <a:pt x="3622565" y="306938"/>
                  <a:pt x="3622565" y="284066"/>
                </a:cubicBezTo>
                <a:cubicBezTo>
                  <a:pt x="3622565" y="269080"/>
                  <a:pt x="3619318" y="255804"/>
                  <a:pt x="3613094" y="244237"/>
                </a:cubicBezTo>
                <a:cubicBezTo>
                  <a:pt x="3606869" y="232537"/>
                  <a:pt x="3598075" y="223467"/>
                  <a:pt x="3586980" y="217025"/>
                </a:cubicBezTo>
                <a:cubicBezTo>
                  <a:pt x="3575749" y="210585"/>
                  <a:pt x="3562219" y="207298"/>
                  <a:pt x="3547741" y="207298"/>
                </a:cubicBezTo>
                <a:close/>
                <a:moveTo>
                  <a:pt x="3052248" y="207298"/>
                </a:moveTo>
                <a:cubicBezTo>
                  <a:pt x="3037229" y="207298"/>
                  <a:pt x="3024104" y="210585"/>
                  <a:pt x="3013009" y="217289"/>
                </a:cubicBezTo>
                <a:cubicBezTo>
                  <a:pt x="3001914" y="223993"/>
                  <a:pt x="2993119" y="233063"/>
                  <a:pt x="2986895" y="244499"/>
                </a:cubicBezTo>
                <a:cubicBezTo>
                  <a:pt x="2980535" y="255935"/>
                  <a:pt x="2977424" y="268686"/>
                  <a:pt x="2977424" y="284066"/>
                </a:cubicBezTo>
                <a:cubicBezTo>
                  <a:pt x="2977424" y="299445"/>
                  <a:pt x="2980670" y="312985"/>
                  <a:pt x="2986895" y="324553"/>
                </a:cubicBezTo>
                <a:cubicBezTo>
                  <a:pt x="2993119" y="336252"/>
                  <a:pt x="3001914" y="345322"/>
                  <a:pt x="3013280" y="351763"/>
                </a:cubicBezTo>
                <a:cubicBezTo>
                  <a:pt x="3024645" y="358204"/>
                  <a:pt x="3037364" y="361491"/>
                  <a:pt x="3051572" y="361491"/>
                </a:cubicBezTo>
                <a:cubicBezTo>
                  <a:pt x="3066591" y="361491"/>
                  <a:pt x="3079716" y="358204"/>
                  <a:pt x="3090811" y="351763"/>
                </a:cubicBezTo>
                <a:cubicBezTo>
                  <a:pt x="3101906" y="345191"/>
                  <a:pt x="3110700" y="336121"/>
                  <a:pt x="3116925" y="324553"/>
                </a:cubicBezTo>
                <a:cubicBezTo>
                  <a:pt x="3123284" y="312853"/>
                  <a:pt x="3126396" y="299051"/>
                  <a:pt x="3126396" y="284066"/>
                </a:cubicBezTo>
                <a:cubicBezTo>
                  <a:pt x="3126396" y="269080"/>
                  <a:pt x="3123149" y="255804"/>
                  <a:pt x="3116925" y="244237"/>
                </a:cubicBezTo>
                <a:cubicBezTo>
                  <a:pt x="3110700" y="232537"/>
                  <a:pt x="3101906" y="223467"/>
                  <a:pt x="3090811" y="217025"/>
                </a:cubicBezTo>
                <a:cubicBezTo>
                  <a:pt x="3079716" y="210585"/>
                  <a:pt x="3067267" y="207298"/>
                  <a:pt x="3052248" y="207298"/>
                </a:cubicBezTo>
                <a:close/>
                <a:moveTo>
                  <a:pt x="2712899" y="199541"/>
                </a:moveTo>
                <a:cubicBezTo>
                  <a:pt x="2697069" y="199541"/>
                  <a:pt x="2683267" y="203091"/>
                  <a:pt x="2671496" y="209926"/>
                </a:cubicBezTo>
                <a:cubicBezTo>
                  <a:pt x="2659723" y="216762"/>
                  <a:pt x="2650659" y="226490"/>
                  <a:pt x="2644434" y="238846"/>
                </a:cubicBezTo>
                <a:cubicBezTo>
                  <a:pt x="2642134" y="243447"/>
                  <a:pt x="2640375" y="248573"/>
                  <a:pt x="2638886" y="253830"/>
                </a:cubicBezTo>
                <a:lnTo>
                  <a:pt x="2780822" y="253436"/>
                </a:lnTo>
                <a:cubicBezTo>
                  <a:pt x="2779335" y="246733"/>
                  <a:pt x="2777171" y="240555"/>
                  <a:pt x="2774599" y="235033"/>
                </a:cubicBezTo>
                <a:cubicBezTo>
                  <a:pt x="2769186" y="223598"/>
                  <a:pt x="2761204" y="214789"/>
                  <a:pt x="2750920" y="208744"/>
                </a:cubicBezTo>
                <a:cubicBezTo>
                  <a:pt x="2740502" y="202566"/>
                  <a:pt x="2727918" y="199541"/>
                  <a:pt x="2712899" y="199541"/>
                </a:cubicBezTo>
                <a:close/>
                <a:moveTo>
                  <a:pt x="1907284" y="182060"/>
                </a:moveTo>
                <a:cubicBezTo>
                  <a:pt x="1886311" y="182060"/>
                  <a:pt x="1867638" y="186529"/>
                  <a:pt x="1851403" y="195599"/>
                </a:cubicBezTo>
                <a:cubicBezTo>
                  <a:pt x="1835165" y="204669"/>
                  <a:pt x="1822446" y="217158"/>
                  <a:pt x="1813381" y="233063"/>
                </a:cubicBezTo>
                <a:cubicBezTo>
                  <a:pt x="1804315" y="248969"/>
                  <a:pt x="1799715" y="266976"/>
                  <a:pt x="1799715" y="287089"/>
                </a:cubicBezTo>
                <a:lnTo>
                  <a:pt x="1799580" y="287220"/>
                </a:lnTo>
                <a:cubicBezTo>
                  <a:pt x="1799580" y="308121"/>
                  <a:pt x="1804180" y="326524"/>
                  <a:pt x="1813245" y="342430"/>
                </a:cubicBezTo>
                <a:cubicBezTo>
                  <a:pt x="1815140" y="345716"/>
                  <a:pt x="1817304" y="348740"/>
                  <a:pt x="1819469" y="351763"/>
                </a:cubicBezTo>
                <a:lnTo>
                  <a:pt x="1971284" y="203750"/>
                </a:lnTo>
                <a:cubicBezTo>
                  <a:pt x="1966142" y="199280"/>
                  <a:pt x="1960459" y="195336"/>
                  <a:pt x="1954100" y="192050"/>
                </a:cubicBezTo>
                <a:cubicBezTo>
                  <a:pt x="1941111" y="185477"/>
                  <a:pt x="1925549" y="182060"/>
                  <a:pt x="1907284" y="182060"/>
                </a:cubicBezTo>
                <a:close/>
                <a:moveTo>
                  <a:pt x="970419" y="181928"/>
                </a:moveTo>
                <a:cubicBezTo>
                  <a:pt x="949718" y="181928"/>
                  <a:pt x="931723" y="186266"/>
                  <a:pt x="916297" y="194942"/>
                </a:cubicBezTo>
                <a:cubicBezTo>
                  <a:pt x="900872" y="203617"/>
                  <a:pt x="888831" y="215712"/>
                  <a:pt x="880171" y="231223"/>
                </a:cubicBezTo>
                <a:cubicBezTo>
                  <a:pt x="874082" y="242133"/>
                  <a:pt x="870294" y="254489"/>
                  <a:pt x="868399" y="268161"/>
                </a:cubicBezTo>
                <a:lnTo>
                  <a:pt x="1063646" y="268161"/>
                </a:lnTo>
                <a:cubicBezTo>
                  <a:pt x="1062564" y="253174"/>
                  <a:pt x="1059181" y="239899"/>
                  <a:pt x="1053363" y="228331"/>
                </a:cubicBezTo>
                <a:cubicBezTo>
                  <a:pt x="1045921" y="213476"/>
                  <a:pt x="1035096" y="202041"/>
                  <a:pt x="1021161" y="194022"/>
                </a:cubicBezTo>
                <a:cubicBezTo>
                  <a:pt x="1007223" y="186003"/>
                  <a:pt x="991121" y="181928"/>
                  <a:pt x="970419" y="181928"/>
                </a:cubicBezTo>
                <a:close/>
                <a:moveTo>
                  <a:pt x="145996" y="181928"/>
                </a:moveTo>
                <a:cubicBezTo>
                  <a:pt x="125294" y="181928"/>
                  <a:pt x="107299" y="186266"/>
                  <a:pt x="91873" y="194942"/>
                </a:cubicBezTo>
                <a:cubicBezTo>
                  <a:pt x="76448" y="203617"/>
                  <a:pt x="64407" y="215712"/>
                  <a:pt x="55747" y="231223"/>
                </a:cubicBezTo>
                <a:cubicBezTo>
                  <a:pt x="49658" y="242133"/>
                  <a:pt x="45870" y="254489"/>
                  <a:pt x="43975" y="268161"/>
                </a:cubicBezTo>
                <a:lnTo>
                  <a:pt x="239222" y="268161"/>
                </a:lnTo>
                <a:cubicBezTo>
                  <a:pt x="238140" y="253174"/>
                  <a:pt x="234757" y="239899"/>
                  <a:pt x="228939" y="228331"/>
                </a:cubicBezTo>
                <a:cubicBezTo>
                  <a:pt x="221497" y="213476"/>
                  <a:pt x="210672" y="202041"/>
                  <a:pt x="196737" y="194022"/>
                </a:cubicBezTo>
                <a:cubicBezTo>
                  <a:pt x="182799" y="186003"/>
                  <a:pt x="166697" y="181928"/>
                  <a:pt x="145996" y="181928"/>
                </a:cubicBezTo>
                <a:close/>
                <a:moveTo>
                  <a:pt x="1906742" y="143545"/>
                </a:moveTo>
                <a:cubicBezTo>
                  <a:pt x="1932315" y="143545"/>
                  <a:pt x="1954911" y="148803"/>
                  <a:pt x="1974531" y="159187"/>
                </a:cubicBezTo>
                <a:lnTo>
                  <a:pt x="1974531" y="158925"/>
                </a:lnTo>
                <a:cubicBezTo>
                  <a:pt x="1994150" y="169441"/>
                  <a:pt x="2010252" y="184031"/>
                  <a:pt x="2022836" y="202960"/>
                </a:cubicBezTo>
                <a:lnTo>
                  <a:pt x="1845448" y="375819"/>
                </a:lnTo>
                <a:cubicBezTo>
                  <a:pt x="1847477" y="377265"/>
                  <a:pt x="1849507" y="378711"/>
                  <a:pt x="1851673" y="379894"/>
                </a:cubicBezTo>
                <a:cubicBezTo>
                  <a:pt x="1868181" y="389227"/>
                  <a:pt x="1886853" y="393827"/>
                  <a:pt x="1907960" y="393827"/>
                </a:cubicBezTo>
                <a:cubicBezTo>
                  <a:pt x="1926632" y="393827"/>
                  <a:pt x="1942870" y="390935"/>
                  <a:pt x="1956670" y="385283"/>
                </a:cubicBezTo>
                <a:cubicBezTo>
                  <a:pt x="1970471" y="379631"/>
                  <a:pt x="1982649" y="371481"/>
                  <a:pt x="1993204" y="360833"/>
                </a:cubicBezTo>
                <a:lnTo>
                  <a:pt x="2021212" y="388043"/>
                </a:lnTo>
                <a:cubicBezTo>
                  <a:pt x="2007004" y="402635"/>
                  <a:pt x="1990497" y="413808"/>
                  <a:pt x="1971689" y="421433"/>
                </a:cubicBezTo>
                <a:cubicBezTo>
                  <a:pt x="1952747" y="429187"/>
                  <a:pt x="1931639" y="433000"/>
                  <a:pt x="1908095" y="433000"/>
                </a:cubicBezTo>
                <a:cubicBezTo>
                  <a:pt x="1879276" y="433000"/>
                  <a:pt x="1853567" y="426559"/>
                  <a:pt x="1830836" y="413545"/>
                </a:cubicBezTo>
                <a:cubicBezTo>
                  <a:pt x="1808103" y="400532"/>
                  <a:pt x="1790108" y="383049"/>
                  <a:pt x="1776984" y="360964"/>
                </a:cubicBezTo>
                <a:cubicBezTo>
                  <a:pt x="1763859" y="338880"/>
                  <a:pt x="1757228" y="313905"/>
                  <a:pt x="1757228" y="287089"/>
                </a:cubicBezTo>
                <a:cubicBezTo>
                  <a:pt x="1757228" y="260273"/>
                  <a:pt x="1763859" y="236086"/>
                  <a:pt x="1776984" y="214397"/>
                </a:cubicBezTo>
                <a:cubicBezTo>
                  <a:pt x="1790108" y="192707"/>
                  <a:pt x="1807968" y="175487"/>
                  <a:pt x="1830429" y="162736"/>
                </a:cubicBezTo>
                <a:cubicBezTo>
                  <a:pt x="1852890" y="149986"/>
                  <a:pt x="1878328" y="143545"/>
                  <a:pt x="1906742" y="143545"/>
                </a:cubicBezTo>
                <a:close/>
                <a:moveTo>
                  <a:pt x="1619216" y="143545"/>
                </a:moveTo>
                <a:cubicBezTo>
                  <a:pt x="1640729" y="143545"/>
                  <a:pt x="1660755" y="147488"/>
                  <a:pt x="1679427" y="155376"/>
                </a:cubicBezTo>
                <a:cubicBezTo>
                  <a:pt x="1697964" y="163263"/>
                  <a:pt x="1713795" y="174304"/>
                  <a:pt x="1726785" y="188500"/>
                </a:cubicBezTo>
                <a:lnTo>
                  <a:pt x="1698777" y="216237"/>
                </a:lnTo>
                <a:cubicBezTo>
                  <a:pt x="1689033" y="205721"/>
                  <a:pt x="1677262" y="197439"/>
                  <a:pt x="1663461" y="191786"/>
                </a:cubicBezTo>
                <a:cubicBezTo>
                  <a:pt x="1649659" y="186135"/>
                  <a:pt x="1634911" y="183243"/>
                  <a:pt x="1619081" y="183243"/>
                </a:cubicBezTo>
                <a:cubicBezTo>
                  <a:pt x="1598784" y="183243"/>
                  <a:pt x="1580788" y="187712"/>
                  <a:pt x="1564958" y="196782"/>
                </a:cubicBezTo>
                <a:cubicBezTo>
                  <a:pt x="1549126" y="205852"/>
                  <a:pt x="1536814" y="218209"/>
                  <a:pt x="1527884" y="233719"/>
                </a:cubicBezTo>
                <a:cubicBezTo>
                  <a:pt x="1518953" y="249231"/>
                  <a:pt x="1514489" y="267634"/>
                  <a:pt x="1514489" y="287747"/>
                </a:cubicBezTo>
                <a:cubicBezTo>
                  <a:pt x="1514489" y="307859"/>
                  <a:pt x="1518953" y="325867"/>
                  <a:pt x="1527884" y="341772"/>
                </a:cubicBezTo>
                <a:cubicBezTo>
                  <a:pt x="1536814" y="357678"/>
                  <a:pt x="1549126" y="370166"/>
                  <a:pt x="1564958" y="379236"/>
                </a:cubicBezTo>
                <a:cubicBezTo>
                  <a:pt x="1580788" y="388306"/>
                  <a:pt x="1598784" y="392775"/>
                  <a:pt x="1619081" y="392775"/>
                </a:cubicBezTo>
                <a:cubicBezTo>
                  <a:pt x="1635316" y="392775"/>
                  <a:pt x="1650337" y="389883"/>
                  <a:pt x="1664137" y="384232"/>
                </a:cubicBezTo>
                <a:cubicBezTo>
                  <a:pt x="1677938" y="378579"/>
                  <a:pt x="1689711" y="370430"/>
                  <a:pt x="1699453" y="359781"/>
                </a:cubicBezTo>
                <a:lnTo>
                  <a:pt x="1728002" y="387518"/>
                </a:lnTo>
                <a:cubicBezTo>
                  <a:pt x="1714607" y="402108"/>
                  <a:pt x="1698505" y="413282"/>
                  <a:pt x="1679697" y="421169"/>
                </a:cubicBezTo>
                <a:cubicBezTo>
                  <a:pt x="1660890" y="429057"/>
                  <a:pt x="1640729" y="433000"/>
                  <a:pt x="1619216" y="433000"/>
                </a:cubicBezTo>
                <a:cubicBezTo>
                  <a:pt x="1591343" y="433000"/>
                  <a:pt x="1566040" y="426559"/>
                  <a:pt x="1543579" y="413808"/>
                </a:cubicBezTo>
                <a:cubicBezTo>
                  <a:pt x="1521118" y="400926"/>
                  <a:pt x="1503258" y="383574"/>
                  <a:pt x="1490134" y="361491"/>
                </a:cubicBezTo>
                <a:cubicBezTo>
                  <a:pt x="1477009" y="339407"/>
                  <a:pt x="1470378" y="314693"/>
                  <a:pt x="1470378" y="287616"/>
                </a:cubicBezTo>
                <a:cubicBezTo>
                  <a:pt x="1470378" y="260537"/>
                  <a:pt x="1477009" y="235955"/>
                  <a:pt x="1490134" y="214133"/>
                </a:cubicBezTo>
                <a:cubicBezTo>
                  <a:pt x="1503258" y="192313"/>
                  <a:pt x="1521118" y="175092"/>
                  <a:pt x="1543579" y="162473"/>
                </a:cubicBezTo>
                <a:cubicBezTo>
                  <a:pt x="1566040" y="149854"/>
                  <a:pt x="1591207" y="143545"/>
                  <a:pt x="1619216" y="143545"/>
                </a:cubicBezTo>
                <a:close/>
                <a:moveTo>
                  <a:pt x="1303002" y="143545"/>
                </a:moveTo>
                <a:cubicBezTo>
                  <a:pt x="1324787" y="143545"/>
                  <a:pt x="1344271" y="148671"/>
                  <a:pt x="1361321" y="158925"/>
                </a:cubicBezTo>
                <a:lnTo>
                  <a:pt x="1361456" y="159056"/>
                </a:lnTo>
                <a:cubicBezTo>
                  <a:pt x="1378504" y="169309"/>
                  <a:pt x="1391764" y="183111"/>
                  <a:pt x="1401235" y="200462"/>
                </a:cubicBezTo>
                <a:cubicBezTo>
                  <a:pt x="1410842" y="217814"/>
                  <a:pt x="1415578" y="236611"/>
                  <a:pt x="1415578" y="257118"/>
                </a:cubicBezTo>
                <a:lnTo>
                  <a:pt x="1415578" y="427216"/>
                </a:lnTo>
                <a:lnTo>
                  <a:pt x="1372416" y="427216"/>
                </a:lnTo>
                <a:lnTo>
                  <a:pt x="1372416" y="264217"/>
                </a:lnTo>
                <a:cubicBezTo>
                  <a:pt x="1372416" y="239766"/>
                  <a:pt x="1364974" y="219917"/>
                  <a:pt x="1350225" y="204800"/>
                </a:cubicBezTo>
                <a:cubicBezTo>
                  <a:pt x="1335342" y="189684"/>
                  <a:pt x="1315857" y="182060"/>
                  <a:pt x="1291502" y="182060"/>
                </a:cubicBezTo>
                <a:cubicBezTo>
                  <a:pt x="1274859" y="182060"/>
                  <a:pt x="1260245" y="185608"/>
                  <a:pt x="1247663" y="192707"/>
                </a:cubicBezTo>
                <a:cubicBezTo>
                  <a:pt x="1235079" y="199806"/>
                  <a:pt x="1225202" y="209401"/>
                  <a:pt x="1217896" y="221626"/>
                </a:cubicBezTo>
                <a:cubicBezTo>
                  <a:pt x="1210589" y="233852"/>
                  <a:pt x="1206936" y="247785"/>
                  <a:pt x="1206936" y="263559"/>
                </a:cubicBezTo>
                <a:lnTo>
                  <a:pt x="1206936" y="427216"/>
                </a:lnTo>
                <a:lnTo>
                  <a:pt x="1164449" y="427216"/>
                </a:lnTo>
                <a:lnTo>
                  <a:pt x="1164449" y="149592"/>
                </a:lnTo>
                <a:lnTo>
                  <a:pt x="1206936" y="149592"/>
                </a:lnTo>
                <a:lnTo>
                  <a:pt x="1206936" y="190736"/>
                </a:lnTo>
                <a:cubicBezTo>
                  <a:pt x="1216542" y="177065"/>
                  <a:pt x="1228719" y="166022"/>
                  <a:pt x="1243739" y="157741"/>
                </a:cubicBezTo>
                <a:cubicBezTo>
                  <a:pt x="1260923" y="148277"/>
                  <a:pt x="1281219" y="143545"/>
                  <a:pt x="1303002" y="143545"/>
                </a:cubicBezTo>
                <a:close/>
                <a:moveTo>
                  <a:pt x="971638" y="143545"/>
                </a:moveTo>
                <a:cubicBezTo>
                  <a:pt x="997617" y="143545"/>
                  <a:pt x="1020618" y="149197"/>
                  <a:pt x="1040644" y="160633"/>
                </a:cubicBezTo>
                <a:lnTo>
                  <a:pt x="1040644" y="160502"/>
                </a:lnTo>
                <a:cubicBezTo>
                  <a:pt x="1060670" y="171939"/>
                  <a:pt x="1076500" y="187844"/>
                  <a:pt x="1088002" y="208088"/>
                </a:cubicBezTo>
                <a:cubicBezTo>
                  <a:pt x="1099503" y="228331"/>
                  <a:pt x="1105321" y="251597"/>
                  <a:pt x="1105321" y="278019"/>
                </a:cubicBezTo>
                <a:cubicBezTo>
                  <a:pt x="1105321" y="281174"/>
                  <a:pt x="1105186" y="284855"/>
                  <a:pt x="1104779" y="288929"/>
                </a:cubicBezTo>
                <a:cubicBezTo>
                  <a:pt x="1104373" y="293004"/>
                  <a:pt x="1103562" y="297868"/>
                  <a:pt x="1102344" y="303389"/>
                </a:cubicBezTo>
                <a:lnTo>
                  <a:pt x="868264" y="303389"/>
                </a:lnTo>
                <a:cubicBezTo>
                  <a:pt x="870158" y="317717"/>
                  <a:pt x="874217" y="330731"/>
                  <a:pt x="880847" y="342430"/>
                </a:cubicBezTo>
                <a:cubicBezTo>
                  <a:pt x="889912" y="358599"/>
                  <a:pt x="902767" y="371218"/>
                  <a:pt x="919139" y="380288"/>
                </a:cubicBezTo>
                <a:cubicBezTo>
                  <a:pt x="935511" y="389358"/>
                  <a:pt x="954454" y="393827"/>
                  <a:pt x="975967" y="393827"/>
                </a:cubicBezTo>
                <a:cubicBezTo>
                  <a:pt x="993423" y="393827"/>
                  <a:pt x="1009388" y="390673"/>
                  <a:pt x="1024001" y="384626"/>
                </a:cubicBezTo>
                <a:cubicBezTo>
                  <a:pt x="1038615" y="378579"/>
                  <a:pt x="1050928" y="369378"/>
                  <a:pt x="1061075" y="357153"/>
                </a:cubicBezTo>
                <a:lnTo>
                  <a:pt x="1088408" y="384363"/>
                </a:lnTo>
                <a:cubicBezTo>
                  <a:pt x="1075013" y="399743"/>
                  <a:pt x="1058505" y="411705"/>
                  <a:pt x="1038885" y="420117"/>
                </a:cubicBezTo>
                <a:cubicBezTo>
                  <a:pt x="1019131" y="428662"/>
                  <a:pt x="998022" y="432868"/>
                  <a:pt x="975291" y="432868"/>
                </a:cubicBezTo>
                <a:cubicBezTo>
                  <a:pt x="946471" y="432868"/>
                  <a:pt x="920763" y="426559"/>
                  <a:pt x="898032" y="413939"/>
                </a:cubicBezTo>
                <a:cubicBezTo>
                  <a:pt x="875299" y="401451"/>
                  <a:pt x="857304" y="384099"/>
                  <a:pt x="844179" y="362016"/>
                </a:cubicBezTo>
                <a:cubicBezTo>
                  <a:pt x="831055" y="339932"/>
                  <a:pt x="824424" y="314693"/>
                  <a:pt x="824424" y="287616"/>
                </a:cubicBezTo>
                <a:cubicBezTo>
                  <a:pt x="824424" y="260537"/>
                  <a:pt x="830920" y="235955"/>
                  <a:pt x="843908" y="214133"/>
                </a:cubicBezTo>
                <a:cubicBezTo>
                  <a:pt x="856897" y="192313"/>
                  <a:pt x="874488" y="175092"/>
                  <a:pt x="896813" y="162473"/>
                </a:cubicBezTo>
                <a:cubicBezTo>
                  <a:pt x="919139" y="149854"/>
                  <a:pt x="944035" y="143545"/>
                  <a:pt x="971638" y="143545"/>
                </a:cubicBezTo>
                <a:close/>
                <a:moveTo>
                  <a:pt x="147214" y="143545"/>
                </a:moveTo>
                <a:cubicBezTo>
                  <a:pt x="173193" y="143545"/>
                  <a:pt x="196194" y="149197"/>
                  <a:pt x="216220" y="160633"/>
                </a:cubicBezTo>
                <a:lnTo>
                  <a:pt x="216220" y="160502"/>
                </a:lnTo>
                <a:cubicBezTo>
                  <a:pt x="236246" y="171939"/>
                  <a:pt x="252076" y="187844"/>
                  <a:pt x="263577" y="208088"/>
                </a:cubicBezTo>
                <a:cubicBezTo>
                  <a:pt x="275079" y="228331"/>
                  <a:pt x="280897" y="251597"/>
                  <a:pt x="280897" y="278019"/>
                </a:cubicBezTo>
                <a:cubicBezTo>
                  <a:pt x="280897" y="281174"/>
                  <a:pt x="280762" y="284855"/>
                  <a:pt x="280355" y="288929"/>
                </a:cubicBezTo>
                <a:cubicBezTo>
                  <a:pt x="279949" y="293004"/>
                  <a:pt x="279138" y="297868"/>
                  <a:pt x="277920" y="303389"/>
                </a:cubicBezTo>
                <a:lnTo>
                  <a:pt x="43840" y="303389"/>
                </a:lnTo>
                <a:cubicBezTo>
                  <a:pt x="45734" y="317717"/>
                  <a:pt x="49793" y="330731"/>
                  <a:pt x="56423" y="342430"/>
                </a:cubicBezTo>
                <a:cubicBezTo>
                  <a:pt x="65488" y="358599"/>
                  <a:pt x="78343" y="371218"/>
                  <a:pt x="94715" y="380288"/>
                </a:cubicBezTo>
                <a:cubicBezTo>
                  <a:pt x="111087" y="389358"/>
                  <a:pt x="130030" y="393827"/>
                  <a:pt x="151543" y="393827"/>
                </a:cubicBezTo>
                <a:cubicBezTo>
                  <a:pt x="168998" y="393827"/>
                  <a:pt x="184964" y="390673"/>
                  <a:pt x="199577" y="384626"/>
                </a:cubicBezTo>
                <a:cubicBezTo>
                  <a:pt x="214191" y="378579"/>
                  <a:pt x="226504" y="369378"/>
                  <a:pt x="236651" y="357153"/>
                </a:cubicBezTo>
                <a:lnTo>
                  <a:pt x="263984" y="384363"/>
                </a:lnTo>
                <a:cubicBezTo>
                  <a:pt x="250589" y="399743"/>
                  <a:pt x="234081" y="411705"/>
                  <a:pt x="214461" y="420117"/>
                </a:cubicBezTo>
                <a:cubicBezTo>
                  <a:pt x="194707" y="428662"/>
                  <a:pt x="173598" y="432868"/>
                  <a:pt x="150867" y="432868"/>
                </a:cubicBezTo>
                <a:cubicBezTo>
                  <a:pt x="122047" y="432868"/>
                  <a:pt x="96339" y="426559"/>
                  <a:pt x="73608" y="413939"/>
                </a:cubicBezTo>
                <a:cubicBezTo>
                  <a:pt x="50875" y="401451"/>
                  <a:pt x="32880" y="384099"/>
                  <a:pt x="19755" y="362016"/>
                </a:cubicBezTo>
                <a:cubicBezTo>
                  <a:pt x="6631" y="339932"/>
                  <a:pt x="0" y="314693"/>
                  <a:pt x="0" y="287616"/>
                </a:cubicBezTo>
                <a:cubicBezTo>
                  <a:pt x="0" y="260537"/>
                  <a:pt x="6494" y="235955"/>
                  <a:pt x="19484" y="214133"/>
                </a:cubicBezTo>
                <a:cubicBezTo>
                  <a:pt x="32473" y="192313"/>
                  <a:pt x="50064" y="175092"/>
                  <a:pt x="72389" y="162473"/>
                </a:cubicBezTo>
                <a:cubicBezTo>
                  <a:pt x="94715" y="149854"/>
                  <a:pt x="119611" y="143545"/>
                  <a:pt x="147214" y="143545"/>
                </a:cubicBezTo>
                <a:close/>
                <a:moveTo>
                  <a:pt x="681810" y="143412"/>
                </a:moveTo>
                <a:cubicBezTo>
                  <a:pt x="703188" y="143412"/>
                  <a:pt x="722673" y="147093"/>
                  <a:pt x="740127" y="154586"/>
                </a:cubicBezTo>
                <a:cubicBezTo>
                  <a:pt x="757582" y="162079"/>
                  <a:pt x="771518" y="173120"/>
                  <a:pt x="782073" y="187712"/>
                </a:cubicBezTo>
                <a:lnTo>
                  <a:pt x="754740" y="214264"/>
                </a:lnTo>
                <a:cubicBezTo>
                  <a:pt x="746217" y="203748"/>
                  <a:pt x="735527" y="195467"/>
                  <a:pt x="722808" y="189814"/>
                </a:cubicBezTo>
                <a:cubicBezTo>
                  <a:pt x="709954" y="184162"/>
                  <a:pt x="695748" y="181271"/>
                  <a:pt x="679916" y="181271"/>
                </a:cubicBezTo>
                <a:cubicBezTo>
                  <a:pt x="661649" y="181271"/>
                  <a:pt x="647713" y="184820"/>
                  <a:pt x="638242" y="191654"/>
                </a:cubicBezTo>
                <a:lnTo>
                  <a:pt x="638242" y="191786"/>
                </a:lnTo>
                <a:cubicBezTo>
                  <a:pt x="628634" y="198622"/>
                  <a:pt x="623899" y="207955"/>
                  <a:pt x="623899" y="218602"/>
                </a:cubicBezTo>
                <a:cubicBezTo>
                  <a:pt x="623899" y="229249"/>
                  <a:pt x="627688" y="237663"/>
                  <a:pt x="635400" y="243709"/>
                </a:cubicBezTo>
                <a:cubicBezTo>
                  <a:pt x="643112" y="249756"/>
                  <a:pt x="652991" y="254751"/>
                  <a:pt x="664897" y="258432"/>
                </a:cubicBezTo>
                <a:cubicBezTo>
                  <a:pt x="676803" y="262112"/>
                  <a:pt x="689523" y="265925"/>
                  <a:pt x="702918" y="269605"/>
                </a:cubicBezTo>
                <a:cubicBezTo>
                  <a:pt x="716314" y="273285"/>
                  <a:pt x="729032" y="278281"/>
                  <a:pt x="741210" y="284328"/>
                </a:cubicBezTo>
                <a:cubicBezTo>
                  <a:pt x="753387" y="290506"/>
                  <a:pt x="763265" y="298788"/>
                  <a:pt x="770707" y="309173"/>
                </a:cubicBezTo>
                <a:cubicBezTo>
                  <a:pt x="778149" y="319556"/>
                  <a:pt x="781937" y="333622"/>
                  <a:pt x="781937" y="351367"/>
                </a:cubicBezTo>
                <a:cubicBezTo>
                  <a:pt x="781937" y="376212"/>
                  <a:pt x="772737" y="396061"/>
                  <a:pt x="754335" y="410784"/>
                </a:cubicBezTo>
                <a:cubicBezTo>
                  <a:pt x="735933" y="425638"/>
                  <a:pt x="710902" y="432999"/>
                  <a:pt x="679240" y="432999"/>
                </a:cubicBezTo>
                <a:cubicBezTo>
                  <a:pt x="663814" y="432999"/>
                  <a:pt x="649065" y="430895"/>
                  <a:pt x="634859" y="426821"/>
                </a:cubicBezTo>
                <a:cubicBezTo>
                  <a:pt x="620651" y="422614"/>
                  <a:pt x="607797" y="416830"/>
                  <a:pt x="596296" y="409338"/>
                </a:cubicBezTo>
                <a:cubicBezTo>
                  <a:pt x="584796" y="401845"/>
                  <a:pt x="574783" y="393038"/>
                  <a:pt x="566258" y="382784"/>
                </a:cubicBezTo>
                <a:lnTo>
                  <a:pt x="593591" y="355574"/>
                </a:lnTo>
                <a:cubicBezTo>
                  <a:pt x="604956" y="368982"/>
                  <a:pt x="617811" y="378973"/>
                  <a:pt x="632152" y="385413"/>
                </a:cubicBezTo>
                <a:cubicBezTo>
                  <a:pt x="646495" y="391854"/>
                  <a:pt x="662597" y="395140"/>
                  <a:pt x="680457" y="395140"/>
                </a:cubicBezTo>
                <a:cubicBezTo>
                  <a:pt x="699536" y="395140"/>
                  <a:pt x="714420" y="391592"/>
                  <a:pt x="725108" y="384494"/>
                </a:cubicBezTo>
                <a:cubicBezTo>
                  <a:pt x="735798" y="377395"/>
                  <a:pt x="741210" y="367536"/>
                  <a:pt x="741210" y="354917"/>
                </a:cubicBezTo>
                <a:cubicBezTo>
                  <a:pt x="741210" y="343086"/>
                  <a:pt x="737422" y="333885"/>
                  <a:pt x="729709" y="327180"/>
                </a:cubicBezTo>
                <a:cubicBezTo>
                  <a:pt x="721997" y="320477"/>
                  <a:pt x="712119" y="315218"/>
                  <a:pt x="700212" y="311275"/>
                </a:cubicBezTo>
                <a:cubicBezTo>
                  <a:pt x="688169" y="307331"/>
                  <a:pt x="675587" y="303520"/>
                  <a:pt x="662190" y="299707"/>
                </a:cubicBezTo>
                <a:cubicBezTo>
                  <a:pt x="648795" y="295896"/>
                  <a:pt x="636076" y="291164"/>
                  <a:pt x="623899" y="285511"/>
                </a:cubicBezTo>
                <a:cubicBezTo>
                  <a:pt x="611721" y="279858"/>
                  <a:pt x="601844" y="271840"/>
                  <a:pt x="594402" y="261587"/>
                </a:cubicBezTo>
                <a:cubicBezTo>
                  <a:pt x="586960" y="251334"/>
                  <a:pt x="583172" y="237925"/>
                  <a:pt x="583172" y="221363"/>
                </a:cubicBezTo>
                <a:cubicBezTo>
                  <a:pt x="583172" y="205719"/>
                  <a:pt x="587231" y="191917"/>
                  <a:pt x="595078" y="180350"/>
                </a:cubicBezTo>
                <a:cubicBezTo>
                  <a:pt x="603062" y="168651"/>
                  <a:pt x="614428" y="159581"/>
                  <a:pt x="629176" y="153140"/>
                </a:cubicBezTo>
                <a:cubicBezTo>
                  <a:pt x="644060" y="146698"/>
                  <a:pt x="661514" y="143412"/>
                  <a:pt x="681810" y="143412"/>
                </a:cubicBezTo>
                <a:close/>
                <a:moveTo>
                  <a:pt x="430005" y="143412"/>
                </a:moveTo>
                <a:cubicBezTo>
                  <a:pt x="451383" y="143412"/>
                  <a:pt x="470868" y="147093"/>
                  <a:pt x="488322" y="154586"/>
                </a:cubicBezTo>
                <a:cubicBezTo>
                  <a:pt x="505777" y="162079"/>
                  <a:pt x="519713" y="173120"/>
                  <a:pt x="530267" y="187712"/>
                </a:cubicBezTo>
                <a:lnTo>
                  <a:pt x="502935" y="214264"/>
                </a:lnTo>
                <a:cubicBezTo>
                  <a:pt x="494411" y="203748"/>
                  <a:pt x="483722" y="195467"/>
                  <a:pt x="471003" y="189814"/>
                </a:cubicBezTo>
                <a:cubicBezTo>
                  <a:pt x="458148" y="184162"/>
                  <a:pt x="443942" y="181271"/>
                  <a:pt x="428111" y="181271"/>
                </a:cubicBezTo>
                <a:cubicBezTo>
                  <a:pt x="409844" y="181271"/>
                  <a:pt x="395908" y="184820"/>
                  <a:pt x="386437" y="191654"/>
                </a:cubicBezTo>
                <a:lnTo>
                  <a:pt x="386437" y="191786"/>
                </a:lnTo>
                <a:cubicBezTo>
                  <a:pt x="376829" y="198622"/>
                  <a:pt x="372094" y="207955"/>
                  <a:pt x="372094" y="218602"/>
                </a:cubicBezTo>
                <a:cubicBezTo>
                  <a:pt x="372094" y="229249"/>
                  <a:pt x="375882" y="237663"/>
                  <a:pt x="383595" y="243709"/>
                </a:cubicBezTo>
                <a:cubicBezTo>
                  <a:pt x="391307" y="249756"/>
                  <a:pt x="401185" y="254751"/>
                  <a:pt x="413092" y="258432"/>
                </a:cubicBezTo>
                <a:cubicBezTo>
                  <a:pt x="424998" y="262112"/>
                  <a:pt x="437717" y="265925"/>
                  <a:pt x="451112" y="269605"/>
                </a:cubicBezTo>
                <a:cubicBezTo>
                  <a:pt x="464509" y="273285"/>
                  <a:pt x="477226" y="278281"/>
                  <a:pt x="489405" y="284328"/>
                </a:cubicBezTo>
                <a:cubicBezTo>
                  <a:pt x="501582" y="290506"/>
                  <a:pt x="511460" y="298788"/>
                  <a:pt x="518902" y="309173"/>
                </a:cubicBezTo>
                <a:cubicBezTo>
                  <a:pt x="526344" y="319556"/>
                  <a:pt x="530132" y="333622"/>
                  <a:pt x="530132" y="351367"/>
                </a:cubicBezTo>
                <a:cubicBezTo>
                  <a:pt x="530132" y="376212"/>
                  <a:pt x="520931" y="396061"/>
                  <a:pt x="502529" y="410784"/>
                </a:cubicBezTo>
                <a:cubicBezTo>
                  <a:pt x="484127" y="425638"/>
                  <a:pt x="459096" y="432999"/>
                  <a:pt x="427435" y="432999"/>
                </a:cubicBezTo>
                <a:cubicBezTo>
                  <a:pt x="412009" y="432999"/>
                  <a:pt x="397260" y="430895"/>
                  <a:pt x="383054" y="426821"/>
                </a:cubicBezTo>
                <a:cubicBezTo>
                  <a:pt x="368846" y="422614"/>
                  <a:pt x="355992" y="416830"/>
                  <a:pt x="344491" y="409338"/>
                </a:cubicBezTo>
                <a:cubicBezTo>
                  <a:pt x="332990" y="401845"/>
                  <a:pt x="322978" y="393038"/>
                  <a:pt x="314453" y="382784"/>
                </a:cubicBezTo>
                <a:lnTo>
                  <a:pt x="341785" y="355574"/>
                </a:lnTo>
                <a:cubicBezTo>
                  <a:pt x="353151" y="368982"/>
                  <a:pt x="366005" y="378973"/>
                  <a:pt x="380347" y="385413"/>
                </a:cubicBezTo>
                <a:cubicBezTo>
                  <a:pt x="394690" y="391854"/>
                  <a:pt x="410792" y="395140"/>
                  <a:pt x="428651" y="395140"/>
                </a:cubicBezTo>
                <a:cubicBezTo>
                  <a:pt x="447731" y="395140"/>
                  <a:pt x="462614" y="391592"/>
                  <a:pt x="473303" y="384494"/>
                </a:cubicBezTo>
                <a:cubicBezTo>
                  <a:pt x="483992" y="377395"/>
                  <a:pt x="489405" y="367536"/>
                  <a:pt x="489405" y="354917"/>
                </a:cubicBezTo>
                <a:cubicBezTo>
                  <a:pt x="489405" y="343086"/>
                  <a:pt x="485616" y="333885"/>
                  <a:pt x="477904" y="327180"/>
                </a:cubicBezTo>
                <a:cubicBezTo>
                  <a:pt x="470192" y="320477"/>
                  <a:pt x="460313" y="315218"/>
                  <a:pt x="448407" y="311275"/>
                </a:cubicBezTo>
                <a:cubicBezTo>
                  <a:pt x="436364" y="307331"/>
                  <a:pt x="423781" y="303520"/>
                  <a:pt x="410385" y="299707"/>
                </a:cubicBezTo>
                <a:cubicBezTo>
                  <a:pt x="396990" y="295896"/>
                  <a:pt x="384271" y="291164"/>
                  <a:pt x="372094" y="285511"/>
                </a:cubicBezTo>
                <a:cubicBezTo>
                  <a:pt x="359916" y="279858"/>
                  <a:pt x="350038" y="271840"/>
                  <a:pt x="342597" y="261587"/>
                </a:cubicBezTo>
                <a:cubicBezTo>
                  <a:pt x="335155" y="251334"/>
                  <a:pt x="331366" y="237925"/>
                  <a:pt x="331366" y="221363"/>
                </a:cubicBezTo>
                <a:cubicBezTo>
                  <a:pt x="331366" y="205719"/>
                  <a:pt x="335425" y="191917"/>
                  <a:pt x="343273" y="180350"/>
                </a:cubicBezTo>
                <a:cubicBezTo>
                  <a:pt x="351257" y="168651"/>
                  <a:pt x="362622" y="159581"/>
                  <a:pt x="377371" y="153140"/>
                </a:cubicBezTo>
                <a:cubicBezTo>
                  <a:pt x="392255" y="146698"/>
                  <a:pt x="409709" y="143412"/>
                  <a:pt x="430005" y="143412"/>
                </a:cubicBezTo>
                <a:close/>
                <a:moveTo>
                  <a:pt x="3265626" y="141704"/>
                </a:moveTo>
                <a:lnTo>
                  <a:pt x="3345862" y="141704"/>
                </a:lnTo>
                <a:lnTo>
                  <a:pt x="3345862" y="426953"/>
                </a:lnTo>
                <a:lnTo>
                  <a:pt x="3265626" y="426953"/>
                </a:lnTo>
                <a:close/>
                <a:moveTo>
                  <a:pt x="3533128" y="135921"/>
                </a:moveTo>
                <a:cubicBezTo>
                  <a:pt x="3554235" y="135921"/>
                  <a:pt x="3573042" y="139995"/>
                  <a:pt x="3589685" y="148277"/>
                </a:cubicBezTo>
                <a:cubicBezTo>
                  <a:pt x="3600645" y="153666"/>
                  <a:pt x="3610117" y="160765"/>
                  <a:pt x="3618234" y="169178"/>
                </a:cubicBezTo>
                <a:lnTo>
                  <a:pt x="3618234" y="141704"/>
                </a:lnTo>
                <a:lnTo>
                  <a:pt x="3697254" y="141704"/>
                </a:lnTo>
                <a:lnTo>
                  <a:pt x="3697254" y="426953"/>
                </a:lnTo>
                <a:lnTo>
                  <a:pt x="3618234" y="426953"/>
                </a:lnTo>
                <a:lnTo>
                  <a:pt x="3618234" y="399086"/>
                </a:lnTo>
                <a:cubicBezTo>
                  <a:pt x="3610117" y="407367"/>
                  <a:pt x="3600780" y="414466"/>
                  <a:pt x="3589685" y="420117"/>
                </a:cubicBezTo>
                <a:cubicBezTo>
                  <a:pt x="3573042" y="428662"/>
                  <a:pt x="3554235" y="432868"/>
                  <a:pt x="3533128" y="432868"/>
                </a:cubicBezTo>
                <a:cubicBezTo>
                  <a:pt x="3506336" y="432868"/>
                  <a:pt x="3482253" y="426428"/>
                  <a:pt x="3460738" y="413414"/>
                </a:cubicBezTo>
                <a:cubicBezTo>
                  <a:pt x="3439224" y="400532"/>
                  <a:pt x="3422446" y="382786"/>
                  <a:pt x="3410269" y="360308"/>
                </a:cubicBezTo>
                <a:cubicBezTo>
                  <a:pt x="3398091" y="337830"/>
                  <a:pt x="3392002" y="313116"/>
                  <a:pt x="3392002" y="284724"/>
                </a:cubicBezTo>
                <a:cubicBezTo>
                  <a:pt x="3392002" y="256330"/>
                  <a:pt x="3398091" y="230960"/>
                  <a:pt x="3410269" y="208482"/>
                </a:cubicBezTo>
                <a:cubicBezTo>
                  <a:pt x="3422446" y="186135"/>
                  <a:pt x="3439224" y="168389"/>
                  <a:pt x="3460738" y="155376"/>
                </a:cubicBezTo>
                <a:cubicBezTo>
                  <a:pt x="3482253" y="142362"/>
                  <a:pt x="3506336" y="135921"/>
                  <a:pt x="3533128" y="135921"/>
                </a:cubicBezTo>
                <a:close/>
                <a:moveTo>
                  <a:pt x="3900214" y="135394"/>
                </a:moveTo>
                <a:cubicBezTo>
                  <a:pt x="3923351" y="135394"/>
                  <a:pt x="3944595" y="139469"/>
                  <a:pt x="3964079" y="147750"/>
                </a:cubicBezTo>
                <a:cubicBezTo>
                  <a:pt x="3983564" y="156032"/>
                  <a:pt x="4000342" y="167863"/>
                  <a:pt x="4014548" y="183242"/>
                </a:cubicBezTo>
                <a:lnTo>
                  <a:pt x="3963538" y="233456"/>
                </a:lnTo>
                <a:cubicBezTo>
                  <a:pt x="3955961" y="225175"/>
                  <a:pt x="3946625" y="218866"/>
                  <a:pt x="3935935" y="214528"/>
                </a:cubicBezTo>
                <a:cubicBezTo>
                  <a:pt x="3925110" y="210321"/>
                  <a:pt x="3913339" y="208086"/>
                  <a:pt x="3900350" y="208086"/>
                </a:cubicBezTo>
                <a:cubicBezTo>
                  <a:pt x="3885736" y="208086"/>
                  <a:pt x="3872612" y="211372"/>
                  <a:pt x="3861111" y="217814"/>
                </a:cubicBezTo>
                <a:cubicBezTo>
                  <a:pt x="3849610" y="224255"/>
                  <a:pt x="3840409" y="233194"/>
                  <a:pt x="3833778" y="244366"/>
                </a:cubicBezTo>
                <a:cubicBezTo>
                  <a:pt x="3827149" y="255540"/>
                  <a:pt x="3823766" y="269211"/>
                  <a:pt x="3823766" y="284197"/>
                </a:cubicBezTo>
                <a:cubicBezTo>
                  <a:pt x="3823766" y="299182"/>
                  <a:pt x="3827149" y="312459"/>
                  <a:pt x="3833778" y="324026"/>
                </a:cubicBezTo>
                <a:cubicBezTo>
                  <a:pt x="3840409" y="335725"/>
                  <a:pt x="3849610" y="344795"/>
                  <a:pt x="3861111" y="351236"/>
                </a:cubicBezTo>
                <a:cubicBezTo>
                  <a:pt x="3872747" y="357678"/>
                  <a:pt x="3885736" y="360964"/>
                  <a:pt x="3900350" y="360964"/>
                </a:cubicBezTo>
                <a:cubicBezTo>
                  <a:pt x="3913745" y="360964"/>
                  <a:pt x="3925788" y="358597"/>
                  <a:pt x="3936476" y="354128"/>
                </a:cubicBezTo>
                <a:lnTo>
                  <a:pt x="3936611" y="354392"/>
                </a:lnTo>
                <a:cubicBezTo>
                  <a:pt x="3947301" y="349791"/>
                  <a:pt x="3956502" y="343218"/>
                  <a:pt x="3964214" y="334542"/>
                </a:cubicBezTo>
                <a:lnTo>
                  <a:pt x="4015901" y="384757"/>
                </a:lnTo>
                <a:cubicBezTo>
                  <a:pt x="4000882" y="400530"/>
                  <a:pt x="3983699" y="412493"/>
                  <a:pt x="3964214" y="420774"/>
                </a:cubicBezTo>
                <a:cubicBezTo>
                  <a:pt x="3944730" y="429055"/>
                  <a:pt x="3923486" y="433131"/>
                  <a:pt x="3900350" y="433131"/>
                </a:cubicBezTo>
                <a:cubicBezTo>
                  <a:pt x="3870312" y="433131"/>
                  <a:pt x="3843385" y="426690"/>
                  <a:pt x="3819435" y="413676"/>
                </a:cubicBezTo>
                <a:cubicBezTo>
                  <a:pt x="3795487" y="400793"/>
                  <a:pt x="3776678" y="383048"/>
                  <a:pt x="3762878" y="360570"/>
                </a:cubicBezTo>
                <a:cubicBezTo>
                  <a:pt x="3749077" y="338092"/>
                  <a:pt x="3742176" y="313378"/>
                  <a:pt x="3742176" y="284986"/>
                </a:cubicBezTo>
                <a:cubicBezTo>
                  <a:pt x="3742176" y="256591"/>
                  <a:pt x="3749077" y="231222"/>
                  <a:pt x="3762878" y="208744"/>
                </a:cubicBezTo>
                <a:cubicBezTo>
                  <a:pt x="3776678" y="186266"/>
                  <a:pt x="3795623" y="168388"/>
                  <a:pt x="3819707" y="155243"/>
                </a:cubicBezTo>
                <a:cubicBezTo>
                  <a:pt x="3843792" y="141966"/>
                  <a:pt x="3870582" y="135394"/>
                  <a:pt x="3900214" y="135394"/>
                </a:cubicBezTo>
                <a:close/>
                <a:moveTo>
                  <a:pt x="4512478" y="135263"/>
                </a:moveTo>
                <a:cubicBezTo>
                  <a:pt x="4538051" y="135263"/>
                  <a:pt x="4560240" y="140784"/>
                  <a:pt x="4579049" y="151826"/>
                </a:cubicBezTo>
                <a:cubicBezTo>
                  <a:pt x="4591226" y="158924"/>
                  <a:pt x="4601238" y="168126"/>
                  <a:pt x="4609763" y="179299"/>
                </a:cubicBezTo>
                <a:cubicBezTo>
                  <a:pt x="4618288" y="168257"/>
                  <a:pt x="4628300" y="158924"/>
                  <a:pt x="4640206" y="151826"/>
                </a:cubicBezTo>
                <a:cubicBezTo>
                  <a:pt x="4658878" y="140784"/>
                  <a:pt x="4680258" y="135263"/>
                  <a:pt x="4707048" y="135263"/>
                </a:cubicBezTo>
                <a:cubicBezTo>
                  <a:pt x="4733839" y="135263"/>
                  <a:pt x="4757111" y="140784"/>
                  <a:pt x="4776730" y="151563"/>
                </a:cubicBezTo>
                <a:cubicBezTo>
                  <a:pt x="4796350" y="162342"/>
                  <a:pt x="4811640" y="177196"/>
                  <a:pt x="4822600" y="196124"/>
                </a:cubicBezTo>
                <a:lnTo>
                  <a:pt x="4822735" y="195993"/>
                </a:lnTo>
                <a:cubicBezTo>
                  <a:pt x="4833695" y="214922"/>
                  <a:pt x="4839107" y="236744"/>
                  <a:pt x="4839107" y="261587"/>
                </a:cubicBezTo>
                <a:lnTo>
                  <a:pt x="4839107" y="426953"/>
                </a:lnTo>
                <a:lnTo>
                  <a:pt x="4758871" y="426953"/>
                </a:lnTo>
                <a:lnTo>
                  <a:pt x="4758871" y="267503"/>
                </a:lnTo>
                <a:cubicBezTo>
                  <a:pt x="4758871" y="248311"/>
                  <a:pt x="4754269" y="233325"/>
                  <a:pt x="4744935" y="222678"/>
                </a:cubicBezTo>
                <a:cubicBezTo>
                  <a:pt x="4735598" y="212030"/>
                  <a:pt x="4721661" y="206773"/>
                  <a:pt x="4704207" y="206773"/>
                </a:cubicBezTo>
                <a:cubicBezTo>
                  <a:pt x="4686752" y="206773"/>
                  <a:pt x="4673357" y="212030"/>
                  <a:pt x="4664020" y="222415"/>
                </a:cubicBezTo>
                <a:cubicBezTo>
                  <a:pt x="4654684" y="232931"/>
                  <a:pt x="4650085" y="247917"/>
                  <a:pt x="4650085" y="267634"/>
                </a:cubicBezTo>
                <a:lnTo>
                  <a:pt x="4650085" y="427084"/>
                </a:lnTo>
                <a:lnTo>
                  <a:pt x="4569848" y="427084"/>
                </a:lnTo>
                <a:lnTo>
                  <a:pt x="4569848" y="267634"/>
                </a:lnTo>
                <a:cubicBezTo>
                  <a:pt x="4569848" y="247917"/>
                  <a:pt x="4565247" y="232800"/>
                  <a:pt x="4555910" y="222415"/>
                </a:cubicBezTo>
                <a:cubicBezTo>
                  <a:pt x="4546574" y="212030"/>
                  <a:pt x="4532638" y="206773"/>
                  <a:pt x="4515183" y="206773"/>
                </a:cubicBezTo>
                <a:cubicBezTo>
                  <a:pt x="4497729" y="206773"/>
                  <a:pt x="4484199" y="212030"/>
                  <a:pt x="4474727" y="222415"/>
                </a:cubicBezTo>
                <a:cubicBezTo>
                  <a:pt x="4465119" y="232931"/>
                  <a:pt x="4460384" y="247917"/>
                  <a:pt x="4460384" y="267634"/>
                </a:cubicBezTo>
                <a:lnTo>
                  <a:pt x="4460384" y="427084"/>
                </a:lnTo>
                <a:lnTo>
                  <a:pt x="4380688" y="427084"/>
                </a:lnTo>
                <a:lnTo>
                  <a:pt x="4380688" y="261719"/>
                </a:lnTo>
                <a:cubicBezTo>
                  <a:pt x="4380688" y="236875"/>
                  <a:pt x="4386101" y="215054"/>
                  <a:pt x="4397061" y="196124"/>
                </a:cubicBezTo>
                <a:cubicBezTo>
                  <a:pt x="4407886" y="177196"/>
                  <a:pt x="4423310" y="162342"/>
                  <a:pt x="4443201" y="151563"/>
                </a:cubicBezTo>
                <a:cubicBezTo>
                  <a:pt x="4462955" y="140653"/>
                  <a:pt x="4486904" y="135263"/>
                  <a:pt x="4512478" y="135263"/>
                </a:cubicBezTo>
                <a:close/>
                <a:moveTo>
                  <a:pt x="4185441" y="135131"/>
                </a:moveTo>
                <a:cubicBezTo>
                  <a:pt x="4215343" y="135131"/>
                  <a:pt x="4242270" y="141835"/>
                  <a:pt x="4265948" y="154980"/>
                </a:cubicBezTo>
                <a:cubicBezTo>
                  <a:pt x="4289762" y="168124"/>
                  <a:pt x="4308434" y="185870"/>
                  <a:pt x="4322237" y="208086"/>
                </a:cubicBezTo>
                <a:cubicBezTo>
                  <a:pt x="4336037" y="230301"/>
                  <a:pt x="4342938" y="255540"/>
                  <a:pt x="4342938" y="283407"/>
                </a:cubicBezTo>
                <a:cubicBezTo>
                  <a:pt x="4342938" y="311275"/>
                  <a:pt x="4336037" y="336645"/>
                  <a:pt x="4322237" y="359255"/>
                </a:cubicBezTo>
                <a:cubicBezTo>
                  <a:pt x="4308434" y="381865"/>
                  <a:pt x="4289627" y="399873"/>
                  <a:pt x="4265948" y="413019"/>
                </a:cubicBezTo>
                <a:cubicBezTo>
                  <a:pt x="4242270" y="426294"/>
                  <a:pt x="4215614" y="432868"/>
                  <a:pt x="4185981" y="432868"/>
                </a:cubicBezTo>
                <a:cubicBezTo>
                  <a:pt x="4156351" y="432868"/>
                  <a:pt x="4129694" y="426163"/>
                  <a:pt x="4106017" y="413019"/>
                </a:cubicBezTo>
                <a:cubicBezTo>
                  <a:pt x="4082337" y="399873"/>
                  <a:pt x="4063395" y="381865"/>
                  <a:pt x="4049457" y="359255"/>
                </a:cubicBezTo>
                <a:cubicBezTo>
                  <a:pt x="4035522" y="336645"/>
                  <a:pt x="4028485" y="311407"/>
                  <a:pt x="4028485" y="283407"/>
                </a:cubicBezTo>
                <a:cubicBezTo>
                  <a:pt x="4028485" y="255409"/>
                  <a:pt x="4035386" y="230301"/>
                  <a:pt x="4049187" y="208086"/>
                </a:cubicBezTo>
                <a:cubicBezTo>
                  <a:pt x="4062988" y="185870"/>
                  <a:pt x="4081797" y="168124"/>
                  <a:pt x="4105745" y="154980"/>
                </a:cubicBezTo>
                <a:cubicBezTo>
                  <a:pt x="4129694" y="141703"/>
                  <a:pt x="4155538" y="135131"/>
                  <a:pt x="4185441" y="135131"/>
                </a:cubicBezTo>
                <a:close/>
                <a:moveTo>
                  <a:pt x="2712764" y="135131"/>
                </a:moveTo>
                <a:cubicBezTo>
                  <a:pt x="2741178" y="135131"/>
                  <a:pt x="2766211" y="141440"/>
                  <a:pt x="2787859" y="153797"/>
                </a:cubicBezTo>
                <a:lnTo>
                  <a:pt x="2787994" y="153665"/>
                </a:lnTo>
                <a:cubicBezTo>
                  <a:pt x="2809644" y="166021"/>
                  <a:pt x="2826692" y="182978"/>
                  <a:pt x="2839005" y="204406"/>
                </a:cubicBezTo>
                <a:cubicBezTo>
                  <a:pt x="2851317" y="225832"/>
                  <a:pt x="2857542" y="250150"/>
                  <a:pt x="2857542" y="277360"/>
                </a:cubicBezTo>
                <a:cubicBezTo>
                  <a:pt x="2857542" y="282488"/>
                  <a:pt x="2857135" y="287745"/>
                  <a:pt x="2856595" y="293004"/>
                </a:cubicBezTo>
                <a:cubicBezTo>
                  <a:pt x="2855919" y="298261"/>
                  <a:pt x="2854836" y="304308"/>
                  <a:pt x="2853212" y="311013"/>
                </a:cubicBezTo>
                <a:lnTo>
                  <a:pt x="2638751" y="311538"/>
                </a:lnTo>
                <a:cubicBezTo>
                  <a:pt x="2640375" y="317322"/>
                  <a:pt x="2642269" y="322842"/>
                  <a:pt x="2644976" y="327838"/>
                </a:cubicBezTo>
                <a:cubicBezTo>
                  <a:pt x="2651605" y="340721"/>
                  <a:pt x="2661212" y="350579"/>
                  <a:pt x="2673796" y="357415"/>
                </a:cubicBezTo>
                <a:cubicBezTo>
                  <a:pt x="2686244" y="364381"/>
                  <a:pt x="2700858" y="367800"/>
                  <a:pt x="2717500" y="367800"/>
                </a:cubicBezTo>
                <a:cubicBezTo>
                  <a:pt x="2732519" y="367800"/>
                  <a:pt x="2746050" y="365433"/>
                  <a:pt x="2758226" y="360437"/>
                </a:cubicBezTo>
                <a:cubicBezTo>
                  <a:pt x="2770405" y="355442"/>
                  <a:pt x="2780959" y="348081"/>
                  <a:pt x="2789888" y="338223"/>
                </a:cubicBezTo>
                <a:lnTo>
                  <a:pt x="2836704" y="383705"/>
                </a:lnTo>
                <a:cubicBezTo>
                  <a:pt x="2822498" y="399873"/>
                  <a:pt x="2805179" y="412098"/>
                  <a:pt x="2784748" y="420379"/>
                </a:cubicBezTo>
                <a:cubicBezTo>
                  <a:pt x="2764316" y="428661"/>
                  <a:pt x="2742126" y="432735"/>
                  <a:pt x="2718176" y="432735"/>
                </a:cubicBezTo>
                <a:cubicBezTo>
                  <a:pt x="2687326" y="432735"/>
                  <a:pt x="2659995" y="426294"/>
                  <a:pt x="2636045" y="413544"/>
                </a:cubicBezTo>
                <a:cubicBezTo>
                  <a:pt x="2612096" y="400793"/>
                  <a:pt x="2593153" y="383179"/>
                  <a:pt x="2579216" y="360701"/>
                </a:cubicBezTo>
                <a:cubicBezTo>
                  <a:pt x="2565280" y="338223"/>
                  <a:pt x="2558244" y="312196"/>
                  <a:pt x="2558244" y="283934"/>
                </a:cubicBezTo>
                <a:cubicBezTo>
                  <a:pt x="2558244" y="255671"/>
                  <a:pt x="2565145" y="230301"/>
                  <a:pt x="2578675" y="208086"/>
                </a:cubicBezTo>
                <a:cubicBezTo>
                  <a:pt x="2592205" y="185870"/>
                  <a:pt x="2610742" y="168124"/>
                  <a:pt x="2634286" y="154980"/>
                </a:cubicBezTo>
                <a:cubicBezTo>
                  <a:pt x="2657829" y="141703"/>
                  <a:pt x="2684350" y="135131"/>
                  <a:pt x="2712764" y="135131"/>
                </a:cubicBezTo>
                <a:close/>
                <a:moveTo>
                  <a:pt x="2194810" y="135131"/>
                </a:moveTo>
                <a:cubicBezTo>
                  <a:pt x="2220382" y="135131"/>
                  <a:pt x="2242573" y="140651"/>
                  <a:pt x="2261380" y="151694"/>
                </a:cubicBezTo>
                <a:cubicBezTo>
                  <a:pt x="2273558" y="158791"/>
                  <a:pt x="2283570" y="167994"/>
                  <a:pt x="2292095" y="179167"/>
                </a:cubicBezTo>
                <a:cubicBezTo>
                  <a:pt x="2300620" y="168124"/>
                  <a:pt x="2310632" y="158791"/>
                  <a:pt x="2322539" y="151694"/>
                </a:cubicBezTo>
                <a:cubicBezTo>
                  <a:pt x="2341211" y="140651"/>
                  <a:pt x="2362590" y="135131"/>
                  <a:pt x="2389381" y="135131"/>
                </a:cubicBezTo>
                <a:cubicBezTo>
                  <a:pt x="2416171" y="135131"/>
                  <a:pt x="2439444" y="140651"/>
                  <a:pt x="2459063" y="151430"/>
                </a:cubicBezTo>
                <a:lnTo>
                  <a:pt x="2459199" y="151300"/>
                </a:lnTo>
                <a:cubicBezTo>
                  <a:pt x="2478818" y="162079"/>
                  <a:pt x="2494108" y="176933"/>
                  <a:pt x="2505068" y="195861"/>
                </a:cubicBezTo>
                <a:cubicBezTo>
                  <a:pt x="2516028" y="214789"/>
                  <a:pt x="2521440" y="236611"/>
                  <a:pt x="2521440" y="261454"/>
                </a:cubicBezTo>
                <a:lnTo>
                  <a:pt x="2521440" y="426821"/>
                </a:lnTo>
                <a:lnTo>
                  <a:pt x="2441203" y="426821"/>
                </a:lnTo>
                <a:lnTo>
                  <a:pt x="2441203" y="267371"/>
                </a:lnTo>
                <a:cubicBezTo>
                  <a:pt x="2441203" y="248179"/>
                  <a:pt x="2436603" y="233193"/>
                  <a:pt x="2427266" y="222546"/>
                </a:cubicBezTo>
                <a:cubicBezTo>
                  <a:pt x="2417930" y="211898"/>
                  <a:pt x="2403994" y="206640"/>
                  <a:pt x="2386540" y="206640"/>
                </a:cubicBezTo>
                <a:cubicBezTo>
                  <a:pt x="2369084" y="206640"/>
                  <a:pt x="2355689" y="211898"/>
                  <a:pt x="2346353" y="222283"/>
                </a:cubicBezTo>
                <a:cubicBezTo>
                  <a:pt x="2337017" y="232799"/>
                  <a:pt x="2332416" y="247785"/>
                  <a:pt x="2332416" y="267502"/>
                </a:cubicBezTo>
                <a:lnTo>
                  <a:pt x="2332416" y="426952"/>
                </a:lnTo>
                <a:lnTo>
                  <a:pt x="2252179" y="426952"/>
                </a:lnTo>
                <a:lnTo>
                  <a:pt x="2252179" y="267502"/>
                </a:lnTo>
                <a:cubicBezTo>
                  <a:pt x="2252179" y="247785"/>
                  <a:pt x="2247579" y="232668"/>
                  <a:pt x="2238243" y="222283"/>
                </a:cubicBezTo>
                <a:cubicBezTo>
                  <a:pt x="2228907" y="211898"/>
                  <a:pt x="2214971" y="206640"/>
                  <a:pt x="2197516" y="206640"/>
                </a:cubicBezTo>
                <a:cubicBezTo>
                  <a:pt x="2180062" y="206640"/>
                  <a:pt x="2166531" y="211898"/>
                  <a:pt x="2157059" y="222283"/>
                </a:cubicBezTo>
                <a:cubicBezTo>
                  <a:pt x="2147452" y="232799"/>
                  <a:pt x="2142717" y="247785"/>
                  <a:pt x="2142717" y="267502"/>
                </a:cubicBezTo>
                <a:lnTo>
                  <a:pt x="2142717" y="426952"/>
                </a:lnTo>
                <a:lnTo>
                  <a:pt x="2063021" y="426952"/>
                </a:lnTo>
                <a:lnTo>
                  <a:pt x="2063021" y="261587"/>
                </a:lnTo>
                <a:cubicBezTo>
                  <a:pt x="2063021" y="236742"/>
                  <a:pt x="2068434" y="214922"/>
                  <a:pt x="2079394" y="195992"/>
                </a:cubicBezTo>
                <a:cubicBezTo>
                  <a:pt x="2090218" y="177064"/>
                  <a:pt x="2105643" y="162210"/>
                  <a:pt x="2125533" y="151430"/>
                </a:cubicBezTo>
                <a:cubicBezTo>
                  <a:pt x="2145287" y="140520"/>
                  <a:pt x="2169237" y="135131"/>
                  <a:pt x="2194810" y="135131"/>
                </a:cubicBezTo>
                <a:close/>
                <a:moveTo>
                  <a:pt x="3305677" y="7098"/>
                </a:moveTo>
                <a:cubicBezTo>
                  <a:pt x="3318937" y="7098"/>
                  <a:pt x="3329897" y="11435"/>
                  <a:pt x="3338152" y="20111"/>
                </a:cubicBezTo>
                <a:cubicBezTo>
                  <a:pt x="3346405" y="28787"/>
                  <a:pt x="3350599" y="38778"/>
                  <a:pt x="3350599" y="51397"/>
                </a:cubicBezTo>
                <a:cubicBezTo>
                  <a:pt x="3350599" y="64015"/>
                  <a:pt x="3346405" y="74533"/>
                  <a:pt x="3338152" y="82945"/>
                </a:cubicBezTo>
                <a:cubicBezTo>
                  <a:pt x="3329897" y="91489"/>
                  <a:pt x="3318667" y="95695"/>
                  <a:pt x="3305677" y="95695"/>
                </a:cubicBezTo>
                <a:cubicBezTo>
                  <a:pt x="3292688" y="95695"/>
                  <a:pt x="3281998" y="91358"/>
                  <a:pt x="3273475" y="82945"/>
                </a:cubicBezTo>
                <a:cubicBezTo>
                  <a:pt x="3264950" y="74533"/>
                  <a:pt x="3260756" y="63621"/>
                  <a:pt x="3260756" y="51397"/>
                </a:cubicBezTo>
                <a:cubicBezTo>
                  <a:pt x="3260756" y="39172"/>
                  <a:pt x="3264950" y="28787"/>
                  <a:pt x="3273475" y="20111"/>
                </a:cubicBezTo>
                <a:cubicBezTo>
                  <a:pt x="3281998" y="11435"/>
                  <a:pt x="3292688" y="7098"/>
                  <a:pt x="3305677" y="7098"/>
                </a:cubicBezTo>
                <a:close/>
                <a:moveTo>
                  <a:pt x="3121525" y="0"/>
                </a:moveTo>
                <a:lnTo>
                  <a:pt x="3201221" y="0"/>
                </a:lnTo>
                <a:lnTo>
                  <a:pt x="3201221" y="426953"/>
                </a:lnTo>
                <a:lnTo>
                  <a:pt x="3122201" y="426953"/>
                </a:lnTo>
                <a:lnTo>
                  <a:pt x="3122201" y="400795"/>
                </a:lnTo>
                <a:cubicBezTo>
                  <a:pt x="3114488" y="408156"/>
                  <a:pt x="3105558" y="414728"/>
                  <a:pt x="3095411" y="419854"/>
                </a:cubicBezTo>
                <a:cubicBezTo>
                  <a:pt x="3078497" y="428530"/>
                  <a:pt x="3059419" y="432868"/>
                  <a:pt x="3038311" y="432868"/>
                </a:cubicBezTo>
                <a:cubicBezTo>
                  <a:pt x="3011115" y="432868"/>
                  <a:pt x="2986895" y="426428"/>
                  <a:pt x="2965381" y="413414"/>
                </a:cubicBezTo>
                <a:cubicBezTo>
                  <a:pt x="2943868" y="400532"/>
                  <a:pt x="2926954" y="382786"/>
                  <a:pt x="2914641" y="360308"/>
                </a:cubicBezTo>
                <a:cubicBezTo>
                  <a:pt x="2902327" y="337830"/>
                  <a:pt x="2896104" y="313116"/>
                  <a:pt x="2896104" y="284724"/>
                </a:cubicBezTo>
                <a:cubicBezTo>
                  <a:pt x="2896104" y="256330"/>
                  <a:pt x="2902327" y="230960"/>
                  <a:pt x="2914641" y="208482"/>
                </a:cubicBezTo>
                <a:cubicBezTo>
                  <a:pt x="2926954" y="186135"/>
                  <a:pt x="2943868" y="168389"/>
                  <a:pt x="2965110" y="155376"/>
                </a:cubicBezTo>
                <a:cubicBezTo>
                  <a:pt x="2986353" y="142362"/>
                  <a:pt x="3010709" y="135921"/>
                  <a:pt x="3038311" y="135921"/>
                </a:cubicBezTo>
                <a:cubicBezTo>
                  <a:pt x="3059419" y="135921"/>
                  <a:pt x="3078362" y="139995"/>
                  <a:pt x="3095140" y="148277"/>
                </a:cubicBezTo>
                <a:cubicBezTo>
                  <a:pt x="3105152" y="153272"/>
                  <a:pt x="3113812" y="159450"/>
                  <a:pt x="3121525" y="16668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algn="l">
              <a:lnSpc>
                <a:spcPct val="80000"/>
              </a:lnSpc>
              <a:spcAft>
                <a:spcPts val="600"/>
              </a:spcAft>
              <a:defRPr sz="100" b="0">
                <a:noFill/>
                <a:latin typeface="+mn-lt"/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3600" b="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12278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3E2D861-3CBF-27C2-8E2B-DED3EDFB82BA}"/>
              </a:ext>
            </a:extLst>
          </p:cNvPr>
          <p:cNvSpPr/>
          <p:nvPr userDrawn="1"/>
        </p:nvSpPr>
        <p:spPr>
          <a:xfrm>
            <a:off x="0" y="-1"/>
            <a:ext cx="320675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AF39E-76CB-396B-E689-B646697B6C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C0A0410-718F-647E-2293-D8ADDF4C848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06751" y="0"/>
            <a:ext cx="3848100" cy="6858000"/>
          </a:xfrm>
          <a:solidFill>
            <a:schemeClr val="bg1">
              <a:lumMod val="5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734993-CF7B-54A0-5959-C84728AA0A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51285" y="2743200"/>
            <a:ext cx="4624039" cy="2743200"/>
          </a:xfrm>
          <a:solidFill>
            <a:schemeClr val="tx1"/>
          </a:solidFill>
        </p:spPr>
        <p:txBody>
          <a:bodyPr anchor="ctr"/>
          <a:lstStyle>
            <a:lvl1pPr>
              <a:lnSpc>
                <a:spcPct val="80000"/>
              </a:lnSpc>
              <a:spcAft>
                <a:spcPts val="0"/>
              </a:spcAft>
              <a:defRPr sz="7200">
                <a:solidFill>
                  <a:schemeClr val="tx2"/>
                </a:solidFill>
                <a:latin typeface="+mn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Today’s agenda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26C92EE-3BFD-03D8-7F01-5532E462A69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5382" y="2743200"/>
            <a:ext cx="18000" cy="4114800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93635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#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B593C7AC-B9D0-282F-EBD2-51F113FF92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2" y="4111626"/>
            <a:ext cx="12192001" cy="2746374"/>
          </a:xfrm>
          <a:solidFill>
            <a:schemeClr val="bg1">
              <a:lumMod val="5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FBE7641-F57F-F92A-2983-3D4F8C49A37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j-lt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1132A5-E10E-09F0-EFB9-DF28BCE3E5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AE127-4BA8-A6AB-D730-5E29D8589C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2D1BFDB-E032-956C-D200-058837957A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350" y="565535"/>
            <a:ext cx="8340725" cy="3546090"/>
          </a:xfrm>
        </p:spPr>
        <p:txBody>
          <a:bodyPr/>
          <a:lstStyle>
            <a:lvl1pPr>
              <a:lnSpc>
                <a:spcPct val="90000"/>
              </a:lnSpc>
              <a:defRPr sz="5400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Statement goes here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809670F-B8FC-84F8-7947-249DE69D7406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j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j-lt"/>
              </a:rPr>
              <a:t>Go to ‘Design’ &gt; ‘Format Background’ &gt; choose colour 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F14410E-5D17-5CB8-A8EE-CC9BA28A38B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j-lt"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2707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#2 - no li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B593C7AC-B9D0-282F-EBD2-51F113FF92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352"/>
            <a:ext cx="12193199" cy="6851647"/>
          </a:xfrm>
          <a:solidFill>
            <a:schemeClr val="bg1">
              <a:lumMod val="50000"/>
            </a:schemeClr>
          </a:solidFill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1132A5-E10E-09F0-EFB9-DF28BCE3E5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AE127-4BA8-A6AB-D730-5E29D8589C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2D1BFDB-E032-956C-D200-058837957A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350" y="565534"/>
            <a:ext cx="8340725" cy="4920869"/>
          </a:xfrm>
        </p:spPr>
        <p:txBody>
          <a:bodyPr/>
          <a:lstStyle>
            <a:lvl1pPr>
              <a:lnSpc>
                <a:spcPct val="90000"/>
              </a:lnSpc>
              <a:defRPr sz="540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defRPr sz="48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Statement goes here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00F05D-DAC8-C4F7-0EA7-056F3103328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Century Gothic" panose="020B0502020202020204" pitchFamily="34" charset="0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76605BC-D1A2-2A81-7E74-835AFE25F90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Century Gothic" panose="020B0502020202020204" pitchFamily="34" charset="0"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6669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slide - fullblee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B593C7AC-B9D0-282F-EBD2-51F113FF92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600" y="3176"/>
            <a:ext cx="12193200" cy="68580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1132A5-E10E-09F0-EFB9-DF28BCE3E5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AE127-4BA8-A6AB-D730-5E29D8589C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2D1BFDB-E032-956C-D200-058837957A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-600" y="0"/>
            <a:ext cx="12193200" cy="6858000"/>
          </a:xfrm>
          <a:gradFill flip="none" rotWithShape="1"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20000"/>
                </a:schemeClr>
              </a:gs>
            </a:gsLst>
            <a:lin ang="0" scaled="1"/>
            <a:tileRect/>
          </a:gradFill>
        </p:spPr>
        <p:txBody>
          <a:bodyPr lIns="756000" tIns="612000" rIns="2520000" bIns="1152000" anchor="ctr"/>
          <a:lstStyle>
            <a:lvl1pPr algn="l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  <a:lvl2pPr>
              <a:defRPr sz="48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Statement goes here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E7E634-AF48-508C-4F98-C9A52D5559B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637005F-1A60-112F-D82E-4031801A8BD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79689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black - no li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1132A5-E10E-09F0-EFB9-DF28BCE3E5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AE127-4BA8-A6AB-D730-5E29D8589C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B593C7AC-B9D0-282F-EBD2-51F113FF92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6096000" cy="6169026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332F8C-B815-6103-1445-DCD4B5213E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47275" y="682625"/>
            <a:ext cx="4608137" cy="4803775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  <a:latin typeface="+mn-lt"/>
              </a:defRPr>
            </a:lvl1pPr>
            <a:lvl2pPr>
              <a:spcBef>
                <a:spcPts val="1200"/>
              </a:spcBef>
              <a:spcAft>
                <a:spcPts val="0"/>
              </a:spcAft>
              <a:defRPr sz="1400" b="1">
                <a:solidFill>
                  <a:schemeClr val="tx2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Name Surname | Job title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58816A0-7F4C-A0E8-E5DF-4FE91345C726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400815545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041E472-8863-8385-9109-667D51109C7F}"/>
              </a:ext>
            </a:extLst>
          </p:cNvPr>
          <p:cNvSpPr/>
          <p:nvPr userDrawn="1"/>
        </p:nvSpPr>
        <p:spPr>
          <a:xfrm>
            <a:off x="0" y="0"/>
            <a:ext cx="3206749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8A935D-BA3E-0738-5972-5C2279612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F8F76B5F-DF92-A4B6-51C3-14FF64323A4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06749" y="0"/>
            <a:ext cx="8986449" cy="3430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3A808CE-512E-DE29-9C19-6468B8F5F3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5827"/>
            <a:ext cx="6418800" cy="3432173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72378C0-6435-673B-4F55-858BB9D8F7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A4CBBB61-1CA3-AE90-FB7E-57CF0C1E365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8361" y="3435353"/>
            <a:ext cx="4938723" cy="3422647"/>
          </a:xfrm>
        </p:spPr>
        <p:txBody>
          <a:bodyPr anchor="ctr"/>
          <a:lstStyle>
            <a:lvl1pPr algn="l">
              <a:lnSpc>
                <a:spcPct val="80000"/>
              </a:lnSpc>
              <a:spcAft>
                <a:spcPts val="600"/>
              </a:spcAft>
              <a:defRPr sz="2000" b="1">
                <a:solidFill>
                  <a:schemeClr val="tx1"/>
                </a:solidFill>
                <a:latin typeface="+mn-lt"/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4400">
                <a:solidFill>
                  <a:schemeClr val="tx1"/>
                </a:solidFill>
                <a:latin typeface="+mn-lt"/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Section two</a:t>
            </a:r>
          </a:p>
          <a:p>
            <a:pPr lvl="1"/>
            <a:r>
              <a:rPr lang="en-GB"/>
              <a:t>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7C266FA-1092-3E8A-D45B-11D08E3F2BE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5379" y="682626"/>
            <a:ext cx="18000" cy="2752728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2ABFC6FF-FB5C-1258-B6C6-DF37BD2EB3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5011" y="638795"/>
            <a:ext cx="2431738" cy="2104406"/>
          </a:xfrm>
        </p:spPr>
        <p:txBody>
          <a:bodyPr anchor="t"/>
          <a:lstStyle>
            <a:lvl1pPr algn="l">
              <a:lnSpc>
                <a:spcPct val="80000"/>
              </a:lnSpc>
              <a:spcAft>
                <a:spcPts val="600"/>
              </a:spcAft>
              <a:defRPr sz="9600" b="0">
                <a:ln w="31750">
                  <a:solidFill>
                    <a:schemeClr val="tx2"/>
                  </a:solidFill>
                </a:ln>
                <a:solidFill>
                  <a:schemeClr val="bg1"/>
                </a:solidFill>
                <a:latin typeface="+mn-lt"/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440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2D383-0134-29F6-11D1-C077B02EEF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18231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- creativ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87434F8-0B19-5D62-5DC7-46461B2E219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8340725" cy="6858000"/>
          </a:xfrm>
          <a:solidFill>
            <a:schemeClr val="bg2"/>
          </a:solidFill>
        </p:spPr>
        <p:txBody>
          <a:bodyPr/>
          <a:lstStyle>
            <a:lvl1pPr>
              <a:defRPr sz="100">
                <a:noFill/>
                <a:latin typeface="+mj-lt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8A935D-BA3E-0738-5972-5C2279612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2D383-0134-29F6-11D1-C077B02EEF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BD7371F5-C9C3-C0B3-BFD0-5D46E819277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924051" y="1368425"/>
            <a:ext cx="8340725" cy="411797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5C096FAA-7ED7-A6E1-95EF-4FBA05013D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21287" y="3886199"/>
            <a:ext cx="5234127" cy="2965447"/>
          </a:xfrm>
        </p:spPr>
        <p:txBody>
          <a:bodyPr anchor="t"/>
          <a:lstStyle>
            <a:lvl1pPr algn="l">
              <a:lnSpc>
                <a:spcPct val="80000"/>
              </a:lnSpc>
              <a:spcAft>
                <a:spcPts val="600"/>
              </a:spcAft>
              <a:defRPr sz="2000" b="1">
                <a:solidFill>
                  <a:schemeClr val="bg1"/>
                </a:solidFill>
                <a:effectLst>
                  <a:outerShdw blurRad="254000" algn="ctr" rotWithShape="0">
                    <a:prstClr val="black">
                      <a:alpha val="85000"/>
                    </a:prstClr>
                  </a:outerShdw>
                </a:effectLst>
                <a:latin typeface="+mj-lt"/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4400">
                <a:solidFill>
                  <a:schemeClr val="bg1"/>
                </a:solidFill>
                <a:effectLst>
                  <a:outerShdw blurRad="254000" algn="ctr" rotWithShape="0">
                    <a:prstClr val="black">
                      <a:alpha val="85000"/>
                    </a:prstClr>
                  </a:outerShdw>
                </a:effectLst>
                <a:latin typeface="+mj-lt"/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Section one</a:t>
            </a:r>
          </a:p>
          <a:p>
            <a:pPr lvl="1"/>
            <a:r>
              <a:rPr lang="en-GB"/>
              <a:t>Title goes here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C3E5F0D1-7835-B64B-31A3-EF47ADE9A0C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5379" y="682625"/>
            <a:ext cx="18000" cy="6169025"/>
          </a:xfrm>
          <a:solidFill>
            <a:schemeClr val="bg1"/>
          </a:solidFill>
        </p:spPr>
        <p:txBody>
          <a:bodyPr lIns="0" tIns="0" rIns="0" bIns="0"/>
          <a:lstStyle>
            <a:lvl1pPr>
              <a:defRPr sz="100">
                <a:noFill/>
                <a:latin typeface="+mj-lt"/>
              </a:defRPr>
            </a:lvl1pPr>
          </a:lstStyle>
          <a:p>
            <a:pPr lvl="0"/>
            <a:endParaRPr lang="en-GB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B46FEEB-5D4C-2B09-7615-1FF398890E1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16274" y="638794"/>
            <a:ext cx="4014526" cy="2790205"/>
          </a:xfrm>
        </p:spPr>
        <p:txBody>
          <a:bodyPr anchor="t"/>
          <a:lstStyle>
            <a:lvl1pPr algn="l">
              <a:lnSpc>
                <a:spcPct val="80000"/>
              </a:lnSpc>
              <a:spcAft>
                <a:spcPts val="600"/>
              </a:spcAft>
              <a:defRPr sz="19900" b="0">
                <a:ln w="31750">
                  <a:noFill/>
                </a:ln>
                <a:solidFill>
                  <a:schemeClr val="bg1"/>
                </a:solidFill>
                <a:latin typeface="+mj-lt"/>
              </a:defRPr>
            </a:lvl1pPr>
            <a:lvl2pPr algn="l">
              <a:lnSpc>
                <a:spcPct val="80000"/>
              </a:lnSpc>
              <a:spcAft>
                <a:spcPts val="600"/>
              </a:spcAft>
              <a:defRPr sz="4400">
                <a:solidFill>
                  <a:schemeClr val="bg1"/>
                </a:solidFill>
              </a:defRPr>
            </a:lvl2pPr>
            <a:lvl3pPr marL="0" indent="0" algn="r">
              <a:buNone/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DF3AE8E2-F83E-7A07-ECFF-31F1C21F359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j-lt"/>
              </a:defRPr>
            </a:lvl1pPr>
          </a:lstStyle>
          <a:p>
            <a:pPr lvl="0"/>
            <a:endParaRPr lang="en-GB"/>
          </a:p>
        </p:txBody>
      </p:sp>
      <p:sp>
        <p:nvSpPr>
          <p:cNvPr id="20" name="Text Placeholder 23">
            <a:extLst>
              <a:ext uri="{FF2B5EF4-FFF2-40B4-BE49-F238E27FC236}">
                <a16:creationId xmlns:a16="http://schemas.microsoft.com/office/drawing/2014/main" id="{DC1351AA-BC98-8677-8244-5D0CE4124AE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j-lt"/>
              </a:defRPr>
            </a:lvl1pPr>
          </a:lstStyle>
          <a:p>
            <a:pPr lvl="0"/>
            <a:endParaRPr lang="en-GB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063FE6B-2770-5C5A-3C6B-DE0C34A3ED10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j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j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9265922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bile devic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0319BC-9031-AD03-354D-EE82B71D89B0}"/>
              </a:ext>
            </a:extLst>
          </p:cNvPr>
          <p:cNvSpPr/>
          <p:nvPr userDrawn="1"/>
        </p:nvSpPr>
        <p:spPr>
          <a:xfrm>
            <a:off x="0" y="0"/>
            <a:ext cx="60960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086495-536E-5EDB-1A79-275F3445CD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31671" y="335508"/>
            <a:ext cx="2620800" cy="5503863"/>
          </a:xfrm>
          <a:prstGeom prst="roundRect">
            <a:avLst>
              <a:gd name="adj" fmla="val 12251"/>
            </a:avLst>
          </a:prstGeom>
          <a:solidFill>
            <a:schemeClr val="tx1"/>
          </a:solidFill>
        </p:spPr>
        <p:txBody>
          <a:bodyPr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9DA14-F412-C05D-03DD-823D4725CC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279724"/>
            <a:ext cx="4793736" cy="108870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Mobile device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1939156-7FA2-DACC-E1CA-89BB520E83D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914865" y="407983"/>
            <a:ext cx="2454413" cy="5358912"/>
          </a:xfrm>
          <a:custGeom>
            <a:avLst/>
            <a:gdLst>
              <a:gd name="connsiteX0" fmla="*/ 256226 w 2454413"/>
              <a:gd name="connsiteY0" fmla="*/ 84 h 5358912"/>
              <a:gd name="connsiteX1" fmla="*/ 409999 w 2454413"/>
              <a:gd name="connsiteY1" fmla="*/ 833 h 5358912"/>
              <a:gd name="connsiteX2" fmla="*/ 532204 w 2454413"/>
              <a:gd name="connsiteY2" fmla="*/ 84 h 5358912"/>
              <a:gd name="connsiteX3" fmla="*/ 646470 w 2454413"/>
              <a:gd name="connsiteY3" fmla="*/ 1020 h 5358912"/>
              <a:gd name="connsiteX4" fmla="*/ 875098 w 2454413"/>
              <a:gd name="connsiteY4" fmla="*/ 84 h 5358912"/>
              <a:gd name="connsiteX5" fmla="*/ 1086808 w 2454413"/>
              <a:gd name="connsiteY5" fmla="*/ 84 h 5358912"/>
              <a:gd name="connsiteX6" fmla="*/ 1287080 w 2454413"/>
              <a:gd name="connsiteY6" fmla="*/ 84 h 5358912"/>
              <a:gd name="connsiteX7" fmla="*/ 1497562 w 2454413"/>
              <a:gd name="connsiteY7" fmla="*/ 739 h 5358912"/>
              <a:gd name="connsiteX8" fmla="*/ 1686588 w 2454413"/>
              <a:gd name="connsiteY8" fmla="*/ 84 h 5358912"/>
              <a:gd name="connsiteX9" fmla="*/ 1900472 w 2454413"/>
              <a:gd name="connsiteY9" fmla="*/ 84 h 5358912"/>
              <a:gd name="connsiteX10" fmla="*/ 2071446 w 2454413"/>
              <a:gd name="connsiteY10" fmla="*/ 177 h 5358912"/>
              <a:gd name="connsiteX11" fmla="*/ 2198189 w 2454413"/>
              <a:gd name="connsiteY11" fmla="*/ 84 h 5358912"/>
              <a:gd name="connsiteX12" fmla="*/ 2446853 w 2454413"/>
              <a:gd name="connsiteY12" fmla="*/ 189884 h 5358912"/>
              <a:gd name="connsiteX13" fmla="*/ 2453941 w 2454413"/>
              <a:gd name="connsiteY13" fmla="*/ 259959 h 5358912"/>
              <a:gd name="connsiteX14" fmla="*/ 2454225 w 2454413"/>
              <a:gd name="connsiteY14" fmla="*/ 1370190 h 5358912"/>
              <a:gd name="connsiteX15" fmla="*/ 2454225 w 2454413"/>
              <a:gd name="connsiteY15" fmla="*/ 2680434 h 5358912"/>
              <a:gd name="connsiteX16" fmla="*/ 2454413 w 2454413"/>
              <a:gd name="connsiteY16" fmla="*/ 5106531 h 5358912"/>
              <a:gd name="connsiteX17" fmla="*/ 2379181 w 2454413"/>
              <a:gd name="connsiteY17" fmla="*/ 5287151 h 5358912"/>
              <a:gd name="connsiteX18" fmla="*/ 2196865 w 2454413"/>
              <a:gd name="connsiteY18" fmla="*/ 5358912 h 5358912"/>
              <a:gd name="connsiteX19" fmla="*/ 1017340 w 2454413"/>
              <a:gd name="connsiteY19" fmla="*/ 5358724 h 5358912"/>
              <a:gd name="connsiteX20" fmla="*/ 254714 w 2454413"/>
              <a:gd name="connsiteY20" fmla="*/ 5358912 h 5358912"/>
              <a:gd name="connsiteX21" fmla="*/ 104249 w 2454413"/>
              <a:gd name="connsiteY21" fmla="*/ 5311227 h 5358912"/>
              <a:gd name="connsiteX22" fmla="*/ 95 w 2454413"/>
              <a:gd name="connsiteY22" fmla="*/ 5103345 h 5358912"/>
              <a:gd name="connsiteX23" fmla="*/ 284 w 2454413"/>
              <a:gd name="connsiteY23" fmla="*/ 4192002 h 5358912"/>
              <a:gd name="connsiteX24" fmla="*/ 0 w 2454413"/>
              <a:gd name="connsiteY24" fmla="*/ 261271 h 5358912"/>
              <a:gd name="connsiteX25" fmla="*/ 117669 w 2454413"/>
              <a:gd name="connsiteY25" fmla="*/ 39149 h 5358912"/>
              <a:gd name="connsiteX26" fmla="*/ 256226 w 2454413"/>
              <a:gd name="connsiteY26" fmla="*/ 84 h 5358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454413" h="5358912">
                <a:moveTo>
                  <a:pt x="256226" y="84"/>
                </a:moveTo>
                <a:cubicBezTo>
                  <a:pt x="307451" y="84"/>
                  <a:pt x="358772" y="833"/>
                  <a:pt x="409999" y="833"/>
                </a:cubicBezTo>
                <a:cubicBezTo>
                  <a:pt x="450733" y="833"/>
                  <a:pt x="491469" y="84"/>
                  <a:pt x="532204" y="84"/>
                </a:cubicBezTo>
                <a:cubicBezTo>
                  <a:pt x="570293" y="84"/>
                  <a:pt x="608381" y="1020"/>
                  <a:pt x="646470" y="1020"/>
                </a:cubicBezTo>
                <a:cubicBezTo>
                  <a:pt x="722649" y="927"/>
                  <a:pt x="798920" y="271"/>
                  <a:pt x="875098" y="84"/>
                </a:cubicBezTo>
                <a:cubicBezTo>
                  <a:pt x="945700" y="-104"/>
                  <a:pt x="1016206" y="84"/>
                  <a:pt x="1086808" y="84"/>
                </a:cubicBezTo>
                <a:cubicBezTo>
                  <a:pt x="1153534" y="84"/>
                  <a:pt x="1220355" y="-11"/>
                  <a:pt x="1287080" y="84"/>
                </a:cubicBezTo>
                <a:cubicBezTo>
                  <a:pt x="1357210" y="177"/>
                  <a:pt x="1427433" y="739"/>
                  <a:pt x="1497562" y="739"/>
                </a:cubicBezTo>
                <a:cubicBezTo>
                  <a:pt x="1560602" y="739"/>
                  <a:pt x="1623548" y="177"/>
                  <a:pt x="1686588" y="84"/>
                </a:cubicBezTo>
                <a:cubicBezTo>
                  <a:pt x="1757851" y="-11"/>
                  <a:pt x="1829208" y="84"/>
                  <a:pt x="1900472" y="84"/>
                </a:cubicBezTo>
                <a:cubicBezTo>
                  <a:pt x="1957463" y="84"/>
                  <a:pt x="2014455" y="177"/>
                  <a:pt x="2071446" y="177"/>
                </a:cubicBezTo>
                <a:cubicBezTo>
                  <a:pt x="2113693" y="177"/>
                  <a:pt x="2155941" y="-11"/>
                  <a:pt x="2198189" y="84"/>
                </a:cubicBezTo>
                <a:cubicBezTo>
                  <a:pt x="2317936" y="458"/>
                  <a:pt x="2419160" y="76997"/>
                  <a:pt x="2446853" y="189884"/>
                </a:cubicBezTo>
                <a:cubicBezTo>
                  <a:pt x="2452429" y="212461"/>
                  <a:pt x="2453847" y="236538"/>
                  <a:pt x="2453941" y="259959"/>
                </a:cubicBezTo>
                <a:cubicBezTo>
                  <a:pt x="2454319" y="630005"/>
                  <a:pt x="2454225" y="1000144"/>
                  <a:pt x="2454225" y="1370190"/>
                </a:cubicBezTo>
                <a:cubicBezTo>
                  <a:pt x="2454225" y="1806939"/>
                  <a:pt x="2454225" y="2243686"/>
                  <a:pt x="2454225" y="2680434"/>
                </a:cubicBezTo>
                <a:cubicBezTo>
                  <a:pt x="2454225" y="3489102"/>
                  <a:pt x="2454225" y="4297863"/>
                  <a:pt x="2454413" y="5106531"/>
                </a:cubicBezTo>
                <a:cubicBezTo>
                  <a:pt x="2454413" y="5177448"/>
                  <a:pt x="2429651" y="5237780"/>
                  <a:pt x="2379181" y="5287151"/>
                </a:cubicBezTo>
                <a:cubicBezTo>
                  <a:pt x="2328900" y="5336241"/>
                  <a:pt x="2267750" y="5359005"/>
                  <a:pt x="2196865" y="5358912"/>
                </a:cubicBezTo>
                <a:cubicBezTo>
                  <a:pt x="1803690" y="5358537"/>
                  <a:pt x="1410515" y="5358724"/>
                  <a:pt x="1017340" y="5358724"/>
                </a:cubicBezTo>
                <a:cubicBezTo>
                  <a:pt x="763100" y="5358724"/>
                  <a:pt x="508954" y="5358537"/>
                  <a:pt x="254714" y="5358912"/>
                </a:cubicBezTo>
                <a:cubicBezTo>
                  <a:pt x="199140" y="5358912"/>
                  <a:pt x="148481" y="5344203"/>
                  <a:pt x="104249" y="5311227"/>
                </a:cubicBezTo>
                <a:cubicBezTo>
                  <a:pt x="34781" y="5259421"/>
                  <a:pt x="0" y="5190189"/>
                  <a:pt x="95" y="5103345"/>
                </a:cubicBezTo>
                <a:cubicBezTo>
                  <a:pt x="473" y="4799534"/>
                  <a:pt x="284" y="4495814"/>
                  <a:pt x="284" y="4192002"/>
                </a:cubicBezTo>
                <a:cubicBezTo>
                  <a:pt x="284" y="2881758"/>
                  <a:pt x="378" y="1571514"/>
                  <a:pt x="0" y="261271"/>
                </a:cubicBezTo>
                <a:cubicBezTo>
                  <a:pt x="0" y="165808"/>
                  <a:pt x="37900" y="91798"/>
                  <a:pt x="117669" y="39149"/>
                </a:cubicBezTo>
                <a:cubicBezTo>
                  <a:pt x="159350" y="11606"/>
                  <a:pt x="206417" y="177"/>
                  <a:pt x="256226" y="84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9463" y="2060575"/>
            <a:ext cx="4793736" cy="4010025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8C1AECD-4AA3-C9BB-0755-10EDD8848048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288349309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bile device zoomed 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0319BC-9031-AD03-354D-EE82B71D89B0}"/>
              </a:ext>
            </a:extLst>
          </p:cNvPr>
          <p:cNvSpPr/>
          <p:nvPr userDrawn="1"/>
        </p:nvSpPr>
        <p:spPr>
          <a:xfrm>
            <a:off x="0" y="0"/>
            <a:ext cx="60960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C042C6-1D2E-BA18-C088-8D1487D363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54850" y="333375"/>
            <a:ext cx="4130603" cy="5835649"/>
          </a:xfrm>
          <a:custGeom>
            <a:avLst/>
            <a:gdLst>
              <a:gd name="connsiteX0" fmla="*/ 506040 w 4130603"/>
              <a:gd name="connsiteY0" fmla="*/ 0 h 5835649"/>
              <a:gd name="connsiteX1" fmla="*/ 3624563 w 4130603"/>
              <a:gd name="connsiteY1" fmla="*/ 0 h 5835649"/>
              <a:gd name="connsiteX2" fmla="*/ 4130603 w 4130603"/>
              <a:gd name="connsiteY2" fmla="*/ 506040 h 5835649"/>
              <a:gd name="connsiteX3" fmla="*/ 4130603 w 4130603"/>
              <a:gd name="connsiteY3" fmla="*/ 5835649 h 5835649"/>
              <a:gd name="connsiteX4" fmla="*/ 0 w 4130603"/>
              <a:gd name="connsiteY4" fmla="*/ 5835649 h 5835649"/>
              <a:gd name="connsiteX5" fmla="*/ 0 w 4130603"/>
              <a:gd name="connsiteY5" fmla="*/ 506040 h 5835649"/>
              <a:gd name="connsiteX6" fmla="*/ 506040 w 4130603"/>
              <a:gd name="connsiteY6" fmla="*/ 0 h 5835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30603" h="5835649">
                <a:moveTo>
                  <a:pt x="506040" y="0"/>
                </a:moveTo>
                <a:lnTo>
                  <a:pt x="3624563" y="0"/>
                </a:lnTo>
                <a:cubicBezTo>
                  <a:pt x="3904041" y="0"/>
                  <a:pt x="4130603" y="226562"/>
                  <a:pt x="4130603" y="506040"/>
                </a:cubicBezTo>
                <a:lnTo>
                  <a:pt x="4130603" y="5835649"/>
                </a:lnTo>
                <a:lnTo>
                  <a:pt x="0" y="5835649"/>
                </a:lnTo>
                <a:lnTo>
                  <a:pt x="0" y="506040"/>
                </a:lnTo>
                <a:cubicBezTo>
                  <a:pt x="0" y="226562"/>
                  <a:pt x="226562" y="0"/>
                  <a:pt x="506040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9DA14-F412-C05D-03DD-823D4725CC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279724"/>
            <a:ext cx="4793736" cy="108870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Mobile device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174A84C-18FA-502E-A356-C0C337637CC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85970" y="447604"/>
            <a:ext cx="3868183" cy="5721421"/>
          </a:xfrm>
          <a:custGeom>
            <a:avLst/>
            <a:gdLst>
              <a:gd name="connsiteX0" fmla="*/ 403834 w 3868183"/>
              <a:gd name="connsiteY0" fmla="*/ 132 h 5721421"/>
              <a:gd name="connsiteX1" fmla="*/ 646193 w 3868183"/>
              <a:gd name="connsiteY1" fmla="*/ 1312 h 5721421"/>
              <a:gd name="connsiteX2" fmla="*/ 838799 w 3868183"/>
              <a:gd name="connsiteY2" fmla="*/ 132 h 5721421"/>
              <a:gd name="connsiteX3" fmla="*/ 1018892 w 3868183"/>
              <a:gd name="connsiteY3" fmla="*/ 1607 h 5721421"/>
              <a:gd name="connsiteX4" fmla="*/ 1379229 w 3868183"/>
              <a:gd name="connsiteY4" fmla="*/ 132 h 5721421"/>
              <a:gd name="connsiteX5" fmla="*/ 1712902 w 3868183"/>
              <a:gd name="connsiteY5" fmla="*/ 132 h 5721421"/>
              <a:gd name="connsiteX6" fmla="*/ 2028547 w 3868183"/>
              <a:gd name="connsiteY6" fmla="*/ 132 h 5721421"/>
              <a:gd name="connsiteX7" fmla="*/ 2360285 w 3868183"/>
              <a:gd name="connsiteY7" fmla="*/ 1164 h 5721421"/>
              <a:gd name="connsiteX8" fmla="*/ 2658206 w 3868183"/>
              <a:gd name="connsiteY8" fmla="*/ 132 h 5721421"/>
              <a:gd name="connsiteX9" fmla="*/ 2995305 w 3868183"/>
              <a:gd name="connsiteY9" fmla="*/ 132 h 5721421"/>
              <a:gd name="connsiteX10" fmla="*/ 3264774 w 3868183"/>
              <a:gd name="connsiteY10" fmla="*/ 278 h 5721421"/>
              <a:gd name="connsiteX11" fmla="*/ 3464532 w 3868183"/>
              <a:gd name="connsiteY11" fmla="*/ 132 h 5721421"/>
              <a:gd name="connsiteX12" fmla="*/ 3856448 w 3868183"/>
              <a:gd name="connsiteY12" fmla="*/ 299272 h 5721421"/>
              <a:gd name="connsiteX13" fmla="*/ 3867619 w 3868183"/>
              <a:gd name="connsiteY13" fmla="*/ 409717 h 5721421"/>
              <a:gd name="connsiteX14" fmla="*/ 3868067 w 3868183"/>
              <a:gd name="connsiteY14" fmla="*/ 2159535 h 5721421"/>
              <a:gd name="connsiteX15" fmla="*/ 3868067 w 3868183"/>
              <a:gd name="connsiteY15" fmla="*/ 4224591 h 5721421"/>
              <a:gd name="connsiteX16" fmla="*/ 3868183 w 3868183"/>
              <a:gd name="connsiteY16" fmla="*/ 5721421 h 5721421"/>
              <a:gd name="connsiteX17" fmla="*/ 384 w 3868183"/>
              <a:gd name="connsiteY17" fmla="*/ 5721421 h 5721421"/>
              <a:gd name="connsiteX18" fmla="*/ 0 w 3868183"/>
              <a:gd name="connsiteY18" fmla="*/ 411784 h 5721421"/>
              <a:gd name="connsiteX19" fmla="*/ 185457 w 3868183"/>
              <a:gd name="connsiteY19" fmla="*/ 61701 h 5721421"/>
              <a:gd name="connsiteX20" fmla="*/ 403834 w 3868183"/>
              <a:gd name="connsiteY20" fmla="*/ 132 h 5721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868183" h="5721421">
                <a:moveTo>
                  <a:pt x="403834" y="132"/>
                </a:moveTo>
                <a:cubicBezTo>
                  <a:pt x="484569" y="132"/>
                  <a:pt x="565455" y="1312"/>
                  <a:pt x="646193" y="1312"/>
                </a:cubicBezTo>
                <a:cubicBezTo>
                  <a:pt x="710394" y="1312"/>
                  <a:pt x="774597" y="132"/>
                  <a:pt x="838799" y="132"/>
                </a:cubicBezTo>
                <a:cubicBezTo>
                  <a:pt x="898830" y="132"/>
                  <a:pt x="958860" y="1607"/>
                  <a:pt x="1018892" y="1607"/>
                </a:cubicBezTo>
                <a:cubicBezTo>
                  <a:pt x="1138956" y="1460"/>
                  <a:pt x="1259166" y="426"/>
                  <a:pt x="1379229" y="132"/>
                </a:cubicBezTo>
                <a:cubicBezTo>
                  <a:pt x="1490503" y="-165"/>
                  <a:pt x="1601627" y="132"/>
                  <a:pt x="1712902" y="132"/>
                </a:cubicBezTo>
                <a:cubicBezTo>
                  <a:pt x="1818067" y="132"/>
                  <a:pt x="1923383" y="-18"/>
                  <a:pt x="2028547" y="132"/>
                </a:cubicBezTo>
                <a:cubicBezTo>
                  <a:pt x="2139078" y="278"/>
                  <a:pt x="2249756" y="1164"/>
                  <a:pt x="2360285" y="1164"/>
                </a:cubicBezTo>
                <a:cubicBezTo>
                  <a:pt x="2459641" y="1164"/>
                  <a:pt x="2558849" y="278"/>
                  <a:pt x="2658206" y="132"/>
                </a:cubicBezTo>
                <a:cubicBezTo>
                  <a:pt x="2770522" y="-18"/>
                  <a:pt x="2882987" y="132"/>
                  <a:pt x="2995305" y="132"/>
                </a:cubicBezTo>
                <a:cubicBezTo>
                  <a:pt x="3085128" y="132"/>
                  <a:pt x="3174952" y="278"/>
                  <a:pt x="3264774" y="278"/>
                </a:cubicBezTo>
                <a:cubicBezTo>
                  <a:pt x="3331360" y="278"/>
                  <a:pt x="3397946" y="-18"/>
                  <a:pt x="3464532" y="132"/>
                </a:cubicBezTo>
                <a:cubicBezTo>
                  <a:pt x="3653264" y="721"/>
                  <a:pt x="3812801" y="121353"/>
                  <a:pt x="3856448" y="299272"/>
                </a:cubicBezTo>
                <a:cubicBezTo>
                  <a:pt x="3865236" y="334856"/>
                  <a:pt x="3867471" y="372803"/>
                  <a:pt x="3867619" y="409717"/>
                </a:cubicBezTo>
                <a:cubicBezTo>
                  <a:pt x="3868215" y="992940"/>
                  <a:pt x="3868067" y="1576311"/>
                  <a:pt x="3868067" y="2159535"/>
                </a:cubicBezTo>
                <a:cubicBezTo>
                  <a:pt x="3868067" y="2847889"/>
                  <a:pt x="3868067" y="3536239"/>
                  <a:pt x="3868067" y="4224591"/>
                </a:cubicBezTo>
                <a:lnTo>
                  <a:pt x="3868183" y="5721421"/>
                </a:lnTo>
                <a:lnTo>
                  <a:pt x="384" y="5721421"/>
                </a:lnTo>
                <a:lnTo>
                  <a:pt x="0" y="411784"/>
                </a:lnTo>
                <a:cubicBezTo>
                  <a:pt x="0" y="261327"/>
                  <a:pt x="59734" y="144681"/>
                  <a:pt x="185457" y="61701"/>
                </a:cubicBezTo>
                <a:cubicBezTo>
                  <a:pt x="251149" y="18291"/>
                  <a:pt x="325331" y="278"/>
                  <a:pt x="403834" y="132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9463" y="2060575"/>
            <a:ext cx="4793736" cy="4010025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5894188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devic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0319BC-9031-AD03-354D-EE82B71D89B0}"/>
              </a:ext>
            </a:extLst>
          </p:cNvPr>
          <p:cNvSpPr/>
          <p:nvPr userDrawn="1"/>
        </p:nvSpPr>
        <p:spPr>
          <a:xfrm>
            <a:off x="0" y="0"/>
            <a:ext cx="60960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C93688E-1263-9D36-62A7-80F8CE19F9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95996" y="787399"/>
            <a:ext cx="7310205" cy="53816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39DA14-F412-C05D-03DD-823D4725CC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279724"/>
            <a:ext cx="3440570" cy="178085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Desktop device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9463" y="2060575"/>
            <a:ext cx="3440570" cy="4010025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DFA67B3-1709-54E4-5A04-C5259FF0FE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602504" y="1018903"/>
            <a:ext cx="6897188" cy="387966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18490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rface Book devic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40319BC-9031-AD03-354D-EE82B71D89B0}"/>
              </a:ext>
            </a:extLst>
          </p:cNvPr>
          <p:cNvSpPr/>
          <p:nvPr userDrawn="1"/>
        </p:nvSpPr>
        <p:spPr>
          <a:xfrm>
            <a:off x="0" y="0"/>
            <a:ext cx="6096000" cy="6169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74F642-B459-8F68-4149-D4B99668EA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796217" y="862978"/>
            <a:ext cx="8795602" cy="5208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39DA14-F412-C05D-03DD-823D4725CC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5262" y="279724"/>
            <a:ext cx="3440570" cy="178085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Surface Book device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79463" y="2060575"/>
            <a:ext cx="3440570" cy="4010025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DFA67B3-1709-54E4-5A04-C5259FF0FE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991501" y="1247502"/>
            <a:ext cx="6395644" cy="4258492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9769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3BE3-A2EF-45BD-52EE-BE0CE5704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088EA-C24F-DD18-F246-C2F5956A75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78F1E-E169-B6FE-32EE-5E059C3F35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92B7BF2-5FF0-E849-A565-A859C5F399DC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643615" y="1368425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A2C4E4-7F5F-67A3-0215-4AD932BDA96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6315" y="1368425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+mn-lt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6A1D9D11-B1DC-A8D1-7FEA-B26C35399BA2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6166505" y="1368425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16DD9963-9B5A-10CD-A0EE-68235B7C27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9205" y="1368425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+mn-lt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E0E9982E-86E4-21ED-9386-2BE8F31125AA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43615" y="2751314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ABD159C3-2532-3562-792C-4F5CDC66EC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26315" y="2751314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+mn-lt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ADF1BC7D-9E9D-7CD1-E8AA-262A162599E5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6166505" y="2751314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A0399768-6B14-D79E-5238-274950F97D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49205" y="2751314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+mn-lt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98348947-C76D-9C8F-348B-51A87330725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643615" y="4122445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EAEC67F7-F65C-17F4-BF5F-DAF9447AEC4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26315" y="4122445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+mn-lt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814B2C35-0E8C-3EF5-DFBB-4A646E3A6373}"/>
              </a:ext>
            </a:extLst>
          </p:cNvPr>
          <p:cNvSpPr>
            <a:spLocks noGrp="1" noChangeAspect="1"/>
          </p:cNvSpPr>
          <p:nvPr>
            <p:ph type="pic" sz="quarter" idx="22"/>
          </p:nvPr>
        </p:nvSpPr>
        <p:spPr>
          <a:xfrm>
            <a:off x="6166505" y="4122445"/>
            <a:ext cx="1281600" cy="12816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5F261BA-EC3A-97AD-184F-EED4ACE0DBF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449205" y="4122445"/>
            <a:ext cx="4107600" cy="1281600"/>
          </a:xfrm>
          <a:solidFill>
            <a:schemeClr val="bg1"/>
          </a:solidFill>
        </p:spPr>
        <p:txBody>
          <a:bodyPr lIns="360000" anchor="ctr"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+mn-lt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8800C4D-7BD6-C1AC-7F00-EFB865A171B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25437614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EDCD066B-62F2-1A43-3B79-0734FE86A4F0}"/>
              </a:ext>
            </a:extLst>
          </p:cNvPr>
          <p:cNvSpPr>
            <a:spLocks noGrp="1" noChangeAspect="1"/>
          </p:cNvSpPr>
          <p:nvPr>
            <p:ph type="pic" sz="quarter" idx="23"/>
          </p:nvPr>
        </p:nvSpPr>
        <p:spPr>
          <a:xfrm>
            <a:off x="6680956" y="3813912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27" name="Picture Placeholder 7">
            <a:extLst>
              <a:ext uri="{FF2B5EF4-FFF2-40B4-BE49-F238E27FC236}">
                <a16:creationId xmlns:a16="http://schemas.microsoft.com/office/drawing/2014/main" id="{AC1E1BEF-7CEE-8011-71B0-68F0F7ED3DBB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9388132" y="3813912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D93BE3-A2EF-45BD-52EE-BE0CE5704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088EA-C24F-DD18-F246-C2F5956A75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78F1E-E169-B6FE-32EE-5E059C3F35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92B7BF2-5FF0-E849-A565-A859C5F399DC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266606" y="1368425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6A1D9D11-B1DC-A8D1-7FEA-B26C35399BA2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3973781" y="1368425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E0E9982E-86E4-21ED-9386-2BE8F31125AA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680956" y="1368425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ADF1BC7D-9E9D-7CD1-E8AA-262A162599E5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9388132" y="1368425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98348947-C76D-9C8F-348B-51A873307250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1266606" y="3813912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814B2C35-0E8C-3EF5-DFBB-4A646E3A6373}"/>
              </a:ext>
            </a:extLst>
          </p:cNvPr>
          <p:cNvSpPr>
            <a:spLocks noGrp="1" noChangeAspect="1"/>
          </p:cNvSpPr>
          <p:nvPr>
            <p:ph type="pic" sz="quarter" idx="22"/>
          </p:nvPr>
        </p:nvSpPr>
        <p:spPr>
          <a:xfrm>
            <a:off x="3973781" y="3813912"/>
            <a:ext cx="1526400" cy="15264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8800C4D-7BD6-C1AC-7F00-EFB865A171B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Century Gothic" panose="020B0502020202020204" pitchFamily="34" charset="0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Century Gothic" panose="020B0502020202020204" pitchFamily="34" charset="0"/>
              </a:rPr>
              <a:t>Go to ‘Design’ &gt; ‘Format Background’ &gt; choose colour 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47CA8422-1D2B-55E1-7CC5-FA76891B1D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70887" y="2894825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B1D750A3-997C-117C-3671-CF7A3758AF2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78063" y="2894825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1" name="Text Placeholder 28">
            <a:extLst>
              <a:ext uri="{FF2B5EF4-FFF2-40B4-BE49-F238E27FC236}">
                <a16:creationId xmlns:a16="http://schemas.microsoft.com/office/drawing/2014/main" id="{E5AC6BD1-147E-35E8-0B05-71681723414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85239" y="2894825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2" name="Text Placeholder 28">
            <a:extLst>
              <a:ext uri="{FF2B5EF4-FFF2-40B4-BE49-F238E27FC236}">
                <a16:creationId xmlns:a16="http://schemas.microsoft.com/office/drawing/2014/main" id="{CF663DAB-E3A8-8E89-61F7-20DFA620D01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92413" y="2894825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3" name="Text Placeholder 28">
            <a:extLst>
              <a:ext uri="{FF2B5EF4-FFF2-40B4-BE49-F238E27FC236}">
                <a16:creationId xmlns:a16="http://schemas.microsoft.com/office/drawing/2014/main" id="{9EA348E3-0BA0-AB18-D019-848DA1B4F3F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70887" y="5347080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4" name="Text Placeholder 28">
            <a:extLst>
              <a:ext uri="{FF2B5EF4-FFF2-40B4-BE49-F238E27FC236}">
                <a16:creationId xmlns:a16="http://schemas.microsoft.com/office/drawing/2014/main" id="{607FE6B0-A2D9-C718-2193-A841C6CA052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78063" y="5347080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5" name="Text Placeholder 28">
            <a:extLst>
              <a:ext uri="{FF2B5EF4-FFF2-40B4-BE49-F238E27FC236}">
                <a16:creationId xmlns:a16="http://schemas.microsoft.com/office/drawing/2014/main" id="{E3216F32-B415-75E5-A176-3355725AB2C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67952" y="5347080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36" name="Text Placeholder 28">
            <a:extLst>
              <a:ext uri="{FF2B5EF4-FFF2-40B4-BE49-F238E27FC236}">
                <a16:creationId xmlns:a16="http://schemas.microsoft.com/office/drawing/2014/main" id="{35ACE380-9E86-AB7F-35A9-F1C0E8040B0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57841" y="5347080"/>
            <a:ext cx="2517836" cy="828713"/>
          </a:xfrm>
        </p:spPr>
        <p:txBody>
          <a:bodyPr lIns="0" tIns="72000" rIns="0" bIns="0"/>
          <a:lstStyle>
            <a:lvl1pPr algn="ctr"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</p:spTree>
    <p:extLst>
      <p:ext uri="{BB962C8B-B14F-4D97-AF65-F5344CB8AC3E}">
        <p14:creationId xmlns:p14="http://schemas.microsoft.com/office/powerpoint/2010/main" val="165719007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 al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2FE7D91B-1563-CEA3-1FF8-3F546AD5B839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4241032" y="682625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5" name="Text Placeholder 28">
            <a:extLst>
              <a:ext uri="{FF2B5EF4-FFF2-40B4-BE49-F238E27FC236}">
                <a16:creationId xmlns:a16="http://schemas.microsoft.com/office/drawing/2014/main" id="{283449E4-2863-B781-158C-C0932DEE17B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241032" y="2011025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  <a:latin typeface="+mn-lt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92B7BF2-5FF0-E849-A565-A859C5F399DC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731627" y="682625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03A57B8-E234-CD88-D11C-D1DFE37ADDB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-1415473" y="3470854"/>
            <a:ext cx="4113646" cy="1282700"/>
          </a:xfrm>
        </p:spPr>
        <p:txBody>
          <a:bodyPr anchor="ctr"/>
          <a:lstStyle>
            <a:lvl1pPr algn="r">
              <a:lnSpc>
                <a:spcPct val="80000"/>
              </a:lnSpc>
              <a:defRPr sz="3600">
                <a:latin typeface="+mn-lt"/>
              </a:defRPr>
            </a:lvl1pPr>
          </a:lstStyle>
          <a:p>
            <a:pPr lvl="0"/>
            <a:r>
              <a:rPr lang="en-GB"/>
              <a:t>Meet the team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D088EA-C24F-DD18-F246-C2F5956A75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78F1E-E169-B6FE-32EE-5E059C3F35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8800C4D-7BD6-C1AC-7F00-EFB865A171B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47CA8422-1D2B-55E1-7CC5-FA76891B1D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31627" y="2011025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  <a:latin typeface="+mn-lt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C787E02-54B7-34DE-48AF-51442EB2B509}"/>
              </a:ext>
            </a:extLst>
          </p:cNvPr>
          <p:cNvCxnSpPr>
            <a:cxnSpLocks/>
          </p:cNvCxnSpPr>
          <p:nvPr userDrawn="1"/>
        </p:nvCxnSpPr>
        <p:spPr>
          <a:xfrm>
            <a:off x="641350" y="0"/>
            <a:ext cx="0" cy="201276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Picture Placeholder 7">
            <a:extLst>
              <a:ext uri="{FF2B5EF4-FFF2-40B4-BE49-F238E27FC236}">
                <a16:creationId xmlns:a16="http://schemas.microsoft.com/office/drawing/2014/main" id="{384A9924-D9B5-F558-4446-770722C9E658}"/>
              </a:ext>
            </a:extLst>
          </p:cNvPr>
          <p:cNvSpPr>
            <a:spLocks noGrp="1" noChangeAspect="1"/>
          </p:cNvSpPr>
          <p:nvPr>
            <p:ph type="pic" sz="quarter" idx="29"/>
          </p:nvPr>
        </p:nvSpPr>
        <p:spPr>
          <a:xfrm>
            <a:off x="6750437" y="682625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9" name="Text Placeholder 28">
            <a:extLst>
              <a:ext uri="{FF2B5EF4-FFF2-40B4-BE49-F238E27FC236}">
                <a16:creationId xmlns:a16="http://schemas.microsoft.com/office/drawing/2014/main" id="{13B4A43A-7C48-6830-0A71-84B2AA8D5BC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750437" y="2011025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  <a:latin typeface="+mn-lt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0" name="Picture Placeholder 7">
            <a:extLst>
              <a:ext uri="{FF2B5EF4-FFF2-40B4-BE49-F238E27FC236}">
                <a16:creationId xmlns:a16="http://schemas.microsoft.com/office/drawing/2014/main" id="{09A357F1-DCB0-AAA1-FF7C-579CD51579A1}"/>
              </a:ext>
            </a:extLst>
          </p:cNvPr>
          <p:cNvSpPr>
            <a:spLocks noGrp="1" noChangeAspect="1"/>
          </p:cNvSpPr>
          <p:nvPr>
            <p:ph type="pic" sz="quarter" idx="31"/>
          </p:nvPr>
        </p:nvSpPr>
        <p:spPr>
          <a:xfrm>
            <a:off x="9259842" y="682625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1" name="Text Placeholder 28">
            <a:extLst>
              <a:ext uri="{FF2B5EF4-FFF2-40B4-BE49-F238E27FC236}">
                <a16:creationId xmlns:a16="http://schemas.microsoft.com/office/drawing/2014/main" id="{CFA284AE-D574-E303-87B5-B8731F5B3D5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259842" y="2011025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  <a:latin typeface="+mn-lt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2" name="Picture Placeholder 7">
            <a:extLst>
              <a:ext uri="{FF2B5EF4-FFF2-40B4-BE49-F238E27FC236}">
                <a16:creationId xmlns:a16="http://schemas.microsoft.com/office/drawing/2014/main" id="{D8C052A2-B328-B532-B588-0344982F0D3F}"/>
              </a:ext>
            </a:extLst>
          </p:cNvPr>
          <p:cNvSpPr>
            <a:spLocks noGrp="1" noChangeAspect="1"/>
          </p:cNvSpPr>
          <p:nvPr>
            <p:ph type="pic" sz="quarter" idx="33"/>
          </p:nvPr>
        </p:nvSpPr>
        <p:spPr>
          <a:xfrm>
            <a:off x="1731627" y="3189600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3" name="Text Placeholder 28">
            <a:extLst>
              <a:ext uri="{FF2B5EF4-FFF2-40B4-BE49-F238E27FC236}">
                <a16:creationId xmlns:a16="http://schemas.microsoft.com/office/drawing/2014/main" id="{CBB72990-AB1D-E7C4-6B75-0DB3F2E4BD4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731627" y="4518000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  <a:latin typeface="+mn-lt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4" name="Picture Placeholder 7">
            <a:extLst>
              <a:ext uri="{FF2B5EF4-FFF2-40B4-BE49-F238E27FC236}">
                <a16:creationId xmlns:a16="http://schemas.microsoft.com/office/drawing/2014/main" id="{FD171AC2-82E6-C5F7-9D8F-179C5045CD7E}"/>
              </a:ext>
            </a:extLst>
          </p:cNvPr>
          <p:cNvSpPr>
            <a:spLocks noGrp="1" noChangeAspect="1"/>
          </p:cNvSpPr>
          <p:nvPr>
            <p:ph type="pic" sz="quarter" idx="35"/>
          </p:nvPr>
        </p:nvSpPr>
        <p:spPr>
          <a:xfrm>
            <a:off x="4241032" y="3189600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5" name="Text Placeholder 28">
            <a:extLst>
              <a:ext uri="{FF2B5EF4-FFF2-40B4-BE49-F238E27FC236}">
                <a16:creationId xmlns:a16="http://schemas.microsoft.com/office/drawing/2014/main" id="{0AB05AEC-005A-3F1B-0C4D-64752EE8955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241032" y="4518000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  <a:latin typeface="+mn-lt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6" name="Picture Placeholder 7">
            <a:extLst>
              <a:ext uri="{FF2B5EF4-FFF2-40B4-BE49-F238E27FC236}">
                <a16:creationId xmlns:a16="http://schemas.microsoft.com/office/drawing/2014/main" id="{0EE26C2E-7158-576F-1378-CA79415AEBD0}"/>
              </a:ext>
            </a:extLst>
          </p:cNvPr>
          <p:cNvSpPr>
            <a:spLocks noGrp="1" noChangeAspect="1"/>
          </p:cNvSpPr>
          <p:nvPr>
            <p:ph type="pic" sz="quarter" idx="37"/>
          </p:nvPr>
        </p:nvSpPr>
        <p:spPr>
          <a:xfrm>
            <a:off x="6750437" y="3189600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7" name="Text Placeholder 28">
            <a:extLst>
              <a:ext uri="{FF2B5EF4-FFF2-40B4-BE49-F238E27FC236}">
                <a16:creationId xmlns:a16="http://schemas.microsoft.com/office/drawing/2014/main" id="{C5BD386D-E6DA-D6A7-A9E3-7D2E78533E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750437" y="4518000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  <a:latin typeface="+mn-lt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  <p:sp>
        <p:nvSpPr>
          <p:cNvPr id="48" name="Picture Placeholder 7">
            <a:extLst>
              <a:ext uri="{FF2B5EF4-FFF2-40B4-BE49-F238E27FC236}">
                <a16:creationId xmlns:a16="http://schemas.microsoft.com/office/drawing/2014/main" id="{06E30288-6192-C4BC-6B0F-03332A53846C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9258613" y="3189600"/>
            <a:ext cx="2296800" cy="22968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9" name="Text Placeholder 28">
            <a:extLst>
              <a:ext uri="{FF2B5EF4-FFF2-40B4-BE49-F238E27FC236}">
                <a16:creationId xmlns:a16="http://schemas.microsoft.com/office/drawing/2014/main" id="{80096700-6812-294E-0C3E-E5CC7858FD6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258613" y="4518000"/>
            <a:ext cx="2296800" cy="968400"/>
          </a:xfrm>
          <a:gradFill>
            <a:gsLst>
              <a:gs pos="0">
                <a:schemeClr val="tx1">
                  <a:alpha val="73000"/>
                </a:schemeClr>
              </a:gs>
              <a:gs pos="100000">
                <a:schemeClr val="tx1">
                  <a:alpha val="0"/>
                </a:schemeClr>
              </a:gs>
            </a:gsLst>
            <a:lin ang="16200000" scaled="1"/>
          </a:gradFill>
        </p:spPr>
        <p:txBody>
          <a:bodyPr lIns="144000" tIns="36000" rIns="144000" bIns="144000" anchor="b"/>
          <a:lstStyle>
            <a:lvl1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chemeClr val="bg1"/>
                </a:solidFill>
                <a:latin typeface="+mn-lt"/>
              </a:defRPr>
            </a:lvl1pPr>
            <a:lvl2pPr algn="ctr">
              <a:lnSpc>
                <a:spcPct val="100000"/>
              </a:lnSpc>
              <a:spcAft>
                <a:spcPts val="0"/>
              </a:spcAft>
              <a:defRPr sz="1100">
                <a:solidFill>
                  <a:schemeClr val="bg1"/>
                </a:solidFill>
                <a:latin typeface="+mn-lt"/>
              </a:defRPr>
            </a:lvl2pPr>
            <a:lvl3pPr marL="0" indent="0">
              <a:buNone/>
              <a:defRPr/>
            </a:lvl3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Job Title</a:t>
            </a:r>
          </a:p>
        </p:txBody>
      </p:sp>
    </p:spTree>
    <p:extLst>
      <p:ext uri="{BB962C8B-B14F-4D97-AF65-F5344CB8AC3E}">
        <p14:creationId xmlns:p14="http://schemas.microsoft.com/office/powerpoint/2010/main" val="314077163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s x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5815C96E-6900-B6B5-815D-4D8E8D008112}"/>
              </a:ext>
            </a:extLst>
          </p:cNvPr>
          <p:cNvSpPr/>
          <p:nvPr userDrawn="1"/>
        </p:nvSpPr>
        <p:spPr>
          <a:xfrm>
            <a:off x="4063800" y="0"/>
            <a:ext cx="4064400" cy="6169024"/>
          </a:xfrm>
          <a:custGeom>
            <a:avLst/>
            <a:gdLst>
              <a:gd name="connsiteX0" fmla="*/ 0 w 4064400"/>
              <a:gd name="connsiteY0" fmla="*/ 0 h 6169024"/>
              <a:gd name="connsiteX1" fmla="*/ 4064400 w 4064400"/>
              <a:gd name="connsiteY1" fmla="*/ 0 h 6169024"/>
              <a:gd name="connsiteX2" fmla="*/ 4064400 w 4064400"/>
              <a:gd name="connsiteY2" fmla="*/ 6169024 h 6169024"/>
              <a:gd name="connsiteX3" fmla="*/ 0 w 4064400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64400" h="6169024">
                <a:moveTo>
                  <a:pt x="0" y="0"/>
                </a:moveTo>
                <a:lnTo>
                  <a:pt x="4064400" y="0"/>
                </a:lnTo>
                <a:lnTo>
                  <a:pt x="4064400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rIns="72000" rtlCol="0" anchor="ctr">
            <a:noAutofit/>
          </a:bodyPr>
          <a:lstStyle/>
          <a:p>
            <a:pPr algn="ctr"/>
            <a:endParaRPr lang="en-GB" sz="1400">
              <a:latin typeface="+mn-lt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CC0C5C-99D1-99BB-CABB-CC6FB255B2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E00792-06FC-7E14-8396-F27E3154E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5B2C59-8A37-64E6-6CBA-C5AECEC501B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064400" cy="267017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D272F750-99B3-124C-D8D3-F1286B3773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063800" y="0"/>
            <a:ext cx="4064400" cy="2670175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F7023C7E-EF93-8C6E-835A-939EDCF9629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27600" y="0"/>
            <a:ext cx="4064400" cy="267017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365F35F-7775-B95E-825A-60563DB58A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1163" y="2852738"/>
            <a:ext cx="3251632" cy="660109"/>
          </a:xfrm>
        </p:spPr>
        <p:txBody>
          <a:bodyPr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+mn-lt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D75C35C-A936-78DA-A517-9B8EF3CF101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11163" y="3644821"/>
            <a:ext cx="3257550" cy="2007842"/>
          </a:xfrm>
        </p:spPr>
        <p:txBody>
          <a:bodyPr/>
          <a:lstStyle>
            <a:lvl1pPr>
              <a:defRPr sz="1100">
                <a:latin typeface="+mn-lt"/>
              </a:defRPr>
            </a:lvl1pPr>
            <a:lvl2pPr>
              <a:defRPr sz="1400">
                <a:latin typeface="+mn-lt"/>
              </a:defRPr>
            </a:lvl2pPr>
            <a:lvl3pPr>
              <a:defRPr sz="1100">
                <a:latin typeface="+mn-lt"/>
              </a:defRPr>
            </a:lvl3pPr>
            <a:lvl4pPr>
              <a:defRPr sz="1100">
                <a:latin typeface="+mn-lt"/>
              </a:defRPr>
            </a:lvl4pPr>
            <a:lvl5pPr>
              <a:defRPr sz="1100"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D6471E19-8CCC-B0DF-8C3F-7CB2503D5D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70184" y="2852738"/>
            <a:ext cx="3251632" cy="660109"/>
          </a:xfrm>
        </p:spPr>
        <p:txBody>
          <a:bodyPr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+mn-lt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014B1B71-F74A-A303-FC3B-F4A8195843F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67225" y="3644821"/>
            <a:ext cx="3257550" cy="2007842"/>
          </a:xfrm>
        </p:spPr>
        <p:txBody>
          <a:bodyPr/>
          <a:lstStyle>
            <a:lvl1pPr>
              <a:defRPr sz="1100">
                <a:latin typeface="+mn-lt"/>
              </a:defRPr>
            </a:lvl1pPr>
            <a:lvl2pPr>
              <a:defRPr sz="1400">
                <a:latin typeface="+mn-lt"/>
              </a:defRPr>
            </a:lvl2pPr>
            <a:lvl3pPr>
              <a:defRPr sz="1100">
                <a:latin typeface="+mn-lt"/>
              </a:defRPr>
            </a:lvl3pPr>
            <a:lvl4pPr>
              <a:defRPr sz="1100">
                <a:latin typeface="+mn-lt"/>
              </a:defRPr>
            </a:lvl4pPr>
            <a:lvl5pPr>
              <a:defRPr sz="1100"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A48D3C2-9B59-84FE-83E7-B0F97C9E71D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53811" y="2852738"/>
            <a:ext cx="3251632" cy="660109"/>
          </a:xfrm>
        </p:spPr>
        <p:txBody>
          <a:bodyPr/>
          <a:lstStyle>
            <a:lvl1pPr>
              <a:lnSpc>
                <a:spcPct val="100000"/>
              </a:lnSpc>
              <a:spcAft>
                <a:spcPts val="0"/>
              </a:spcAft>
              <a:defRPr b="1">
                <a:solidFill>
                  <a:schemeClr val="tx2"/>
                </a:solidFill>
                <a:latin typeface="+mn-lt"/>
              </a:defRPr>
            </a:lvl1pPr>
            <a:lvl2pPr>
              <a:lnSpc>
                <a:spcPct val="100000"/>
              </a:lnSpc>
              <a:spcAft>
                <a:spcPts val="0"/>
              </a:spcAft>
              <a:defRPr sz="120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/>
              <a:t>First Name Surname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5" name="Text Placeholder 20">
            <a:extLst>
              <a:ext uri="{FF2B5EF4-FFF2-40B4-BE49-F238E27FC236}">
                <a16:creationId xmlns:a16="http://schemas.microsoft.com/office/drawing/2014/main" id="{A7224203-3DFE-E8BA-9C78-241EA5FF8CA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50852" y="3644821"/>
            <a:ext cx="3257550" cy="2007842"/>
          </a:xfrm>
        </p:spPr>
        <p:txBody>
          <a:bodyPr/>
          <a:lstStyle>
            <a:lvl1pPr>
              <a:defRPr sz="1100">
                <a:latin typeface="+mn-lt"/>
              </a:defRPr>
            </a:lvl1pPr>
            <a:lvl2pPr>
              <a:defRPr sz="1400">
                <a:latin typeface="+mn-lt"/>
              </a:defRPr>
            </a:lvl2pPr>
            <a:lvl3pPr>
              <a:defRPr sz="1100">
                <a:latin typeface="+mn-lt"/>
              </a:defRPr>
            </a:lvl3pPr>
            <a:lvl4pPr>
              <a:defRPr sz="1100">
                <a:latin typeface="+mn-lt"/>
              </a:defRPr>
            </a:lvl4pPr>
            <a:lvl5pPr>
              <a:defRPr sz="1100"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901255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saic #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500C5C-55A0-3C8A-0687-A33E321F6869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n-l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0055F50-D54C-7B73-CCDD-822FD5C580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60B1CD-282B-07A4-3E89-E1D0C76CC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1368426"/>
            <a:ext cx="3704189" cy="3432174"/>
          </a:xfrm>
        </p:spPr>
        <p:txBody>
          <a:bodyPr anchor="ctr"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2E15243-F728-E95D-70AB-7AE8C857CB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99375" y="682625"/>
            <a:ext cx="3856038" cy="5486398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AD7BE90-3BDC-F609-DA85-653C974727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13500" y="2060575"/>
            <a:ext cx="2568575" cy="2730498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4643C89-D039-12D0-AD23-86C897EB3177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2512598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2E15243-F728-E95D-70AB-7AE8C857CB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308090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E8FC60-2748-9785-AA1C-72C5CE71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2463476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1F82C0E6-ABEE-E744-BED6-3CF463ACD2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088118"/>
            <a:ext cx="6096000" cy="3080905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16675" y="3080906"/>
            <a:ext cx="5138738" cy="3080905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661CDCE-8667-108C-D192-8D82B9BCDBC4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9914516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2E15243-F728-E95D-70AB-7AE8C857CB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3429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E8FC60-2748-9785-AA1C-72C5CE71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429000"/>
            <a:ext cx="4345538" cy="2740024"/>
          </a:xfrm>
        </p:spPr>
        <p:txBody>
          <a:bodyPr anchor="ctr"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D4F01D-E5FA-8B13-BDAA-28E7F353DE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3429000"/>
            <a:ext cx="5459413" cy="2740025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7251E75-5D43-155E-9EF9-2835F16A02AA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5927629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82E15243-F728-E95D-70AB-7AE8C857CBD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6096000" cy="3429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E8FC60-2748-9785-AA1C-72C5CE71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3429000"/>
            <a:ext cx="4345538" cy="2740024"/>
          </a:xfrm>
        </p:spPr>
        <p:txBody>
          <a:bodyPr anchor="ctr"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5F49B39-D9E3-959B-708D-6A74A51B6E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3429000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D4F01D-E5FA-8B13-BDAA-28E7F353DE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3429000"/>
            <a:ext cx="5459413" cy="2740025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7DA4BE3-56CF-7014-FEAC-F83276D7734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5951334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982074" y="0"/>
            <a:ext cx="3209925" cy="61690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E8FC60-2748-9785-AA1C-72C5CE71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9463" y="2060576"/>
            <a:ext cx="4351337" cy="4101236"/>
          </a:xfrm>
        </p:spPr>
        <p:txBody>
          <a:bodyPr anchor="t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604F0-B5CD-0F0A-9FCD-FB9A1EF29C3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72149" y="0"/>
            <a:ext cx="3209925" cy="61690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4E08D6B-F466-16BC-3391-106E8FFF1173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21120376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775326" y="0"/>
            <a:ext cx="6416674" cy="308090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E8FC60-2748-9785-AA1C-72C5CE71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9463" y="2060576"/>
            <a:ext cx="4351337" cy="4101236"/>
          </a:xfrm>
        </p:spPr>
        <p:txBody>
          <a:bodyPr anchor="t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70795D6-B814-4E36-78A9-7634816C85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75326" y="3080906"/>
            <a:ext cx="6416674" cy="308812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940F16F-80F7-0DAF-13F8-888A58AA174A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57559306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982074" y="0"/>
            <a:ext cx="3209925" cy="308090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E8FC60-2748-9785-AA1C-72C5CE71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9463" y="2060576"/>
            <a:ext cx="4351337" cy="4101236"/>
          </a:xfrm>
        </p:spPr>
        <p:txBody>
          <a:bodyPr anchor="t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70795D6-B814-4E36-78A9-7634816C85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82074" y="3080906"/>
            <a:ext cx="3209925" cy="308812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772149" y="0"/>
            <a:ext cx="3209925" cy="308090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EBCEFB0-A758-D703-7D10-8D8D69D699E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72149" y="3080906"/>
            <a:ext cx="3209925" cy="308812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53B5CB-779B-F9C8-9782-2B3EFD9A5A7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52497274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8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982074" y="0"/>
            <a:ext cx="3209925" cy="34290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E8FC60-2748-9785-AA1C-72C5CE71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2" y="279724"/>
            <a:ext cx="4345538" cy="1780851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AD4E916-2DD8-FF0C-58AD-D72A9EEA19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79463" y="2060576"/>
            <a:ext cx="4351337" cy="4101236"/>
          </a:xfrm>
        </p:spPr>
        <p:txBody>
          <a:bodyPr anchor="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70795D6-B814-4E36-78A9-7634816C85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82074" y="3429000"/>
            <a:ext cx="3209925" cy="274002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772149" y="0"/>
            <a:ext cx="3209925" cy="2060575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EBCEFB0-A758-D703-7D10-8D8D69D699E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72149" y="2067788"/>
            <a:ext cx="3209925" cy="4101237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56B88C7-709E-7FB2-AB08-704E04F89CDD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j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j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27511440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saic #9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5999" cy="34290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70795D6-B814-4E36-78A9-7634816C85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3429000"/>
            <a:ext cx="6095999" cy="3422647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34290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EBCEFB0-A758-D703-7D10-8D8D69D699E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6096000" cy="3422647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67FC564-834F-BE5A-F11A-660E303FA62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7F4D1F9-CC5E-B32D-D859-F2CC5C8AE94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92245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saic #10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0CBFEF5-62CA-5AE1-7C27-1FA428E053D6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j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528D03F-3185-2519-8828-ABF13B023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1" y="0"/>
            <a:ext cx="6095999" cy="61690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"/>
            <a:ext cx="6096000" cy="6169022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6044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saic #1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0CBFEF5-62CA-5AE1-7C27-1FA428E053D6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+mj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528D03F-3185-2519-8828-ABF13B023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56530" y="6299513"/>
            <a:ext cx="434353" cy="434353"/>
          </a:xfrm>
          <a:prstGeom prst="rect">
            <a:avLst/>
          </a:prstGeom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16675" y="0"/>
            <a:ext cx="2565400" cy="61690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10B3015-6849-048C-AD97-C517676F76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-1" y="0"/>
            <a:ext cx="6416675" cy="27432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5946053-E62C-3605-EB68-E7DEC59EE04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2743200"/>
            <a:ext cx="3206750" cy="34258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EDF04BE-2ED7-E23F-7734-81C214CCA8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206749" y="2743200"/>
            <a:ext cx="3209925" cy="3425824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FC2092C-D564-C5A9-C97F-348F2ECB44D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982075" y="0"/>
            <a:ext cx="3209925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5EB5095-7804-C3E6-7402-3C7A63C0BA7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982075" y="3082924"/>
            <a:ext cx="3209925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j-lt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73672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saic #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4E66905-64DD-F656-2F93-6BFFEBAA4CB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600" y="0"/>
            <a:ext cx="3044848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7D188-B471-37A0-46D7-C838B0A433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2EAE9-6FEB-3B2A-1FC1-8E887DB192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BB13102-A20D-BCDF-666A-2DBE1AC13C0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0" y="3086100"/>
            <a:ext cx="3044848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6F490869-D1DC-C579-A316-10A2245BB8A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44248" y="0"/>
            <a:ext cx="3051752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ED58FB9-EF60-89EE-C72E-92CE23001F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44248" y="3086100"/>
            <a:ext cx="3051752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823CF1B-0C04-D7AF-5C5C-1F72BEB334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3046114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3DB2B6A3-4F93-8812-1A03-1B748F6B2AE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086100"/>
            <a:ext cx="3046114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6B79E47-FA84-B264-D708-BEA6E7FE372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42114" y="0"/>
            <a:ext cx="3051752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3BB89B72-822F-BF1F-3F86-58950787269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2114" y="3086100"/>
            <a:ext cx="3051752" cy="3086100"/>
          </a:xfrm>
          <a:custGeom>
            <a:avLst/>
            <a:gdLst>
              <a:gd name="connsiteX0" fmla="*/ 0 w 3209925"/>
              <a:gd name="connsiteY0" fmla="*/ 0 h 6169024"/>
              <a:gd name="connsiteX1" fmla="*/ 3209925 w 3209925"/>
              <a:gd name="connsiteY1" fmla="*/ 0 h 6169024"/>
              <a:gd name="connsiteX2" fmla="*/ 3209925 w 3209925"/>
              <a:gd name="connsiteY2" fmla="*/ 6169024 h 6169024"/>
              <a:gd name="connsiteX3" fmla="*/ 0 w 3209925"/>
              <a:gd name="connsiteY3" fmla="*/ 6169024 h 616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9925" h="6169024">
                <a:moveTo>
                  <a:pt x="0" y="0"/>
                </a:moveTo>
                <a:lnTo>
                  <a:pt x="3209925" y="0"/>
                </a:lnTo>
                <a:lnTo>
                  <a:pt x="3209925" y="6169024"/>
                </a:lnTo>
                <a:lnTo>
                  <a:pt x="0" y="616902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678661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- desk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C93688E-1263-9D36-62A7-80F8CE19F9A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45670" y="2590799"/>
            <a:ext cx="4860531" cy="3578225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06750" y="2060575"/>
            <a:ext cx="3209925" cy="4010025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DFA67B3-1709-54E4-5A04-C5259FF0FE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982977" y="2742325"/>
            <a:ext cx="4585917" cy="257957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5FC0EE2-F2F1-F95E-5296-A4799BF2E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6229099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- mobi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492FA8-3242-7065-DBEC-298BE6E57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CFF7E-90AD-556E-DD8E-9CECD3DB0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234DB0-3004-509D-820F-9FF2CCC20F59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549953D-8BB0-B383-F725-C756E776B3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06750" y="2060575"/>
            <a:ext cx="3209925" cy="4010025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4B74144-F9DF-403B-B5C8-C97073D4EE4C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5FC0EE2-F2F1-F95E-5296-A4799BF2E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F3C9BFFC-B4D9-44A6-1923-855BB7D10B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13541" y="1283759"/>
            <a:ext cx="2239057" cy="4702175"/>
          </a:xfrm>
          <a:prstGeom prst="roundRect">
            <a:avLst>
              <a:gd name="adj" fmla="val 12251"/>
            </a:avLst>
          </a:prstGeom>
          <a:solidFill>
            <a:schemeClr val="tx1"/>
          </a:solidFill>
        </p:spPr>
        <p:txBody>
          <a:bodyPr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D9883130-8A5B-7D6C-2C29-C580C41FDA0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84617" y="1345678"/>
            <a:ext cx="2096905" cy="4578337"/>
          </a:xfrm>
          <a:custGeom>
            <a:avLst/>
            <a:gdLst>
              <a:gd name="connsiteX0" fmla="*/ 256226 w 2454413"/>
              <a:gd name="connsiteY0" fmla="*/ 84 h 5358912"/>
              <a:gd name="connsiteX1" fmla="*/ 409999 w 2454413"/>
              <a:gd name="connsiteY1" fmla="*/ 833 h 5358912"/>
              <a:gd name="connsiteX2" fmla="*/ 532204 w 2454413"/>
              <a:gd name="connsiteY2" fmla="*/ 84 h 5358912"/>
              <a:gd name="connsiteX3" fmla="*/ 646470 w 2454413"/>
              <a:gd name="connsiteY3" fmla="*/ 1020 h 5358912"/>
              <a:gd name="connsiteX4" fmla="*/ 875098 w 2454413"/>
              <a:gd name="connsiteY4" fmla="*/ 84 h 5358912"/>
              <a:gd name="connsiteX5" fmla="*/ 1086808 w 2454413"/>
              <a:gd name="connsiteY5" fmla="*/ 84 h 5358912"/>
              <a:gd name="connsiteX6" fmla="*/ 1287080 w 2454413"/>
              <a:gd name="connsiteY6" fmla="*/ 84 h 5358912"/>
              <a:gd name="connsiteX7" fmla="*/ 1497562 w 2454413"/>
              <a:gd name="connsiteY7" fmla="*/ 739 h 5358912"/>
              <a:gd name="connsiteX8" fmla="*/ 1686588 w 2454413"/>
              <a:gd name="connsiteY8" fmla="*/ 84 h 5358912"/>
              <a:gd name="connsiteX9" fmla="*/ 1900472 w 2454413"/>
              <a:gd name="connsiteY9" fmla="*/ 84 h 5358912"/>
              <a:gd name="connsiteX10" fmla="*/ 2071446 w 2454413"/>
              <a:gd name="connsiteY10" fmla="*/ 177 h 5358912"/>
              <a:gd name="connsiteX11" fmla="*/ 2198189 w 2454413"/>
              <a:gd name="connsiteY11" fmla="*/ 84 h 5358912"/>
              <a:gd name="connsiteX12" fmla="*/ 2446853 w 2454413"/>
              <a:gd name="connsiteY12" fmla="*/ 189884 h 5358912"/>
              <a:gd name="connsiteX13" fmla="*/ 2453941 w 2454413"/>
              <a:gd name="connsiteY13" fmla="*/ 259959 h 5358912"/>
              <a:gd name="connsiteX14" fmla="*/ 2454225 w 2454413"/>
              <a:gd name="connsiteY14" fmla="*/ 1370190 h 5358912"/>
              <a:gd name="connsiteX15" fmla="*/ 2454225 w 2454413"/>
              <a:gd name="connsiteY15" fmla="*/ 2680434 h 5358912"/>
              <a:gd name="connsiteX16" fmla="*/ 2454413 w 2454413"/>
              <a:gd name="connsiteY16" fmla="*/ 5106531 h 5358912"/>
              <a:gd name="connsiteX17" fmla="*/ 2379181 w 2454413"/>
              <a:gd name="connsiteY17" fmla="*/ 5287151 h 5358912"/>
              <a:gd name="connsiteX18" fmla="*/ 2196865 w 2454413"/>
              <a:gd name="connsiteY18" fmla="*/ 5358912 h 5358912"/>
              <a:gd name="connsiteX19" fmla="*/ 1017340 w 2454413"/>
              <a:gd name="connsiteY19" fmla="*/ 5358724 h 5358912"/>
              <a:gd name="connsiteX20" fmla="*/ 254714 w 2454413"/>
              <a:gd name="connsiteY20" fmla="*/ 5358912 h 5358912"/>
              <a:gd name="connsiteX21" fmla="*/ 104249 w 2454413"/>
              <a:gd name="connsiteY21" fmla="*/ 5311227 h 5358912"/>
              <a:gd name="connsiteX22" fmla="*/ 95 w 2454413"/>
              <a:gd name="connsiteY22" fmla="*/ 5103345 h 5358912"/>
              <a:gd name="connsiteX23" fmla="*/ 284 w 2454413"/>
              <a:gd name="connsiteY23" fmla="*/ 4192002 h 5358912"/>
              <a:gd name="connsiteX24" fmla="*/ 0 w 2454413"/>
              <a:gd name="connsiteY24" fmla="*/ 261271 h 5358912"/>
              <a:gd name="connsiteX25" fmla="*/ 117669 w 2454413"/>
              <a:gd name="connsiteY25" fmla="*/ 39149 h 5358912"/>
              <a:gd name="connsiteX26" fmla="*/ 256226 w 2454413"/>
              <a:gd name="connsiteY26" fmla="*/ 84 h 5358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454413" h="5358912">
                <a:moveTo>
                  <a:pt x="256226" y="84"/>
                </a:moveTo>
                <a:cubicBezTo>
                  <a:pt x="307451" y="84"/>
                  <a:pt x="358772" y="833"/>
                  <a:pt x="409999" y="833"/>
                </a:cubicBezTo>
                <a:cubicBezTo>
                  <a:pt x="450733" y="833"/>
                  <a:pt x="491469" y="84"/>
                  <a:pt x="532204" y="84"/>
                </a:cubicBezTo>
                <a:cubicBezTo>
                  <a:pt x="570293" y="84"/>
                  <a:pt x="608381" y="1020"/>
                  <a:pt x="646470" y="1020"/>
                </a:cubicBezTo>
                <a:cubicBezTo>
                  <a:pt x="722649" y="927"/>
                  <a:pt x="798920" y="271"/>
                  <a:pt x="875098" y="84"/>
                </a:cubicBezTo>
                <a:cubicBezTo>
                  <a:pt x="945700" y="-104"/>
                  <a:pt x="1016206" y="84"/>
                  <a:pt x="1086808" y="84"/>
                </a:cubicBezTo>
                <a:cubicBezTo>
                  <a:pt x="1153534" y="84"/>
                  <a:pt x="1220355" y="-11"/>
                  <a:pt x="1287080" y="84"/>
                </a:cubicBezTo>
                <a:cubicBezTo>
                  <a:pt x="1357210" y="177"/>
                  <a:pt x="1427433" y="739"/>
                  <a:pt x="1497562" y="739"/>
                </a:cubicBezTo>
                <a:cubicBezTo>
                  <a:pt x="1560602" y="739"/>
                  <a:pt x="1623548" y="177"/>
                  <a:pt x="1686588" y="84"/>
                </a:cubicBezTo>
                <a:cubicBezTo>
                  <a:pt x="1757851" y="-11"/>
                  <a:pt x="1829208" y="84"/>
                  <a:pt x="1900472" y="84"/>
                </a:cubicBezTo>
                <a:cubicBezTo>
                  <a:pt x="1957463" y="84"/>
                  <a:pt x="2014455" y="177"/>
                  <a:pt x="2071446" y="177"/>
                </a:cubicBezTo>
                <a:cubicBezTo>
                  <a:pt x="2113693" y="177"/>
                  <a:pt x="2155941" y="-11"/>
                  <a:pt x="2198189" y="84"/>
                </a:cubicBezTo>
                <a:cubicBezTo>
                  <a:pt x="2317936" y="458"/>
                  <a:pt x="2419160" y="76997"/>
                  <a:pt x="2446853" y="189884"/>
                </a:cubicBezTo>
                <a:cubicBezTo>
                  <a:pt x="2452429" y="212461"/>
                  <a:pt x="2453847" y="236538"/>
                  <a:pt x="2453941" y="259959"/>
                </a:cubicBezTo>
                <a:cubicBezTo>
                  <a:pt x="2454319" y="630005"/>
                  <a:pt x="2454225" y="1000144"/>
                  <a:pt x="2454225" y="1370190"/>
                </a:cubicBezTo>
                <a:cubicBezTo>
                  <a:pt x="2454225" y="1806939"/>
                  <a:pt x="2454225" y="2243686"/>
                  <a:pt x="2454225" y="2680434"/>
                </a:cubicBezTo>
                <a:cubicBezTo>
                  <a:pt x="2454225" y="3489102"/>
                  <a:pt x="2454225" y="4297863"/>
                  <a:pt x="2454413" y="5106531"/>
                </a:cubicBezTo>
                <a:cubicBezTo>
                  <a:pt x="2454413" y="5177448"/>
                  <a:pt x="2429651" y="5237780"/>
                  <a:pt x="2379181" y="5287151"/>
                </a:cubicBezTo>
                <a:cubicBezTo>
                  <a:pt x="2328900" y="5336241"/>
                  <a:pt x="2267750" y="5359005"/>
                  <a:pt x="2196865" y="5358912"/>
                </a:cubicBezTo>
                <a:cubicBezTo>
                  <a:pt x="1803690" y="5358537"/>
                  <a:pt x="1410515" y="5358724"/>
                  <a:pt x="1017340" y="5358724"/>
                </a:cubicBezTo>
                <a:cubicBezTo>
                  <a:pt x="763100" y="5358724"/>
                  <a:pt x="508954" y="5358537"/>
                  <a:pt x="254714" y="5358912"/>
                </a:cubicBezTo>
                <a:cubicBezTo>
                  <a:pt x="199140" y="5358912"/>
                  <a:pt x="148481" y="5344203"/>
                  <a:pt x="104249" y="5311227"/>
                </a:cubicBezTo>
                <a:cubicBezTo>
                  <a:pt x="34781" y="5259421"/>
                  <a:pt x="0" y="5190189"/>
                  <a:pt x="95" y="5103345"/>
                </a:cubicBezTo>
                <a:cubicBezTo>
                  <a:pt x="473" y="4799534"/>
                  <a:pt x="284" y="4495814"/>
                  <a:pt x="284" y="4192002"/>
                </a:cubicBezTo>
                <a:cubicBezTo>
                  <a:pt x="284" y="2881758"/>
                  <a:pt x="378" y="1571514"/>
                  <a:pt x="0" y="261271"/>
                </a:cubicBezTo>
                <a:cubicBezTo>
                  <a:pt x="0" y="165808"/>
                  <a:pt x="37900" y="91798"/>
                  <a:pt x="117669" y="39149"/>
                </a:cubicBezTo>
                <a:cubicBezTo>
                  <a:pt x="159350" y="11606"/>
                  <a:pt x="206417" y="177"/>
                  <a:pt x="256226" y="84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 wrap="square" anchor="ctr">
            <a:noAutofit/>
          </a:bodyPr>
          <a:lstStyle>
            <a:lvl1pPr algn="ctr">
              <a:defRPr>
                <a:latin typeface="+mn-lt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844661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9959E86-D769-AF18-FB19-1E9646A2CA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924050" y="1901825"/>
            <a:ext cx="10267950" cy="4956175"/>
          </a:xfrm>
          <a:solidFill>
            <a:schemeClr val="bg1"/>
          </a:solidFill>
        </p:spPr>
        <p:txBody>
          <a:bodyPr lIns="648000" tIns="503999" rIns="720000" bIns="360000"/>
          <a:lstStyle>
            <a:lvl1pPr>
              <a:defRPr sz="100">
                <a:noFill/>
                <a:latin typeface="+mj-lt"/>
              </a:defRPr>
            </a:lvl1pPr>
          </a:lstStyle>
          <a:p>
            <a:pPr lvl="0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16726" y="2409290"/>
            <a:ext cx="9138202" cy="3759735"/>
          </a:xfrm>
        </p:spPr>
        <p:txBody>
          <a:bodyPr numCol="1" spcCol="360000"/>
          <a:lstStyle>
            <a:lvl1pPr>
              <a:lnSpc>
                <a:spcPct val="90000"/>
              </a:lnSpc>
              <a:defRPr sz="5400"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j-lt"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j-lt"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35073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600" y="0"/>
            <a:ext cx="12193200" cy="6858000"/>
          </a:xfrm>
          <a:solidFill>
            <a:schemeClr val="bg1">
              <a:lumMod val="50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0"/>
            <a:ext cx="12193200" cy="6858000"/>
          </a:xfrm>
          <a:solidFill>
            <a:schemeClr val="tx1">
              <a:alpha val="60000"/>
            </a:schemeClr>
          </a:solidFill>
        </p:spPr>
        <p:txBody>
          <a:bodyPr lIns="1980000" tIns="900000" rIns="1980000" bIns="900000" numCol="1" spcCol="360000" anchor="ctr"/>
          <a:lstStyle>
            <a:lvl1pPr algn="ctr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52221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2000" y="680400"/>
            <a:ext cx="10908000" cy="5497200"/>
          </a:xfrm>
          <a:solidFill>
            <a:schemeClr val="bg1">
              <a:lumMod val="50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1350" y="680400"/>
            <a:ext cx="10909300" cy="5497200"/>
          </a:xfrm>
          <a:solidFill>
            <a:schemeClr val="tx1">
              <a:alpha val="60000"/>
            </a:schemeClr>
          </a:solidFill>
        </p:spPr>
        <p:txBody>
          <a:bodyPr lIns="1980000" tIns="900000" rIns="1980000" bIns="900000" numCol="1" spcCol="360000" anchor="ctr"/>
          <a:lstStyle>
            <a:lvl1pPr algn="ctr">
              <a:lnSpc>
                <a:spcPct val="90000"/>
              </a:lnSpc>
              <a:defRPr sz="54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A0C17C-CD5C-B2B2-48E3-7FC8FE1DE12E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32742520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600" y="0"/>
            <a:ext cx="12193200" cy="6858000"/>
          </a:xfrm>
          <a:solidFill>
            <a:schemeClr val="bg1">
              <a:lumMod val="50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587" y="682625"/>
            <a:ext cx="10918826" cy="5492750"/>
          </a:xfrm>
          <a:solidFill>
            <a:schemeClr val="bg2"/>
          </a:solidFill>
        </p:spPr>
        <p:txBody>
          <a:bodyPr lIns="1980000" tIns="900000" rIns="1980000" bIns="900000" numCol="1" spcCol="360000" anchor="ctr"/>
          <a:lstStyle>
            <a:lvl1pPr algn="ctr">
              <a:lnSpc>
                <a:spcPct val="90000"/>
              </a:lnSpc>
              <a:defRPr sz="5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31365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5">
            <a:extLst>
              <a:ext uri="{FF2B5EF4-FFF2-40B4-BE49-F238E27FC236}">
                <a16:creationId xmlns:a16="http://schemas.microsoft.com/office/drawing/2014/main" id="{C94CDDFE-B808-A462-BF7C-15A9ACEEE89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095400" y="0"/>
            <a:ext cx="6096600" cy="6858000"/>
          </a:xfrm>
          <a:solidFill>
            <a:schemeClr val="bg1">
              <a:lumMod val="65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600" y="0"/>
            <a:ext cx="6096600" cy="6858000"/>
          </a:xfrm>
          <a:solidFill>
            <a:schemeClr val="bg1">
              <a:lumMod val="50000"/>
            </a:schemeClr>
          </a:solidFill>
        </p:spPr>
        <p:txBody>
          <a:bodyPr anchor="t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600" y="0"/>
            <a:ext cx="12193200" cy="6858000"/>
          </a:xfrm>
          <a:solidFill>
            <a:schemeClr val="tx1">
              <a:alpha val="60000"/>
            </a:schemeClr>
          </a:solidFill>
        </p:spPr>
        <p:txBody>
          <a:bodyPr lIns="1980000" tIns="900000" rIns="1980000" bIns="900000" numCol="1" spcCol="360000" anchor="ctr"/>
          <a:lstStyle>
            <a:lvl1pPr algn="ctr">
              <a:lnSpc>
                <a:spcPct val="90000"/>
              </a:lnSpc>
              <a:defRPr sz="54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2296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619200" cy="6858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9959E86-D769-AF18-FB19-1E9646A2CA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206750" y="682625"/>
            <a:ext cx="8985250" cy="5492752"/>
          </a:xfrm>
          <a:solidFill>
            <a:schemeClr val="bg1"/>
          </a:solidFill>
        </p:spPr>
        <p:txBody>
          <a:bodyPr lIns="648000" tIns="503999" rIns="720000" bIns="360000"/>
          <a:lstStyle>
            <a:lvl1pPr>
              <a:defRPr sz="100">
                <a:noFill/>
                <a:latin typeface="+mn-lt"/>
              </a:defRPr>
            </a:lvl1pPr>
          </a:lstStyle>
          <a:p>
            <a:pPr lvl="0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848100" y="682625"/>
            <a:ext cx="7706828" cy="5492750"/>
          </a:xfrm>
        </p:spPr>
        <p:txBody>
          <a:bodyPr numCol="1" spcCol="360000" anchor="ctr"/>
          <a:lstStyle>
            <a:lvl1pPr>
              <a:lnSpc>
                <a:spcPct val="90000"/>
              </a:lnSpc>
              <a:defRPr sz="5400">
                <a:latin typeface="+mn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78752AD-89EB-4103-B2A4-8FFD72F2DDBD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  <a:latin typeface="+mn-lt"/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  <a:latin typeface="+mn-lt"/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30921989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extra #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3A5AB9B-F36D-C97A-851D-0C3C055F8AB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-600" y="4572001"/>
            <a:ext cx="12193200" cy="2286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5A686A2-DB4A-4300-3D5B-A3EBF888B49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923450" y="4572001"/>
            <a:ext cx="10268550" cy="2286000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70000"/>
                </a:schemeClr>
              </a:gs>
            </a:gsLst>
            <a:lin ang="0" scaled="1"/>
            <a:tileRect/>
          </a:gradFill>
        </p:spPr>
        <p:txBody>
          <a:bodyPr lIns="360000" tIns="0" rIns="1260000" bIns="0" numCol="1" spcCol="360000" anchor="ctr"/>
          <a:lstStyle>
            <a:lvl1pPr algn="r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9F4806A-5A04-4F83-1383-BACACC67A7C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600" y="2286001"/>
            <a:ext cx="12193200" cy="2286000"/>
          </a:xfrm>
          <a:solidFill>
            <a:schemeClr val="bg1">
              <a:lumMod val="65000"/>
            </a:schemeClr>
          </a:solidFill>
        </p:spPr>
        <p:txBody>
          <a:bodyPr anchor="ctr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600" y="0"/>
            <a:ext cx="12193200" cy="2286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923450" y="0"/>
            <a:ext cx="10268550" cy="2286000"/>
          </a:xfrm>
          <a:gradFill flip="none" rotWithShape="1"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70000"/>
                </a:schemeClr>
              </a:gs>
            </a:gsLst>
            <a:lin ang="0" scaled="1"/>
            <a:tileRect/>
          </a:gradFill>
        </p:spPr>
        <p:txBody>
          <a:bodyPr lIns="360000" tIns="0" rIns="1260000" bIns="0" numCol="1" spcCol="360000" anchor="ctr"/>
          <a:lstStyle>
            <a:lvl1pPr algn="r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22">
            <a:extLst>
              <a:ext uri="{FF2B5EF4-FFF2-40B4-BE49-F238E27FC236}">
                <a16:creationId xmlns:a16="http://schemas.microsoft.com/office/drawing/2014/main" id="{22333F19-7CF5-DF04-0BC6-3C06F45B9AB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656530" y="6299513"/>
            <a:ext cx="433868" cy="433868"/>
          </a:xfrm>
          <a:custGeom>
            <a:avLst/>
            <a:gdLst>
              <a:gd name="connsiteX0" fmla="*/ 216934 w 433868"/>
              <a:gd name="connsiteY0" fmla="*/ 0 h 433868"/>
              <a:gd name="connsiteX1" fmla="*/ 433868 w 433868"/>
              <a:gd name="connsiteY1" fmla="*/ 216934 h 433868"/>
              <a:gd name="connsiteX2" fmla="*/ 216934 w 433868"/>
              <a:gd name="connsiteY2" fmla="*/ 433868 h 433868"/>
              <a:gd name="connsiteX3" fmla="*/ 0 w 433868"/>
              <a:gd name="connsiteY3" fmla="*/ 216934 h 433868"/>
              <a:gd name="connsiteX4" fmla="*/ 216934 w 433868"/>
              <a:gd name="connsiteY4" fmla="*/ 0 h 433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3868" h="433868">
                <a:moveTo>
                  <a:pt x="216934" y="0"/>
                </a:moveTo>
                <a:cubicBezTo>
                  <a:pt x="336743" y="0"/>
                  <a:pt x="433868" y="97125"/>
                  <a:pt x="433868" y="216934"/>
                </a:cubicBezTo>
                <a:cubicBezTo>
                  <a:pt x="433868" y="336743"/>
                  <a:pt x="336743" y="433868"/>
                  <a:pt x="216934" y="433868"/>
                </a:cubicBezTo>
                <a:cubicBezTo>
                  <a:pt x="97125" y="433868"/>
                  <a:pt x="0" y="336743"/>
                  <a:pt x="0" y="216934"/>
                </a:cubicBezTo>
                <a:cubicBezTo>
                  <a:pt x="0" y="97125"/>
                  <a:pt x="97125" y="0"/>
                  <a:pt x="216934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13" name="Text Placeholder 23">
            <a:extLst>
              <a:ext uri="{FF2B5EF4-FFF2-40B4-BE49-F238E27FC236}">
                <a16:creationId xmlns:a16="http://schemas.microsoft.com/office/drawing/2014/main" id="{D9462FB8-4824-0308-2CFE-FF681AAA7F8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14548" y="6453442"/>
            <a:ext cx="318365" cy="127333"/>
          </a:xfrm>
          <a:custGeom>
            <a:avLst/>
            <a:gdLst>
              <a:gd name="connsiteX0" fmla="*/ 63648 w 318365"/>
              <a:gd name="connsiteY0" fmla="*/ 17774 h 127333"/>
              <a:gd name="connsiteX1" fmla="*/ 39941 w 318365"/>
              <a:gd name="connsiteY1" fmla="*/ 23707 h 127333"/>
              <a:gd name="connsiteX2" fmla="*/ 23829 w 318365"/>
              <a:gd name="connsiteY2" fmla="*/ 40074 h 127333"/>
              <a:gd name="connsiteX3" fmla="*/ 18029 w 318365"/>
              <a:gd name="connsiteY3" fmla="*/ 63660 h 127333"/>
              <a:gd name="connsiteX4" fmla="*/ 18041 w 318365"/>
              <a:gd name="connsiteY4" fmla="*/ 63660 h 127333"/>
              <a:gd name="connsiteX5" fmla="*/ 23841 w 318365"/>
              <a:gd name="connsiteY5" fmla="*/ 87756 h 127333"/>
              <a:gd name="connsiteX6" fmla="*/ 26437 w 318365"/>
              <a:gd name="connsiteY6" fmla="*/ 91845 h 127333"/>
              <a:gd name="connsiteX7" fmla="*/ 90814 w 318365"/>
              <a:gd name="connsiteY7" fmla="*/ 27238 h 127333"/>
              <a:gd name="connsiteX8" fmla="*/ 83498 w 318365"/>
              <a:gd name="connsiteY8" fmla="*/ 22154 h 127333"/>
              <a:gd name="connsiteX9" fmla="*/ 63648 w 318365"/>
              <a:gd name="connsiteY9" fmla="*/ 17774 h 127333"/>
              <a:gd name="connsiteX10" fmla="*/ 63394 w 318365"/>
              <a:gd name="connsiteY10" fmla="*/ 1031 h 127333"/>
              <a:gd name="connsiteX11" fmla="*/ 92136 w 318365"/>
              <a:gd name="connsiteY11" fmla="*/ 7862 h 127333"/>
              <a:gd name="connsiteX12" fmla="*/ 92124 w 318365"/>
              <a:gd name="connsiteY12" fmla="*/ 7862 h 127333"/>
              <a:gd name="connsiteX13" fmla="*/ 112616 w 318365"/>
              <a:gd name="connsiteY13" fmla="*/ 27068 h 127333"/>
              <a:gd name="connsiteX14" fmla="*/ 37369 w 318365"/>
              <a:gd name="connsiteY14" fmla="*/ 102570 h 127333"/>
              <a:gd name="connsiteX15" fmla="*/ 40062 w 318365"/>
              <a:gd name="connsiteY15" fmla="*/ 104269 h 127333"/>
              <a:gd name="connsiteX16" fmla="*/ 63903 w 318365"/>
              <a:gd name="connsiteY16" fmla="*/ 110323 h 127333"/>
              <a:gd name="connsiteX17" fmla="*/ 84529 w 318365"/>
              <a:gd name="connsiteY17" fmla="*/ 106586 h 127333"/>
              <a:gd name="connsiteX18" fmla="*/ 99998 w 318365"/>
              <a:gd name="connsiteY18" fmla="*/ 95885 h 127333"/>
              <a:gd name="connsiteX19" fmla="*/ 111852 w 318365"/>
              <a:gd name="connsiteY19" fmla="*/ 107739 h 127333"/>
              <a:gd name="connsiteX20" fmla="*/ 90850 w 318365"/>
              <a:gd name="connsiteY20" fmla="*/ 122298 h 127333"/>
              <a:gd name="connsiteX21" fmla="*/ 63915 w 318365"/>
              <a:gd name="connsiteY21" fmla="*/ 127321 h 127333"/>
              <a:gd name="connsiteX22" fmla="*/ 31181 w 318365"/>
              <a:gd name="connsiteY22" fmla="*/ 118816 h 127333"/>
              <a:gd name="connsiteX23" fmla="*/ 8372 w 318365"/>
              <a:gd name="connsiteY23" fmla="*/ 95873 h 127333"/>
              <a:gd name="connsiteX24" fmla="*/ 0 w 318365"/>
              <a:gd name="connsiteY24" fmla="*/ 63660 h 127333"/>
              <a:gd name="connsiteX25" fmla="*/ 8372 w 318365"/>
              <a:gd name="connsiteY25" fmla="*/ 31957 h 127333"/>
              <a:gd name="connsiteX26" fmla="*/ 31048 w 318365"/>
              <a:gd name="connsiteY26" fmla="*/ 9403 h 127333"/>
              <a:gd name="connsiteX27" fmla="*/ 63394 w 318365"/>
              <a:gd name="connsiteY27" fmla="*/ 1031 h 127333"/>
              <a:gd name="connsiteX28" fmla="*/ 179966 w 318365"/>
              <a:gd name="connsiteY28" fmla="*/ 0 h 127333"/>
              <a:gd name="connsiteX29" fmla="*/ 208187 w 318365"/>
              <a:gd name="connsiteY29" fmla="*/ 7219 h 127333"/>
              <a:gd name="connsiteX30" fmla="*/ 221193 w 318365"/>
              <a:gd name="connsiteY30" fmla="*/ 19024 h 127333"/>
              <a:gd name="connsiteX31" fmla="*/ 234090 w 318365"/>
              <a:gd name="connsiteY31" fmla="*/ 7219 h 127333"/>
              <a:gd name="connsiteX32" fmla="*/ 262445 w 318365"/>
              <a:gd name="connsiteY32" fmla="*/ 0 h 127333"/>
              <a:gd name="connsiteX33" fmla="*/ 291952 w 318365"/>
              <a:gd name="connsiteY33" fmla="*/ 7086 h 127333"/>
              <a:gd name="connsiteX34" fmla="*/ 311413 w 318365"/>
              <a:gd name="connsiteY34" fmla="*/ 26546 h 127333"/>
              <a:gd name="connsiteX35" fmla="*/ 311400 w 318365"/>
              <a:gd name="connsiteY35" fmla="*/ 26559 h 127333"/>
              <a:gd name="connsiteX36" fmla="*/ 318365 w 318365"/>
              <a:gd name="connsiteY36" fmla="*/ 55168 h 127333"/>
              <a:gd name="connsiteX37" fmla="*/ 318365 w 318365"/>
              <a:gd name="connsiteY37" fmla="*/ 127333 h 127333"/>
              <a:gd name="connsiteX38" fmla="*/ 284344 w 318365"/>
              <a:gd name="connsiteY38" fmla="*/ 127333 h 127333"/>
              <a:gd name="connsiteX39" fmla="*/ 284344 w 318365"/>
              <a:gd name="connsiteY39" fmla="*/ 57740 h 127333"/>
              <a:gd name="connsiteX40" fmla="*/ 278411 w 318365"/>
              <a:gd name="connsiteY40" fmla="*/ 38145 h 127333"/>
              <a:gd name="connsiteX41" fmla="*/ 261147 w 318365"/>
              <a:gd name="connsiteY41" fmla="*/ 31181 h 127333"/>
              <a:gd name="connsiteX42" fmla="*/ 244136 w 318365"/>
              <a:gd name="connsiteY42" fmla="*/ 38012 h 127333"/>
              <a:gd name="connsiteX43" fmla="*/ 238203 w 318365"/>
              <a:gd name="connsiteY43" fmla="*/ 57728 h 127333"/>
              <a:gd name="connsiteX44" fmla="*/ 238203 w 318365"/>
              <a:gd name="connsiteY44" fmla="*/ 127321 h 127333"/>
              <a:gd name="connsiteX45" fmla="*/ 204183 w 318365"/>
              <a:gd name="connsiteY45" fmla="*/ 127321 h 127333"/>
              <a:gd name="connsiteX46" fmla="*/ 204183 w 318365"/>
              <a:gd name="connsiteY46" fmla="*/ 57728 h 127333"/>
              <a:gd name="connsiteX47" fmla="*/ 198250 w 318365"/>
              <a:gd name="connsiteY47" fmla="*/ 38012 h 127333"/>
              <a:gd name="connsiteX48" fmla="*/ 180985 w 318365"/>
              <a:gd name="connsiteY48" fmla="*/ 31181 h 127333"/>
              <a:gd name="connsiteX49" fmla="*/ 163842 w 318365"/>
              <a:gd name="connsiteY49" fmla="*/ 38012 h 127333"/>
              <a:gd name="connsiteX50" fmla="*/ 157787 w 318365"/>
              <a:gd name="connsiteY50" fmla="*/ 57728 h 127333"/>
              <a:gd name="connsiteX51" fmla="*/ 157787 w 318365"/>
              <a:gd name="connsiteY51" fmla="*/ 127321 h 127333"/>
              <a:gd name="connsiteX52" fmla="*/ 124022 w 318365"/>
              <a:gd name="connsiteY52" fmla="*/ 127321 h 127333"/>
              <a:gd name="connsiteX53" fmla="*/ 124022 w 318365"/>
              <a:gd name="connsiteY53" fmla="*/ 55156 h 127333"/>
              <a:gd name="connsiteX54" fmla="*/ 130986 w 318365"/>
              <a:gd name="connsiteY54" fmla="*/ 26546 h 127333"/>
              <a:gd name="connsiteX55" fmla="*/ 150581 w 318365"/>
              <a:gd name="connsiteY55" fmla="*/ 7086 h 127333"/>
              <a:gd name="connsiteX56" fmla="*/ 179966 w 318365"/>
              <a:gd name="connsiteY56" fmla="*/ 0 h 127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318365" h="127333">
                <a:moveTo>
                  <a:pt x="63648" y="17774"/>
                </a:moveTo>
                <a:cubicBezTo>
                  <a:pt x="54719" y="17774"/>
                  <a:pt x="46808" y="19752"/>
                  <a:pt x="39941" y="23707"/>
                </a:cubicBezTo>
                <a:cubicBezTo>
                  <a:pt x="33062" y="27662"/>
                  <a:pt x="27699" y="33110"/>
                  <a:pt x="23829" y="40074"/>
                </a:cubicBezTo>
                <a:cubicBezTo>
                  <a:pt x="19958" y="47038"/>
                  <a:pt x="18029" y="54900"/>
                  <a:pt x="18029" y="63660"/>
                </a:cubicBezTo>
                <a:lnTo>
                  <a:pt x="18041" y="63660"/>
                </a:lnTo>
                <a:cubicBezTo>
                  <a:pt x="18041" y="72772"/>
                  <a:pt x="19971" y="80792"/>
                  <a:pt x="23841" y="87756"/>
                </a:cubicBezTo>
                <a:cubicBezTo>
                  <a:pt x="24630" y="89188"/>
                  <a:pt x="25515" y="90534"/>
                  <a:pt x="26437" y="91845"/>
                </a:cubicBezTo>
                <a:lnTo>
                  <a:pt x="90814" y="27238"/>
                </a:lnTo>
                <a:cubicBezTo>
                  <a:pt x="88618" y="25272"/>
                  <a:pt x="86179" y="23586"/>
                  <a:pt x="83498" y="22154"/>
                </a:cubicBezTo>
                <a:cubicBezTo>
                  <a:pt x="77989" y="19242"/>
                  <a:pt x="71377" y="17774"/>
                  <a:pt x="63648" y="17774"/>
                </a:cubicBezTo>
                <a:close/>
                <a:moveTo>
                  <a:pt x="63394" y="1031"/>
                </a:moveTo>
                <a:cubicBezTo>
                  <a:pt x="74228" y="1031"/>
                  <a:pt x="83801" y="3312"/>
                  <a:pt x="92136" y="7862"/>
                </a:cubicBezTo>
                <a:lnTo>
                  <a:pt x="92124" y="7862"/>
                </a:lnTo>
                <a:cubicBezTo>
                  <a:pt x="100459" y="12424"/>
                  <a:pt x="107290" y="18818"/>
                  <a:pt x="112616" y="27068"/>
                </a:cubicBezTo>
                <a:lnTo>
                  <a:pt x="37369" y="102570"/>
                </a:lnTo>
                <a:cubicBezTo>
                  <a:pt x="38242" y="103165"/>
                  <a:pt x="39140" y="103735"/>
                  <a:pt x="40062" y="104269"/>
                </a:cubicBezTo>
                <a:cubicBezTo>
                  <a:pt x="47014" y="108309"/>
                  <a:pt x="54961" y="110323"/>
                  <a:pt x="63903" y="110323"/>
                </a:cubicBezTo>
                <a:cubicBezTo>
                  <a:pt x="71814" y="110323"/>
                  <a:pt x="78681" y="109073"/>
                  <a:pt x="84529" y="106586"/>
                </a:cubicBezTo>
                <a:cubicBezTo>
                  <a:pt x="90377" y="104087"/>
                  <a:pt x="95533" y="100520"/>
                  <a:pt x="99998" y="95885"/>
                </a:cubicBezTo>
                <a:lnTo>
                  <a:pt x="111852" y="107739"/>
                </a:lnTo>
                <a:cubicBezTo>
                  <a:pt x="105834" y="114096"/>
                  <a:pt x="98846" y="118949"/>
                  <a:pt x="90850" y="122298"/>
                </a:cubicBezTo>
                <a:cubicBezTo>
                  <a:pt x="82855" y="125647"/>
                  <a:pt x="73876" y="127321"/>
                  <a:pt x="63915" y="127321"/>
                </a:cubicBezTo>
                <a:cubicBezTo>
                  <a:pt x="51710" y="127321"/>
                  <a:pt x="40802" y="124482"/>
                  <a:pt x="31181" y="118816"/>
                </a:cubicBezTo>
                <a:cubicBezTo>
                  <a:pt x="21560" y="113138"/>
                  <a:pt x="13953" y="105494"/>
                  <a:pt x="8372" y="95873"/>
                </a:cubicBezTo>
                <a:cubicBezTo>
                  <a:pt x="2791" y="86264"/>
                  <a:pt x="0" y="75344"/>
                  <a:pt x="0" y="63660"/>
                </a:cubicBezTo>
                <a:cubicBezTo>
                  <a:pt x="0" y="51976"/>
                  <a:pt x="2791" y="41409"/>
                  <a:pt x="8372" y="31957"/>
                </a:cubicBezTo>
                <a:cubicBezTo>
                  <a:pt x="13953" y="22506"/>
                  <a:pt x="21511" y="14984"/>
                  <a:pt x="31048" y="9403"/>
                </a:cubicBezTo>
                <a:cubicBezTo>
                  <a:pt x="40584" y="3822"/>
                  <a:pt x="51370" y="1031"/>
                  <a:pt x="63394" y="1031"/>
                </a:cubicBezTo>
                <a:close/>
                <a:moveTo>
                  <a:pt x="179966" y="0"/>
                </a:moveTo>
                <a:cubicBezTo>
                  <a:pt x="190789" y="0"/>
                  <a:pt x="200192" y="2414"/>
                  <a:pt x="208187" y="7219"/>
                </a:cubicBezTo>
                <a:cubicBezTo>
                  <a:pt x="213271" y="10276"/>
                  <a:pt x="217602" y="14220"/>
                  <a:pt x="221193" y="19024"/>
                </a:cubicBezTo>
                <a:cubicBezTo>
                  <a:pt x="224760" y="14220"/>
                  <a:pt x="229055" y="10289"/>
                  <a:pt x="234090" y="7219"/>
                </a:cubicBezTo>
                <a:cubicBezTo>
                  <a:pt x="241989" y="2414"/>
                  <a:pt x="251113" y="0"/>
                  <a:pt x="262445" y="0"/>
                </a:cubicBezTo>
                <a:cubicBezTo>
                  <a:pt x="273777" y="0"/>
                  <a:pt x="283616" y="2366"/>
                  <a:pt x="291952" y="7086"/>
                </a:cubicBezTo>
                <a:cubicBezTo>
                  <a:pt x="300287" y="11817"/>
                  <a:pt x="306778" y="18296"/>
                  <a:pt x="311413" y="26546"/>
                </a:cubicBezTo>
                <a:lnTo>
                  <a:pt x="311400" y="26559"/>
                </a:lnTo>
                <a:cubicBezTo>
                  <a:pt x="316047" y="34809"/>
                  <a:pt x="318365" y="44345"/>
                  <a:pt x="318365" y="55168"/>
                </a:cubicBezTo>
                <a:lnTo>
                  <a:pt x="318365" y="127333"/>
                </a:lnTo>
                <a:lnTo>
                  <a:pt x="284344" y="127333"/>
                </a:lnTo>
                <a:lnTo>
                  <a:pt x="284344" y="57740"/>
                </a:lnTo>
                <a:cubicBezTo>
                  <a:pt x="284344" y="49320"/>
                  <a:pt x="282367" y="42780"/>
                  <a:pt x="278411" y="38145"/>
                </a:cubicBezTo>
                <a:cubicBezTo>
                  <a:pt x="274456" y="33499"/>
                  <a:pt x="268535" y="31181"/>
                  <a:pt x="261147" y="31181"/>
                </a:cubicBezTo>
                <a:cubicBezTo>
                  <a:pt x="253758" y="31181"/>
                  <a:pt x="248092" y="33462"/>
                  <a:pt x="244136" y="38012"/>
                </a:cubicBezTo>
                <a:cubicBezTo>
                  <a:pt x="240181" y="42562"/>
                  <a:pt x="238203" y="49138"/>
                  <a:pt x="238203" y="57728"/>
                </a:cubicBezTo>
                <a:lnTo>
                  <a:pt x="238203" y="127321"/>
                </a:lnTo>
                <a:lnTo>
                  <a:pt x="204183" y="127321"/>
                </a:lnTo>
                <a:lnTo>
                  <a:pt x="204183" y="57728"/>
                </a:lnTo>
                <a:cubicBezTo>
                  <a:pt x="204183" y="49138"/>
                  <a:pt x="202206" y="42562"/>
                  <a:pt x="198250" y="38012"/>
                </a:cubicBezTo>
                <a:cubicBezTo>
                  <a:pt x="194295" y="33462"/>
                  <a:pt x="188374" y="31181"/>
                  <a:pt x="180985" y="31181"/>
                </a:cubicBezTo>
                <a:cubicBezTo>
                  <a:pt x="173596" y="31181"/>
                  <a:pt x="167882" y="33462"/>
                  <a:pt x="163842" y="38012"/>
                </a:cubicBezTo>
                <a:cubicBezTo>
                  <a:pt x="159802" y="42562"/>
                  <a:pt x="157787" y="49138"/>
                  <a:pt x="157787" y="57728"/>
                </a:cubicBezTo>
                <a:lnTo>
                  <a:pt x="157787" y="127321"/>
                </a:lnTo>
                <a:lnTo>
                  <a:pt x="124022" y="127321"/>
                </a:lnTo>
                <a:lnTo>
                  <a:pt x="124022" y="55156"/>
                </a:lnTo>
                <a:cubicBezTo>
                  <a:pt x="124022" y="44333"/>
                  <a:pt x="126352" y="34797"/>
                  <a:pt x="130986" y="26546"/>
                </a:cubicBezTo>
                <a:cubicBezTo>
                  <a:pt x="135633" y="18296"/>
                  <a:pt x="142161" y="11817"/>
                  <a:pt x="150581" y="7086"/>
                </a:cubicBezTo>
                <a:cubicBezTo>
                  <a:pt x="159001" y="2366"/>
                  <a:pt x="169144" y="0"/>
                  <a:pt x="17996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A57C6F1D-0082-D95A-B441-BCB17D23837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0" y="2286001"/>
            <a:ext cx="10268550" cy="2286000"/>
          </a:xfrm>
          <a:gradFill flip="none" rotWithShape="1">
            <a:gsLst>
              <a:gs pos="0">
                <a:schemeClr val="tx1">
                  <a:alpha val="70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</p:spPr>
        <p:txBody>
          <a:bodyPr lIns="1260000" tIns="0" rIns="360000" bIns="0" numCol="1" spcCol="360000" anchor="ctr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276194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content">
  <p:cSld name="Full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title"/>
          </p:nvPr>
        </p:nvSpPr>
        <p:spPr>
          <a:xfrm>
            <a:off x="618065" y="692727"/>
            <a:ext cx="10965600" cy="1192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C1C"/>
              </a:buClr>
              <a:buSzPts val="1800"/>
              <a:buNone/>
              <a:defRPr>
                <a:latin typeface="+mn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6"/>
          <p:cNvSpPr txBox="1">
            <a:spLocks noGrp="1"/>
          </p:cNvSpPr>
          <p:nvPr>
            <p:ph type="body" idx="1"/>
          </p:nvPr>
        </p:nvSpPr>
        <p:spPr>
          <a:xfrm>
            <a:off x="618066" y="2133600"/>
            <a:ext cx="10965600" cy="4114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91C1C"/>
              </a:buClr>
              <a:buSzPts val="1800"/>
              <a:buNone/>
              <a:defRPr>
                <a:latin typeface="+mn-lt"/>
              </a:defRPr>
            </a:lvl1pPr>
            <a:lvl2pPr marL="914400" lvl="1" indent="-22860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800"/>
              <a:buNone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191C1C"/>
              </a:buClr>
              <a:buSzPts val="1800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ftr" idx="11"/>
          </p:nvPr>
        </p:nvSpPr>
        <p:spPr>
          <a:xfrm>
            <a:off x="6721006" y="6498000"/>
            <a:ext cx="484674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i="1">
                <a:latin typeface="+mn-l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en-IN"/>
          </a:p>
        </p:txBody>
      </p:sp>
      <p:sp>
        <p:nvSpPr>
          <p:cNvPr id="19" name="Google Shape;19;p26"/>
          <p:cNvSpPr txBox="1">
            <a:spLocks noGrp="1"/>
          </p:cNvSpPr>
          <p:nvPr>
            <p:ph type="sldNum" idx="12"/>
          </p:nvPr>
        </p:nvSpPr>
        <p:spPr>
          <a:xfrm>
            <a:off x="11592996" y="6498000"/>
            <a:ext cx="464127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+mn-lt"/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439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02821-8F13-4994-7568-0017F5E55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0E3F3A-09AD-4D4F-6D9E-5E790B9447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F133E-8863-0521-DD73-A9139FC35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70A8821C-1511-4E9E-A5CD-B6CCB03F4093}" type="datetimeFigureOut">
              <a:rPr lang="en-US" smtClean="0"/>
              <a:pPr/>
              <a:t>4/22/2025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5A5DC-91D0-31E8-4BCB-3514E7F3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D8C776-78C6-55B7-0DE3-2CF401ED2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fld id="{F9E9DD62-FDD5-4742-B0B8-ADE6C9DF4C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80662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tatement extra #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1C6C7D01-5EDD-FF13-27FE-0217648BED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619200" cy="6858000"/>
          </a:xfrm>
          <a:solidFill>
            <a:schemeClr val="bg1">
              <a:lumMod val="50000"/>
            </a:schemeClr>
          </a:solidFill>
        </p:spPr>
        <p:txBody>
          <a:bodyPr anchor="ctr"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9959E86-D769-AF18-FB19-1E9646A2CA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206750" y="682625"/>
            <a:ext cx="8985250" cy="5492752"/>
          </a:xfrm>
          <a:solidFill>
            <a:schemeClr val="bg1"/>
          </a:solidFill>
        </p:spPr>
        <p:txBody>
          <a:bodyPr lIns="648000" tIns="503999" rIns="720000" bIns="360000"/>
          <a:lstStyle>
            <a:lvl1pPr>
              <a:defRPr sz="100">
                <a:noFill/>
              </a:defRPr>
            </a:lvl1pPr>
          </a:lstStyle>
          <a:p>
            <a:pPr lvl="0"/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4967A-CFD4-A89C-88F5-6E0BBB076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6DE5283-3D12-48AD-7063-373956EF76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848100" y="682625"/>
            <a:ext cx="7706828" cy="5492750"/>
          </a:xfrm>
        </p:spPr>
        <p:txBody>
          <a:bodyPr numCol="1" spcCol="360000" anchor="ctr"/>
          <a:lstStyle>
            <a:lvl1pPr>
              <a:lnSpc>
                <a:spcPct val="90000"/>
              </a:lnSpc>
              <a:defRPr sz="54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FED802-41D5-D7CC-0CA7-B46C2AF3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78752AD-89EB-4103-B2A4-8FFD72F2DDBD}"/>
              </a:ext>
            </a:extLst>
          </p:cNvPr>
          <p:cNvSpPr/>
          <p:nvPr userDrawn="1"/>
        </p:nvSpPr>
        <p:spPr>
          <a:xfrm>
            <a:off x="3576440" y="-345558"/>
            <a:ext cx="5039120" cy="228600"/>
          </a:xfrm>
          <a:prstGeom prst="roundRect">
            <a:avLst>
              <a:gd name="adj" fmla="val 50000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900" b="1">
                <a:solidFill>
                  <a:schemeClr val="tx1"/>
                </a:solidFill>
              </a:rPr>
              <a:t>Adjustable background colour. </a:t>
            </a:r>
            <a:r>
              <a:rPr lang="en-GB" sz="900" b="0">
                <a:solidFill>
                  <a:schemeClr val="tx1"/>
                </a:solidFill>
              </a:rPr>
              <a:t>Go to ‘Design’ &gt; ‘Format Background’ &gt; choose colour </a:t>
            </a:r>
          </a:p>
        </p:txBody>
      </p:sp>
    </p:spTree>
    <p:extLst>
      <p:ext uri="{BB962C8B-B14F-4D97-AF65-F5344CB8AC3E}">
        <p14:creationId xmlns:p14="http://schemas.microsoft.com/office/powerpoint/2010/main" val="1400888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F404F86-5A46-6A8A-7F3C-9D06DE2A8222}"/>
              </a:ext>
            </a:extLst>
          </p:cNvPr>
          <p:cNvSpPr/>
          <p:nvPr userDrawn="1"/>
        </p:nvSpPr>
        <p:spPr>
          <a:xfrm>
            <a:off x="0" y="6169024"/>
            <a:ext cx="12192000" cy="68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endParaRPr lang="en-GB" sz="1400">
              <a:latin typeface="Century Gothic" panose="020B0502020202020204" pitchFamily="34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E16E558-7B46-FD80-0530-EA162C8D2D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9525" y="6169025"/>
            <a:ext cx="4495800" cy="6826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50894-5538-1638-22C9-1AE0C5D957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5261" y="6362299"/>
            <a:ext cx="494264" cy="2960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6"/>
                </a:solidFill>
                <a:latin typeface="Century Gothic" panose="020B0502020202020204" pitchFamily="34" charset="0"/>
              </a:defRPr>
            </a:lvl1pPr>
          </a:lstStyle>
          <a:p>
            <a:fld id="{41E71DB5-5680-5541-BB1B-1B8E18C31C8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84997E-868F-7161-FD80-0AB5EE93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261" y="2060575"/>
            <a:ext cx="10765383" cy="40391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Title Placeholder 9">
            <a:extLst>
              <a:ext uri="{FF2B5EF4-FFF2-40B4-BE49-F238E27FC236}">
                <a16:creationId xmlns:a16="http://schemas.microsoft.com/office/drawing/2014/main" id="{4E957452-906A-4D83-78E1-6E866C22B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261" y="279724"/>
            <a:ext cx="10765383" cy="10887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37BCA4A-AD74-2AC4-6377-FE8BF930FB75}"/>
              </a:ext>
            </a:extLst>
          </p:cNvPr>
          <p:cNvCxnSpPr/>
          <p:nvPr userDrawn="1"/>
        </p:nvCxnSpPr>
        <p:spPr>
          <a:xfrm>
            <a:off x="641350" y="0"/>
            <a:ext cx="0" cy="681038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599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  <p:sldLayoutId id="2147483735" r:id="rId18"/>
    <p:sldLayoutId id="2147483736" r:id="rId19"/>
    <p:sldLayoutId id="2147483737" r:id="rId20"/>
    <p:sldLayoutId id="2147483738" r:id="rId21"/>
    <p:sldLayoutId id="2147483739" r:id="rId22"/>
    <p:sldLayoutId id="2147483740" r:id="rId23"/>
    <p:sldLayoutId id="2147483741" r:id="rId24"/>
    <p:sldLayoutId id="2147483742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48" r:id="rId31"/>
    <p:sldLayoutId id="2147483749" r:id="rId32"/>
    <p:sldLayoutId id="2147483750" r:id="rId33"/>
    <p:sldLayoutId id="2147483751" r:id="rId34"/>
    <p:sldLayoutId id="2147483752" r:id="rId35"/>
    <p:sldLayoutId id="2147483753" r:id="rId36"/>
    <p:sldLayoutId id="2147483754" r:id="rId37"/>
    <p:sldLayoutId id="2147483755" r:id="rId38"/>
    <p:sldLayoutId id="2147483756" r:id="rId39"/>
    <p:sldLayoutId id="2147483757" r:id="rId40"/>
    <p:sldLayoutId id="2147483758" r:id="rId41"/>
    <p:sldLayoutId id="2147483759" r:id="rId42"/>
    <p:sldLayoutId id="2147483760" r:id="rId43"/>
    <p:sldLayoutId id="2147483761" r:id="rId44"/>
    <p:sldLayoutId id="2147483762" r:id="rId45"/>
    <p:sldLayoutId id="2147483763" r:id="rId46"/>
    <p:sldLayoutId id="2147483764" r:id="rId47"/>
    <p:sldLayoutId id="2147483765" r:id="rId48"/>
    <p:sldLayoutId id="2147483766" r:id="rId49"/>
    <p:sldLayoutId id="2147483767" r:id="rId50"/>
    <p:sldLayoutId id="2147483768" r:id="rId51"/>
    <p:sldLayoutId id="2147483769" r:id="rId52"/>
    <p:sldLayoutId id="2147483770" r:id="rId53"/>
    <p:sldLayoutId id="2147483771" r:id="rId54"/>
    <p:sldLayoutId id="2147483774" r:id="rId55"/>
    <p:sldLayoutId id="2147483777" r:id="rId56"/>
    <p:sldLayoutId id="2147483828" r:id="rId57"/>
  </p:sldLayoutIdLst>
  <p:hf hdr="0" dt="0"/>
  <p:txStyles>
    <p:titleStyle>
      <a:lvl1pPr algn="l" defTabSz="363702" rtl="0" eaLnBrk="1" latinLnBrk="0" hangingPunct="1">
        <a:lnSpc>
          <a:spcPct val="90000"/>
        </a:lnSpc>
        <a:spcBef>
          <a:spcPct val="0"/>
        </a:spcBef>
        <a:buNone/>
        <a:defRPr sz="3200" b="0" kern="1200" cap="none" baseline="0">
          <a:solidFill>
            <a:schemeClr val="tx1"/>
          </a:solidFill>
          <a:latin typeface="Century Gothic" panose="020B0502020202020204" pitchFamily="34" charset="0"/>
          <a:ea typeface="Century Gothic" panose="020B0502020202020204" pitchFamily="34" charset="0"/>
          <a:cs typeface="Century Gothic" panose="020B0502020202020204" pitchFamily="34" charset="0"/>
        </a:defRPr>
      </a:lvl1pPr>
    </p:titleStyle>
    <p:bodyStyle>
      <a:lvl1pPr marL="0" indent="0" algn="l" defTabSz="363702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0" indent="0" algn="l" defTabSz="36370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/>
        <a:buNone/>
        <a:tabLst/>
        <a:defRPr sz="2000" b="0" kern="1200">
          <a:solidFill>
            <a:schemeClr val="tx2"/>
          </a:solidFill>
          <a:latin typeface="Century Gothic" panose="020B0502020202020204" pitchFamily="34" charset="0"/>
          <a:ea typeface="+mn-ea"/>
          <a:cs typeface="+mn-cs"/>
        </a:defRPr>
      </a:lvl2pPr>
      <a:lvl3pPr marL="356400" indent="-356400" algn="l" defTabSz="363702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ClrTx/>
        <a:buFont typeface="System Font Regular"/>
        <a:buChar char="⏤"/>
        <a:tabLst/>
        <a:defRPr sz="16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680400" indent="-320400" algn="l" defTabSz="363702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System Font Regular"/>
        <a:buChar char="⏤"/>
        <a:tabLst/>
        <a:defRPr sz="16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3055" indent="0" algn="l" defTabSz="363702" rtl="0" eaLnBrk="1" latinLnBrk="0" hangingPunct="1">
        <a:lnSpc>
          <a:spcPct val="90000"/>
        </a:lnSpc>
        <a:spcBef>
          <a:spcPts val="199"/>
        </a:spcBef>
        <a:buFont typeface="Arial"/>
        <a:buNone/>
        <a:tabLst/>
        <a:defRPr sz="1600" b="1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1000180" indent="-90926" algn="l" defTabSz="363702" rtl="0" eaLnBrk="1" latinLnBrk="0" hangingPunct="1">
        <a:lnSpc>
          <a:spcPct val="90000"/>
        </a:lnSpc>
        <a:spcBef>
          <a:spcPts val="199"/>
        </a:spcBef>
        <a:buFont typeface="Arial"/>
        <a:buChar char="•"/>
        <a:defRPr sz="716" kern="1200">
          <a:solidFill>
            <a:schemeClr val="tx1"/>
          </a:solidFill>
          <a:latin typeface="+mn-lt"/>
          <a:ea typeface="+mn-ea"/>
          <a:cs typeface="+mn-cs"/>
        </a:defRPr>
      </a:lvl6pPr>
      <a:lvl7pPr marL="1182032" indent="-90926" algn="l" defTabSz="363702" rtl="0" eaLnBrk="1" latinLnBrk="0" hangingPunct="1">
        <a:lnSpc>
          <a:spcPct val="90000"/>
        </a:lnSpc>
        <a:spcBef>
          <a:spcPts val="199"/>
        </a:spcBef>
        <a:buFont typeface="Arial"/>
        <a:buChar char="•"/>
        <a:defRPr sz="716" kern="1200">
          <a:solidFill>
            <a:schemeClr val="tx1"/>
          </a:solidFill>
          <a:latin typeface="+mn-lt"/>
          <a:ea typeface="+mn-ea"/>
          <a:cs typeface="+mn-cs"/>
        </a:defRPr>
      </a:lvl7pPr>
      <a:lvl8pPr marL="1363883" indent="-90926" algn="l" defTabSz="363702" rtl="0" eaLnBrk="1" latinLnBrk="0" hangingPunct="1">
        <a:lnSpc>
          <a:spcPct val="90000"/>
        </a:lnSpc>
        <a:spcBef>
          <a:spcPts val="199"/>
        </a:spcBef>
        <a:buFont typeface="Arial"/>
        <a:buChar char="•"/>
        <a:defRPr sz="716" kern="1200">
          <a:solidFill>
            <a:schemeClr val="tx1"/>
          </a:solidFill>
          <a:latin typeface="+mn-lt"/>
          <a:ea typeface="+mn-ea"/>
          <a:cs typeface="+mn-cs"/>
        </a:defRPr>
      </a:lvl8pPr>
      <a:lvl9pPr marL="1545734" indent="-90926" algn="l" defTabSz="363702" rtl="0" eaLnBrk="1" latinLnBrk="0" hangingPunct="1">
        <a:lnSpc>
          <a:spcPct val="90000"/>
        </a:lnSpc>
        <a:spcBef>
          <a:spcPts val="199"/>
        </a:spcBef>
        <a:buFont typeface="Arial"/>
        <a:buChar char="•"/>
        <a:defRPr sz="7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1pPr>
      <a:lvl2pPr marL="181851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2pPr>
      <a:lvl3pPr marL="363702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3pPr>
      <a:lvl4pPr marL="545552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4pPr>
      <a:lvl5pPr marL="727404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5pPr>
      <a:lvl6pPr marL="909255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6pPr>
      <a:lvl7pPr marL="1091105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7pPr>
      <a:lvl8pPr marL="1272957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8pPr>
      <a:lvl9pPr marL="1454807" algn="l" defTabSz="363702" rtl="0" eaLnBrk="1" latinLnBrk="0" hangingPunct="1">
        <a:defRPr sz="7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04">
          <p15:clr>
            <a:srgbClr val="FDE53C"/>
          </p15:clr>
        </p15:guide>
        <p15:guide id="6" orient="horz" pos="6407">
          <p15:clr>
            <a:srgbClr val="A4A3A4"/>
          </p15:clr>
        </p15:guide>
        <p15:guide id="10" orient="horz" pos="6588">
          <p15:clr>
            <a:srgbClr val="A4A3A4"/>
          </p15:clr>
        </p15:guide>
        <p15:guide id="37" pos="7680">
          <p15:clr>
            <a:srgbClr val="FFFFFF"/>
          </p15:clr>
        </p15:guide>
        <p15:guide id="41" orient="horz" pos="6289">
          <p15:clr>
            <a:srgbClr val="A4A3A4"/>
          </p15:clr>
        </p15:guide>
        <p15:guide id="51" pos="3232">
          <p15:clr>
            <a:srgbClr val="FDE53C"/>
          </p15:clr>
        </p15:guide>
        <p15:guide id="54" pos="4444">
          <p15:clr>
            <a:srgbClr val="FDE53C"/>
          </p15:clr>
        </p15:guide>
        <p15:guide id="59" pos="6062">
          <p15:clr>
            <a:srgbClr val="FDE53C"/>
          </p15:clr>
        </p15:guide>
        <p15:guide id="63" pos="7279">
          <p15:clr>
            <a:srgbClr val="FDE53C"/>
          </p15:clr>
        </p15:guide>
        <p15:guide id="64" orient="horz" pos="169">
          <p15:clr>
            <a:srgbClr val="A4A3A4"/>
          </p15:clr>
        </p15:guide>
        <p15:guide id="66" orient="horz" pos="862">
          <p15:clr>
            <a:srgbClr val="FFFFFF"/>
          </p15:clr>
        </p15:guide>
        <p15:guide id="67" orient="horz" pos="1298">
          <p15:clr>
            <a:srgbClr val="A4A3A4"/>
          </p15:clr>
        </p15:guide>
        <p15:guide id="69" orient="horz" pos="2160">
          <p15:clr>
            <a:srgbClr val="A4A3A4"/>
          </p15:clr>
        </p15:guide>
        <p15:guide id="71" pos="3840">
          <p15:clr>
            <a:srgbClr val="A4A3A4"/>
          </p15:clr>
        </p15:guide>
        <p15:guide id="74" orient="horz" pos="3886">
          <p15:clr>
            <a:srgbClr val="FDE53C"/>
          </p15:clr>
        </p15:guide>
        <p15:guide id="75" orient="horz" pos="4316">
          <p15:clr>
            <a:srgbClr val="FFFFFF"/>
          </p15:clr>
        </p15:guide>
        <p15:guide id="76" pos="491">
          <p15:clr>
            <a:srgbClr val="A4A3A4"/>
          </p15:clr>
        </p15:guide>
        <p15:guide id="77" orient="horz" pos="430">
          <p15:clr>
            <a:srgbClr val="FFFFFF"/>
          </p15:clr>
        </p15:guide>
        <p15:guide id="78">
          <p15:clr>
            <a:srgbClr val="FFFFFF"/>
          </p15:clr>
        </p15:guide>
        <p15:guide id="79" orient="horz">
          <p15:clr>
            <a:srgbClr val="FFFFFF"/>
          </p15:clr>
        </p15:guide>
        <p15:guide id="80" orient="horz" pos="1944">
          <p15:clr>
            <a:srgbClr val="FFFFF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hart" Target="../charts/chart5.xml"/><Relationship Id="rId3" Type="http://schemas.openxmlformats.org/officeDocument/2006/relationships/chart" Target="../charts/chart1.xml"/><Relationship Id="rId7" Type="http://schemas.openxmlformats.org/officeDocument/2006/relationships/chart" Target="../charts/chart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6.xml"/><Relationship Id="rId6" Type="http://schemas.openxmlformats.org/officeDocument/2006/relationships/chart" Target="../charts/chart3.xml"/><Relationship Id="rId5" Type="http://schemas.openxmlformats.org/officeDocument/2006/relationships/chart" Target="../charts/chart2.xml"/><Relationship Id="rId4" Type="http://schemas.openxmlformats.org/officeDocument/2006/relationships/image" Target="../media/image16.png"/><Relationship Id="rId9" Type="http://schemas.openxmlformats.org/officeDocument/2006/relationships/chart" Target="../charts/char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6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6.xml"/><Relationship Id="rId4" Type="http://schemas.openxmlformats.org/officeDocument/2006/relationships/chart" Target="../charts/char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6.xml"/><Relationship Id="rId4" Type="http://schemas.openxmlformats.org/officeDocument/2006/relationships/chart" Target="../charts/char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6.xml"/><Relationship Id="rId4" Type="http://schemas.openxmlformats.org/officeDocument/2006/relationships/chart" Target="../charts/chart1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6.png"/><Relationship Id="rId4" Type="http://schemas.openxmlformats.org/officeDocument/2006/relationships/image" Target="../media/image17.png"/><Relationship Id="rId9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6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6.xml"/><Relationship Id="rId4" Type="http://schemas.openxmlformats.org/officeDocument/2006/relationships/chart" Target="../charts/chart1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6.xml"/><Relationship Id="rId4" Type="http://schemas.openxmlformats.org/officeDocument/2006/relationships/chart" Target="../charts/char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3745E-A7E6-4066-54C8-169B62947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E71DB5-5680-5541-BB1B-1B8E18C31C82}" type="slidenum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rgbClr val="CEC3C1"/>
                </a:solidFill>
                <a:effectLst/>
                <a:uLnTx/>
                <a:uFillTx/>
                <a:latin typeface="Century Gothic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800" b="0" i="0" u="none" strike="noStrike" kern="1200" cap="none" spc="0" normalizeH="0" baseline="0" noProof="0">
              <a:ln>
                <a:noFill/>
              </a:ln>
              <a:solidFill>
                <a:srgbClr val="CEC3C1"/>
              </a:solidFill>
              <a:effectLst/>
              <a:uLnTx/>
              <a:uFillTx/>
              <a:latin typeface="Century Gothic"/>
              <a:ea typeface="+mn-ea"/>
              <a:cs typeface="+mn-cs"/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9B1746F-6264-67A9-2DFA-AAEA573D9C6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6353"/>
            <a:ext cx="6095999" cy="692718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5B5EB3-C5DB-5F72-DBA7-B0D377FA6CB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054850" y="2384612"/>
            <a:ext cx="5137150" cy="2068318"/>
          </a:xfrm>
        </p:spPr>
        <p:txBody>
          <a:bodyPr/>
          <a:lstStyle/>
          <a:p>
            <a:pPr>
              <a:lnSpc>
                <a:spcPct val="115000"/>
              </a:lnSpc>
              <a:buClr>
                <a:schemeClr val="dk1"/>
              </a:buClr>
              <a:buSzPts val="1300"/>
            </a:pPr>
            <a:r>
              <a:rPr lang="en-US" sz="4000">
                <a:ea typeface="Montserrat SemiBold"/>
                <a:cs typeface="Montserrat SemiBold"/>
                <a:sym typeface="Montserrat SemiBold"/>
              </a:rPr>
              <a:t>Our Approach to Media for X Fold3</a:t>
            </a:r>
            <a:endParaRPr lang="en-US" sz="4000">
              <a:ea typeface="Montserrat SemiBold"/>
              <a:cs typeface="Montserrat SemiBold"/>
            </a:endParaRPr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2BEB50CE-FC6C-430D-3C76-9914D02235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279525" y="6169025"/>
            <a:ext cx="4495800" cy="682622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800" b="0" i="0" u="none" strike="noStrike" kern="1200" cap="none" spc="0" normalizeH="0" baseline="0" noProof="0">
              <a:ln>
                <a:noFill/>
              </a:ln>
              <a:solidFill>
                <a:srgbClr val="CEC3C1"/>
              </a:solidFill>
              <a:effectLst/>
              <a:uLnTx/>
              <a:uFillTx/>
              <a:latin typeface="Century 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145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0AEA4-C5AB-7254-0C20-2DFC63D3AC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/>
            <a:fld id="{41E71DB5-5680-5541-BB1B-1B8E18C31C82}" type="slidenum">
              <a:rPr lang="en-GB" noProof="0" smtClean="0"/>
              <a:pPr lvl="0"/>
              <a:t>2</a:t>
            </a:fld>
            <a:endParaRPr lang="en-GB" noProof="0"/>
          </a:p>
        </p:txBody>
      </p:sp>
      <p:pic>
        <p:nvPicPr>
          <p:cNvPr id="12" name="Picture Placeholder 11" descr="A purple and pink sky over a mountain range&#10;&#10;Description automatically generated">
            <a:extLst>
              <a:ext uri="{FF2B5EF4-FFF2-40B4-BE49-F238E27FC236}">
                <a16:creationId xmlns:a16="http://schemas.microsoft.com/office/drawing/2014/main" id="{368318A5-37D4-9146-ABC1-E4BABE4305C9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2"/>
          <a:srcRect t="5446" b="5446"/>
          <a:stretch>
            <a:fillRect/>
          </a:stretch>
        </p:blipFill>
        <p:spPr/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E48D6D33-2A29-AB0E-5A41-75D7F481A1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</a:rPr>
              <a:t>Today’s agenda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B30EB1-E8DF-8BF1-BEE4-C2E6381B2E4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4" name="Table 44">
            <a:extLst>
              <a:ext uri="{FF2B5EF4-FFF2-40B4-BE49-F238E27FC236}">
                <a16:creationId xmlns:a16="http://schemas.microsoft.com/office/drawing/2014/main" id="{19B5BA7B-FF79-2C0E-73FB-8CCFE40E4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427493"/>
              </p:ext>
            </p:extLst>
          </p:nvPr>
        </p:nvGraphicFramePr>
        <p:xfrm>
          <a:off x="7068312" y="340515"/>
          <a:ext cx="5080000" cy="3431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088">
                  <a:extLst>
                    <a:ext uri="{9D8B030D-6E8A-4147-A177-3AD203B41FA5}">
                      <a16:colId xmlns:a16="http://schemas.microsoft.com/office/drawing/2014/main" val="1267486112"/>
                    </a:ext>
                  </a:extLst>
                </a:gridCol>
                <a:gridCol w="4078912">
                  <a:extLst>
                    <a:ext uri="{9D8B030D-6E8A-4147-A177-3AD203B41FA5}">
                      <a16:colId xmlns:a16="http://schemas.microsoft.com/office/drawing/2014/main" val="518157885"/>
                    </a:ext>
                  </a:extLst>
                </a:gridCol>
              </a:tblGrid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01</a:t>
                      </a:r>
                    </a:p>
                  </a:txBody>
                  <a:tcPr marL="0" marR="285149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6370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>
                          <a:solidFill>
                            <a:schemeClr val="tx1"/>
                          </a:solidFill>
                        </a:rPr>
                        <a:t>Brief Recap &amp; our Understanding  </a:t>
                      </a:r>
                    </a:p>
                  </a:txBody>
                  <a:tcPr marL="285149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7418696"/>
                  </a:ext>
                </a:extLst>
              </a:tr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02</a:t>
                      </a:r>
                    </a:p>
                  </a:txBody>
                  <a:tcPr marL="0" marR="285149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6370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>
                          <a:solidFill>
                            <a:schemeClr val="tx1"/>
                          </a:solidFill>
                        </a:rPr>
                        <a:t>Audience understanding </a:t>
                      </a:r>
                    </a:p>
                  </a:txBody>
                  <a:tcPr marL="285149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963238"/>
                  </a:ext>
                </a:extLst>
              </a:tr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03</a:t>
                      </a:r>
                    </a:p>
                  </a:txBody>
                  <a:tcPr marL="0" marR="285149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6370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>
                          <a:solidFill>
                            <a:schemeClr val="tx1"/>
                          </a:solidFill>
                        </a:rPr>
                        <a:t>Media consumption &amp; Behaviour </a:t>
                      </a:r>
                    </a:p>
                  </a:txBody>
                  <a:tcPr marL="285149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5545255"/>
                  </a:ext>
                </a:extLst>
              </a:tr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04</a:t>
                      </a:r>
                    </a:p>
                  </a:txBody>
                  <a:tcPr marL="0" marR="285149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6370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>
                          <a:solidFill>
                            <a:schemeClr val="tx1"/>
                          </a:solidFill>
                        </a:rPr>
                        <a:t>Media Approach</a:t>
                      </a:r>
                    </a:p>
                  </a:txBody>
                  <a:tcPr marL="285149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848574"/>
                  </a:ext>
                </a:extLst>
              </a:tr>
              <a:tr h="686330">
                <a:tc>
                  <a:txBody>
                    <a:bodyPr/>
                    <a:lstStyle/>
                    <a:p>
                      <a:pPr algn="r"/>
                      <a:r>
                        <a:rPr lang="en-GB" sz="2000" b="1">
                          <a:solidFill>
                            <a:schemeClr val="tx1"/>
                          </a:solidFill>
                        </a:rPr>
                        <a:t>05</a:t>
                      </a:r>
                    </a:p>
                  </a:txBody>
                  <a:tcPr marL="0" marR="285149" anchor="ctr">
                    <a:lnL w="12700" cmpd="sng">
                      <a:noFill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6370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b="0">
                          <a:solidFill>
                            <a:schemeClr val="tx1"/>
                          </a:solidFill>
                        </a:rPr>
                        <a:t>Innovations</a:t>
                      </a:r>
                    </a:p>
                  </a:txBody>
                  <a:tcPr marL="285149" marR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1973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0184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865897-7333-58A2-2927-99AED776CF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3745E-A7E6-4066-54C8-169B62947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9B1746F-6264-67A9-2DFA-AAEA573D9C6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85172" y="912811"/>
            <a:ext cx="7706828" cy="5032377"/>
          </a:xfrm>
          <a:solidFill>
            <a:schemeClr val="tx1">
              <a:lumMod val="10000"/>
              <a:lumOff val="90000"/>
            </a:schemeClr>
          </a:solidFill>
        </p:spPr>
        <p:txBody>
          <a:bodyPr/>
          <a:lstStyle/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5B5EB3-C5DB-5F72-DBA7-B0D377FA6CB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58197" y="974725"/>
            <a:ext cx="7706828" cy="4908547"/>
          </a:xfrm>
        </p:spPr>
        <p:txBody>
          <a:bodyPr/>
          <a:lstStyle/>
          <a:p>
            <a:r>
              <a:rPr lang="en-GB"/>
              <a:t> X Fold3 Audience understanding </a:t>
            </a:r>
          </a:p>
        </p:txBody>
      </p:sp>
    </p:spTree>
    <p:extLst>
      <p:ext uri="{BB962C8B-B14F-4D97-AF65-F5344CB8AC3E}">
        <p14:creationId xmlns:p14="http://schemas.microsoft.com/office/powerpoint/2010/main" val="3843539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311FC76-74AE-A51A-2273-355E511D5104}"/>
              </a:ext>
            </a:extLst>
          </p:cNvPr>
          <p:cNvSpPr/>
          <p:nvPr/>
        </p:nvSpPr>
        <p:spPr>
          <a:xfrm>
            <a:off x="8469772" y="3263899"/>
            <a:ext cx="3085642" cy="2905125"/>
          </a:xfrm>
          <a:prstGeom prst="roundRect">
            <a:avLst>
              <a:gd name="adj" fmla="val 9620"/>
            </a:avLst>
          </a:prstGeom>
          <a:solidFill>
            <a:srgbClr val="E5E9EE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defTabSz="1219170">
              <a:buClr>
                <a:srgbClr val="FFFFFF"/>
              </a:buClr>
              <a:buSzPts val="1100"/>
            </a:pPr>
            <a:r>
              <a:rPr lang="en-US" b="1" dirty="0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Target Group</a:t>
            </a:r>
          </a:p>
          <a:p>
            <a:pPr marL="285750" indent="-285750" defTabSz="1219170">
              <a:buClr>
                <a:schemeClr val="tx1"/>
              </a:buClr>
              <a:buSzPts val="1100"/>
              <a:buFont typeface="Courier New" panose="02070309020205020404" pitchFamily="49" charset="0"/>
              <a:buChar char="o"/>
            </a:pPr>
            <a:r>
              <a:rPr lang="en-US" b="1" dirty="0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Age Group: 30 – 45</a:t>
            </a:r>
            <a:endParaRPr lang="en-US" dirty="0">
              <a:solidFill>
                <a:srgbClr val="3B3F3D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85750" indent="-285750" defTabSz="1219170">
              <a:buClr>
                <a:schemeClr val="tx1"/>
              </a:buClr>
              <a:buSzPts val="11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Affluent </a:t>
            </a:r>
            <a:r>
              <a:rPr lang="en-US" b="1" dirty="0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Professional</a:t>
            </a:r>
          </a:p>
          <a:p>
            <a:pPr marL="285750" indent="-285750" defTabSz="1219170">
              <a:buClr>
                <a:schemeClr val="tx1"/>
              </a:buClr>
              <a:buSzPts val="11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Previous Brand:</a:t>
            </a:r>
            <a:r>
              <a:rPr lang="en-US" b="1" dirty="0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Samsung, Apple &amp; OnePlus</a:t>
            </a:r>
            <a:endParaRPr lang="en-US" dirty="0">
              <a:solidFill>
                <a:srgbClr val="3B3F3D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285750" indent="-285750" defTabSz="1219170">
              <a:buClr>
                <a:schemeClr val="tx1"/>
              </a:buClr>
              <a:buSzPts val="1100"/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Prefer higher</a:t>
            </a:r>
            <a:r>
              <a:rPr lang="en-US" b="1" dirty="0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-IN" b="1" dirty="0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Brand Imagery</a:t>
            </a:r>
          </a:p>
          <a:p>
            <a:pPr marL="285750" indent="-285750" defTabSz="1219170">
              <a:buClr>
                <a:schemeClr val="tx1"/>
              </a:buClr>
              <a:buSzPts val="1100"/>
              <a:buFont typeface="Courier New" panose="02070309020205020404" pitchFamily="49" charset="0"/>
              <a:buChar char="o"/>
            </a:pPr>
            <a:r>
              <a:rPr lang="en-IN" b="1">
                <a:solidFill>
                  <a:srgbClr val="3B3F3D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Interests: Luxurious lifestyle, Travel, Technology &amp; Premium Brands</a:t>
            </a:r>
            <a:endParaRPr lang="en-IN" b="1" dirty="0">
              <a:solidFill>
                <a:srgbClr val="3B3F3D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C66C20B-8EA1-E719-5DF4-1702FE558463}"/>
              </a:ext>
            </a:extLst>
          </p:cNvPr>
          <p:cNvSpPr/>
          <p:nvPr/>
        </p:nvSpPr>
        <p:spPr>
          <a:xfrm>
            <a:off x="4626931" y="3249504"/>
            <a:ext cx="3085642" cy="2905125"/>
          </a:xfrm>
          <a:prstGeom prst="roundRect">
            <a:avLst>
              <a:gd name="adj" fmla="val 6802"/>
            </a:avLst>
          </a:prstGeom>
          <a:solidFill>
            <a:srgbClr val="E5E9EE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b="1">
              <a:solidFill>
                <a:schemeClr val="tx1"/>
              </a:solidFill>
              <a:latin typeface="Century Gothic" panose="020B0502020202020204" pitchFamily="34" charset="0"/>
            </a:endParaRPr>
          </a:p>
          <a:p>
            <a:r>
              <a:rPr lang="en-US" b="1">
                <a:solidFill>
                  <a:schemeClr val="tx1"/>
                </a:solidFill>
                <a:latin typeface="Century Gothic" panose="020B0502020202020204" pitchFamily="34" charset="0"/>
              </a:rPr>
              <a:t> Communication</a:t>
            </a:r>
          </a:p>
          <a:p>
            <a:endParaRPr lang="en-US" b="1">
              <a:solidFill>
                <a:schemeClr val="tx1"/>
              </a:solidFill>
              <a:latin typeface="Century Gothic" panose="020B050202020202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>
                <a:solidFill>
                  <a:schemeClr val="tx1"/>
                </a:solidFill>
                <a:latin typeface="Century Gothic" panose="020B0502020202020204" pitchFamily="34" charset="0"/>
              </a:rPr>
              <a:t>“THE BEST FOLD EVER”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b="1">
                <a:solidFill>
                  <a:schemeClr val="tx1"/>
                </a:solidFill>
                <a:latin typeface="Century Gothic" panose="020B0502020202020204" pitchFamily="34" charset="0"/>
              </a:rPr>
              <a:t>Premium Design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b="1">
                <a:solidFill>
                  <a:schemeClr val="tx1"/>
                </a:solidFill>
                <a:latin typeface="Century Gothic" panose="020B0502020202020204" pitchFamily="34" charset="0"/>
              </a:rPr>
              <a:t>Durability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b="1">
                <a:solidFill>
                  <a:schemeClr val="tx1"/>
                </a:solidFill>
                <a:latin typeface="Century Gothic" panose="020B0502020202020204" pitchFamily="34" charset="0"/>
              </a:rPr>
              <a:t>vivo AI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>
                <a:solidFill>
                  <a:schemeClr val="tx1"/>
                </a:solidFill>
                <a:latin typeface="Century Gothic" panose="020B0502020202020204" pitchFamily="34" charset="0"/>
              </a:rPr>
              <a:t>Zeiss Integration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7AA7E43-BC01-59B0-4C48-B583AFDFC33C}"/>
              </a:ext>
            </a:extLst>
          </p:cNvPr>
          <p:cNvSpPr/>
          <p:nvPr/>
        </p:nvSpPr>
        <p:spPr>
          <a:xfrm>
            <a:off x="784090" y="3263899"/>
            <a:ext cx="3085642" cy="2905125"/>
          </a:xfrm>
          <a:prstGeom prst="roundRect">
            <a:avLst>
              <a:gd name="adj" fmla="val 8681"/>
            </a:avLst>
          </a:prstGeom>
          <a:solidFill>
            <a:srgbClr val="E5E9EE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b="1">
                <a:solidFill>
                  <a:schemeClr val="tx1"/>
                </a:solidFill>
                <a:latin typeface="Century Gothic" panose="020B0502020202020204" pitchFamily="34" charset="0"/>
              </a:rPr>
              <a:t>Challenges: 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en-US">
                <a:solidFill>
                  <a:schemeClr val="tx1"/>
                </a:solidFill>
                <a:latin typeface="Century Gothic" panose="020B0502020202020204" pitchFamily="34" charset="0"/>
              </a:rPr>
              <a:t>Entering market </a:t>
            </a:r>
            <a:r>
              <a:rPr lang="en-US" b="1">
                <a:solidFill>
                  <a:schemeClr val="tx1"/>
                </a:solidFill>
                <a:latin typeface="Century Gothic" panose="020B0502020202020204" pitchFamily="34" charset="0"/>
              </a:rPr>
              <a:t>dominated</a:t>
            </a:r>
            <a:r>
              <a:rPr lang="en-US">
                <a:solidFill>
                  <a:schemeClr val="tx1"/>
                </a:solidFill>
                <a:latin typeface="Century Gothic" panose="020B0502020202020204" pitchFamily="34" charset="0"/>
              </a:rPr>
              <a:t> by primary competition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en-US" b="1">
                <a:solidFill>
                  <a:schemeClr val="tx1"/>
                </a:solidFill>
                <a:latin typeface="Century Gothic" panose="020B0502020202020204" pitchFamily="34" charset="0"/>
              </a:rPr>
              <a:t>Battling Perception of Premium imaginary </a:t>
            </a:r>
            <a:r>
              <a:rPr lang="en-US">
                <a:solidFill>
                  <a:schemeClr val="tx1"/>
                </a:solidFill>
                <a:latin typeface="Century Gothic" panose="020B0502020202020204" pitchFamily="34" charset="0"/>
              </a:rPr>
              <a:t>leading to durability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569497C-F799-26F1-C22A-FEC59389A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308" y="28926"/>
            <a:ext cx="10765383" cy="1088701"/>
          </a:xfrm>
        </p:spPr>
        <p:txBody>
          <a:bodyPr/>
          <a:lstStyle/>
          <a:p>
            <a:r>
              <a:rPr lang="en-GB">
                <a:latin typeface="Century Gothic" panose="020B0502020202020204" pitchFamily="34" charset="0"/>
              </a:rPr>
              <a:t>1. Key takeaways from X Fold3 Brief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37A03D-B0F9-6061-A82B-A1D2815E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E71DB5-5680-5541-BB1B-1B8E18C31C82}" type="slidenum">
              <a:rPr kumimoji="0" lang="en-GB" sz="800" b="0" i="0" u="none" strike="noStrike" kern="1200" cap="none" spc="0" normalizeH="0" baseline="0" noProof="0" smtClean="0">
                <a:ln>
                  <a:noFill/>
                </a:ln>
                <a:solidFill>
                  <a:srgbClr val="CEC3C1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800" b="0" i="0" u="none" strike="noStrike" kern="1200" cap="none" spc="0" normalizeH="0" baseline="0" noProof="0">
              <a:ln>
                <a:noFill/>
              </a:ln>
              <a:solidFill>
                <a:srgbClr val="CEC3C1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21D35E-EBFD-4890-ED98-BAAFB00B8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61" y="1013068"/>
            <a:ext cx="3085276" cy="202526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220A4C-C400-F6F4-9431-BE192F325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739" y="992748"/>
            <a:ext cx="3084834" cy="202497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C83298-6502-C47A-3519-BA38203AF1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0580" y="1023342"/>
            <a:ext cx="3084834" cy="202497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853933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679E4C5-7315-D2E7-0668-583BA25932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GB">
              <a:latin typeface="+mj-lt"/>
              <a:ea typeface="+mn-ea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2554E7-C8FC-63DA-748E-FBAC196C5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71DB5-5680-5541-BB1B-1B8E18C31C82}" type="slidenum">
              <a:rPr lang="en-GB" smtClean="0">
                <a:latin typeface="+mj-lt"/>
                <a:ea typeface="+mn-ea"/>
              </a:rPr>
              <a:pPr/>
              <a:t>5</a:t>
            </a:fld>
            <a:endParaRPr lang="en-GB">
              <a:latin typeface="+mj-lt"/>
              <a:ea typeface="+mn-ea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33C0506D-CBE5-4EDD-0D69-7FF266775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308" y="71537"/>
            <a:ext cx="10765383" cy="1088701"/>
          </a:xfrm>
        </p:spPr>
        <p:txBody>
          <a:bodyPr/>
          <a:lstStyle/>
          <a:p>
            <a:r>
              <a:rPr lang="en-GB" sz="2800">
                <a:latin typeface="+mj-lt"/>
                <a:ea typeface="+mn-ea"/>
              </a:rPr>
              <a:t>Audience input derived from the brief 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BE08EDAD-0475-1DB8-28D3-1EC7F279DCC8}"/>
              </a:ext>
            </a:extLst>
          </p:cNvPr>
          <p:cNvSpPr/>
          <p:nvPr/>
        </p:nvSpPr>
        <p:spPr>
          <a:xfrm>
            <a:off x="7621315" y="1838460"/>
            <a:ext cx="286241" cy="3181080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8B83F9-ED3A-C461-A1EA-565DEFACCE72}"/>
              </a:ext>
            </a:extLst>
          </p:cNvPr>
          <p:cNvSpPr/>
          <p:nvPr/>
        </p:nvSpPr>
        <p:spPr>
          <a:xfrm>
            <a:off x="10891812" y="2690370"/>
            <a:ext cx="959978" cy="144489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  <a:latin typeface="+mj-lt"/>
              </a:rPr>
              <a:t>Primary Audience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89CFE8-6121-A100-6463-49CA70F7B16E}"/>
              </a:ext>
            </a:extLst>
          </p:cNvPr>
          <p:cNvSpPr txBox="1"/>
          <p:nvPr/>
        </p:nvSpPr>
        <p:spPr>
          <a:xfrm>
            <a:off x="9256387" y="87877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0982F5AB-9E41-A9EC-A0D5-A477D8D0D593}"/>
              </a:ext>
            </a:extLst>
          </p:cNvPr>
          <p:cNvSpPr/>
          <p:nvPr/>
        </p:nvSpPr>
        <p:spPr>
          <a:xfrm>
            <a:off x="10472537" y="2310653"/>
            <a:ext cx="303880" cy="2204333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31AEA9-D8D6-1B4F-DDF7-119247F2C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61" y="1680548"/>
            <a:ext cx="3413052" cy="191984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51D226-5891-CEB6-188A-A9952F91E2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6041" y="2640469"/>
            <a:ext cx="3413052" cy="191984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3CECA5-1FBE-3A96-5985-5645AD4064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261" y="3272529"/>
            <a:ext cx="3413052" cy="191984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667434B8-906C-86DB-CAFB-5BF7EE06E655}"/>
              </a:ext>
            </a:extLst>
          </p:cNvPr>
          <p:cNvGrpSpPr/>
          <p:nvPr/>
        </p:nvGrpSpPr>
        <p:grpSpPr>
          <a:xfrm>
            <a:off x="7907557" y="682625"/>
            <a:ext cx="2513722" cy="5296601"/>
            <a:chOff x="8933685" y="1838338"/>
            <a:chExt cx="1890936" cy="4263282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075A70B7-07A6-A39C-FDF4-C0032782E362}"/>
                </a:ext>
              </a:extLst>
            </p:cNvPr>
            <p:cNvSpPr/>
            <p:nvPr/>
          </p:nvSpPr>
          <p:spPr>
            <a:xfrm>
              <a:off x="8933685" y="1838338"/>
              <a:ext cx="1270816" cy="2101932"/>
            </a:xfrm>
            <a:prstGeom prst="roundRect">
              <a:avLst>
                <a:gd name="adj" fmla="val 6389"/>
              </a:avLst>
            </a:prstGeom>
            <a:solidFill>
              <a:schemeClr val="accent5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lvl="0"/>
              <a:r>
                <a:rPr lang="en-US" sz="1200" b="1">
                  <a:solidFill>
                    <a:schemeClr val="bg1"/>
                  </a:solidFill>
                  <a:latin typeface="+mj-lt"/>
                </a:rPr>
                <a:t>COVER AUDIENCE</a:t>
              </a:r>
            </a:p>
            <a:p>
              <a:pPr lvl="0">
                <a:buClr>
                  <a:schemeClr val="bg1"/>
                </a:buClr>
              </a:pPr>
              <a:endParaRPr lang="en-GB" sz="1200">
                <a:solidFill>
                  <a:schemeClr val="bg1"/>
                </a:solidFill>
                <a:latin typeface="+mj-lt"/>
              </a:endParaRPr>
            </a:p>
            <a:p>
              <a:pPr lvl="0">
                <a:buClr>
                  <a:schemeClr val="bg1"/>
                </a:buClr>
              </a:pPr>
              <a:endParaRPr lang="en-GB" sz="1200">
                <a:solidFill>
                  <a:schemeClr val="bg1"/>
                </a:solidFill>
                <a:latin typeface="+mj-lt"/>
              </a:endParaRPr>
            </a:p>
            <a:p>
              <a:pPr lvl="0">
                <a:buClr>
                  <a:schemeClr val="bg1"/>
                </a:buClr>
              </a:pPr>
              <a:endParaRPr lang="en-GB" sz="1200">
                <a:solidFill>
                  <a:schemeClr val="bg1"/>
                </a:solidFill>
                <a:latin typeface="+mj-lt"/>
              </a:endParaRPr>
            </a:p>
            <a:p>
              <a:pPr lvl="0">
                <a:buClr>
                  <a:schemeClr val="bg1"/>
                </a:buClr>
              </a:pPr>
              <a:endParaRPr lang="en-GB" sz="1200">
                <a:solidFill>
                  <a:schemeClr val="bg1"/>
                </a:solidFill>
                <a:latin typeface="+mj-lt"/>
              </a:endParaRPr>
            </a:p>
            <a:p>
              <a:pPr marL="228600" lvl="1" indent="-228600">
                <a:buClr>
                  <a:schemeClr val="bg1"/>
                </a:buClr>
                <a:buFont typeface="Wingdings" panose="05000000000000000000" pitchFamily="2" charset="2"/>
                <a:buChar char="v"/>
              </a:pPr>
              <a:r>
                <a:rPr lang="en-US" sz="1200" b="1">
                  <a:solidFill>
                    <a:schemeClr val="bg1"/>
                  </a:solidFill>
                  <a:latin typeface="+mj-lt"/>
                </a:rPr>
                <a:t>Interested in MOBILE Phones</a:t>
              </a:r>
            </a:p>
            <a:p>
              <a:pPr marL="228600" lvl="1" indent="-228600">
                <a:buClr>
                  <a:schemeClr val="bg1"/>
                </a:buClr>
                <a:buFont typeface="Wingdings" panose="05000000000000000000" pitchFamily="2" charset="2"/>
                <a:buChar char="v"/>
              </a:pPr>
              <a:endParaRPr lang="en-US" sz="1200" b="1">
                <a:solidFill>
                  <a:schemeClr val="bg1"/>
                </a:solidFill>
                <a:latin typeface="+mj-lt"/>
              </a:endParaRPr>
            </a:p>
            <a:p>
              <a:pPr marL="228600" lvl="1" indent="-228600">
                <a:buClr>
                  <a:schemeClr val="bg1"/>
                </a:buClr>
                <a:buFont typeface="Wingdings" panose="05000000000000000000" pitchFamily="2" charset="2"/>
                <a:buChar char="v"/>
              </a:pPr>
              <a:endParaRPr lang="en-US" sz="1200" b="1">
                <a:solidFill>
                  <a:schemeClr val="bg1"/>
                </a:solidFill>
                <a:latin typeface="+mj-lt"/>
              </a:endParaRPr>
            </a:p>
            <a:p>
              <a:pPr marL="228600" lvl="1" indent="-228600">
                <a:buClr>
                  <a:schemeClr val="bg1"/>
                </a:buClr>
                <a:buFont typeface="Wingdings" panose="05000000000000000000" pitchFamily="2" charset="2"/>
                <a:buChar char="v"/>
              </a:pPr>
              <a:endParaRPr lang="en-US" sz="1200" b="1">
                <a:solidFill>
                  <a:schemeClr val="bg1"/>
                </a:solidFill>
                <a:latin typeface="+mj-lt"/>
              </a:endParaRPr>
            </a:p>
            <a:p>
              <a:pPr marL="228600" lvl="1" indent="-228600">
                <a:buClr>
                  <a:schemeClr val="bg1"/>
                </a:buClr>
                <a:buFont typeface="Wingdings" panose="05000000000000000000" pitchFamily="2" charset="2"/>
                <a:buChar char="v"/>
              </a:pPr>
              <a:endParaRPr lang="en-US" sz="1200" b="1">
                <a:solidFill>
                  <a:schemeClr val="bg1"/>
                </a:solidFill>
                <a:latin typeface="+mj-lt"/>
              </a:endParaRPr>
            </a:p>
            <a:p>
              <a:pPr marL="228600" lvl="1" indent="-228600">
                <a:buClr>
                  <a:schemeClr val="bg1"/>
                </a:buClr>
                <a:buFont typeface="Wingdings" panose="05000000000000000000" pitchFamily="2" charset="2"/>
                <a:buChar char="v"/>
              </a:pPr>
              <a:endParaRPr lang="en-US" sz="12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88536D29-F032-8B6A-3A1C-74EB24CE54E0}"/>
                </a:ext>
              </a:extLst>
            </p:cNvPr>
            <p:cNvSpPr/>
            <p:nvPr/>
          </p:nvSpPr>
          <p:spPr>
            <a:xfrm>
              <a:off x="9548289" y="3655337"/>
              <a:ext cx="1276332" cy="2446283"/>
            </a:xfrm>
            <a:prstGeom prst="roundRect">
              <a:avLst>
                <a:gd name="adj" fmla="val 8008"/>
              </a:avLst>
            </a:prstGeom>
            <a:solidFill>
              <a:schemeClr val="accent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rIns="72000" rtlCol="0" anchor="ctr"/>
            <a:lstStyle/>
            <a:p>
              <a:pPr lvl="0">
                <a:buClr>
                  <a:schemeClr val="bg1"/>
                </a:buClr>
              </a:pPr>
              <a:r>
                <a:rPr lang="en-US" sz="1200" b="1">
                  <a:solidFill>
                    <a:schemeClr val="bg1"/>
                  </a:solidFill>
                  <a:latin typeface="+mj-lt"/>
                </a:rPr>
                <a:t>CORE AUDIENCE</a:t>
              </a:r>
            </a:p>
            <a:p>
              <a:pPr marL="171450" lvl="0" indent="-171450">
                <a:buClr>
                  <a:schemeClr val="bg1"/>
                </a:buClr>
                <a:buFont typeface="Wingdings" panose="05000000000000000000" pitchFamily="2" charset="2"/>
                <a:buChar char="v"/>
              </a:pPr>
              <a:endParaRPr lang="en-GB" sz="1200" b="1">
                <a:solidFill>
                  <a:schemeClr val="bg1"/>
                </a:solidFill>
                <a:latin typeface="+mj-lt"/>
              </a:endParaRPr>
            </a:p>
            <a:p>
              <a:pPr marL="228600" lvl="1" indent="-228600">
                <a:buClr>
                  <a:schemeClr val="bg1"/>
                </a:buClr>
                <a:buFont typeface="Wingdings" panose="05000000000000000000" pitchFamily="2" charset="2"/>
                <a:buChar char="v"/>
              </a:pPr>
              <a:r>
                <a:rPr lang="en-US" sz="1200" b="1">
                  <a:solidFill>
                    <a:schemeClr val="bg1"/>
                  </a:solidFill>
                  <a:latin typeface="+mj-lt"/>
                </a:rPr>
                <a:t>X &amp; V Pro Series users</a:t>
              </a:r>
            </a:p>
            <a:p>
              <a:pPr marL="228600" lvl="1" indent="-228600">
                <a:buClr>
                  <a:schemeClr val="bg1"/>
                </a:buClr>
                <a:buFont typeface="Wingdings" panose="05000000000000000000" pitchFamily="2" charset="2"/>
                <a:buChar char="v"/>
              </a:pPr>
              <a:endParaRPr lang="en-US" sz="1200" b="1">
                <a:solidFill>
                  <a:schemeClr val="bg1"/>
                </a:solidFill>
                <a:latin typeface="+mj-lt"/>
              </a:endParaRPr>
            </a:p>
            <a:p>
              <a:pPr marL="228600" marR="0" lvl="1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prstClr val="white"/>
                </a:buClr>
                <a:buSzTx/>
                <a:buFont typeface="Wingdings" panose="05000000000000000000" pitchFamily="2" charset="2"/>
                <a:buChar char="v"/>
                <a:tabLst/>
                <a:defRPr/>
              </a:pPr>
              <a:r>
                <a:rPr kumimoji="0" lang="en-US" sz="1200" b="1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entury Gothic"/>
                  <a:ea typeface="+mn-ea"/>
                  <a:cs typeface="+mn-cs"/>
                  <a:sym typeface="Arial"/>
                </a:rPr>
                <a:t>Apple/Samsung/OP users</a:t>
              </a:r>
            </a:p>
            <a:p>
              <a:pPr marR="0" lvl="1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prstClr val="white"/>
                </a:buClr>
                <a:buSzTx/>
                <a:tabLst/>
                <a:defRPr/>
              </a:pPr>
              <a:endParaRPr kumimoji="0" lang="en-US" sz="12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/>
                <a:ea typeface="+mn-ea"/>
                <a:cs typeface="+mn-cs"/>
                <a:sym typeface="Arial"/>
              </a:endParaRPr>
            </a:p>
            <a:p>
              <a:pPr marL="228600" marR="0" lvl="1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prstClr val="white"/>
                </a:buClr>
                <a:buSzTx/>
                <a:buFont typeface="Wingdings" panose="05000000000000000000" pitchFamily="2" charset="2"/>
                <a:buChar char="v"/>
                <a:tabLst/>
                <a:defRPr/>
              </a:pPr>
              <a:r>
                <a:rPr kumimoji="0" lang="en-US" sz="1200" b="1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entury Gothic"/>
                  <a:ea typeface="Century Gothic"/>
                  <a:cs typeface="Century Gothic"/>
                  <a:sym typeface="Century Gothic"/>
                </a:rPr>
                <a:t>Luxurious lifestyle, Travel, Technology &amp; Premium Brands</a:t>
              </a:r>
              <a:endParaRPr kumimoji="0" lang="en-US" sz="1200" b="1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entury Gothic"/>
                <a:ea typeface="+mn-ea"/>
                <a:cs typeface="+mn-cs"/>
                <a:sym typeface="Arial"/>
              </a:endParaRPr>
            </a:p>
            <a:p>
              <a:pPr marL="228600" marR="0" lvl="1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prstClr val="white"/>
                </a:buClr>
                <a:buSzTx/>
                <a:buFont typeface="Wingdings" panose="05000000000000000000" pitchFamily="2" charset="2"/>
                <a:buChar char="v"/>
                <a:tabLst/>
                <a:defRPr/>
              </a:pPr>
              <a:endParaRPr lang="en-US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79177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22DD86-3AE3-69F9-4488-E4E339C5E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707" y="37321"/>
            <a:ext cx="10765383" cy="1088701"/>
          </a:xfrm>
        </p:spPr>
        <p:txBody>
          <a:bodyPr/>
          <a:lstStyle/>
          <a:p>
            <a:r>
              <a:rPr lang="en-US" sz="2800"/>
              <a:t>Audience planning </a:t>
            </a:r>
            <a:r>
              <a:rPr lang="en-US" sz="2800" b="1"/>
              <a:t>process for X Fold3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4952DD-F72A-1AEC-DCE3-7DA045F10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261" y="6347495"/>
            <a:ext cx="494264" cy="325686"/>
          </a:xfrm>
        </p:spPr>
        <p:txBody>
          <a:bodyPr/>
          <a:lstStyle/>
          <a:p>
            <a:fld id="{41E71DB5-5680-5541-BB1B-1B8E18C31C82}" type="slidenum">
              <a:rPr lang="en-GB" smtClean="0"/>
              <a:pPr/>
              <a:t>6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6263CE-5FBF-BEB9-6D3E-E74BADA52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2" y="2999165"/>
            <a:ext cx="1265721" cy="37772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1E28EC0-3548-8F8C-4658-22E68BEB07B3}"/>
              </a:ext>
            </a:extLst>
          </p:cNvPr>
          <p:cNvSpPr/>
          <p:nvPr/>
        </p:nvSpPr>
        <p:spPr>
          <a:xfrm>
            <a:off x="1929106" y="1854101"/>
            <a:ext cx="1820533" cy="50354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Physiographic understanding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6B67E2-3C41-E0A7-6C11-7D81D3124027}"/>
              </a:ext>
            </a:extLst>
          </p:cNvPr>
          <p:cNvSpPr/>
          <p:nvPr/>
        </p:nvSpPr>
        <p:spPr>
          <a:xfrm>
            <a:off x="155198" y="1398339"/>
            <a:ext cx="3594441" cy="377726"/>
          </a:xfrm>
          <a:prstGeom prst="rect">
            <a:avLst/>
          </a:prstGeom>
          <a:solidFill>
            <a:srgbClr val="00B0F0">
              <a:alpha val="67059"/>
            </a:srgb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Integrated Audience Understanding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727778-914C-8EB0-95B1-95B4476E08F1}"/>
              </a:ext>
            </a:extLst>
          </p:cNvPr>
          <p:cNvSpPr/>
          <p:nvPr/>
        </p:nvSpPr>
        <p:spPr>
          <a:xfrm>
            <a:off x="6743582" y="1405873"/>
            <a:ext cx="2882918" cy="377728"/>
          </a:xfrm>
          <a:prstGeom prst="rect">
            <a:avLst/>
          </a:prstGeom>
          <a:solidFill>
            <a:srgbClr val="00B0F0">
              <a:alpha val="67059"/>
            </a:srgb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Touch point selection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CEB86B-9971-7397-42E0-51A024C58C55}"/>
              </a:ext>
            </a:extLst>
          </p:cNvPr>
          <p:cNvSpPr/>
          <p:nvPr/>
        </p:nvSpPr>
        <p:spPr>
          <a:xfrm>
            <a:off x="9816086" y="1408203"/>
            <a:ext cx="2230921" cy="377729"/>
          </a:xfrm>
          <a:prstGeom prst="rect">
            <a:avLst/>
          </a:prstGeom>
          <a:solidFill>
            <a:schemeClr val="accent1">
              <a:lumMod val="40000"/>
              <a:lumOff val="60000"/>
              <a:alpha val="67059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Media Planning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B72822-FE4B-2B21-4446-78809BDA06DF}"/>
              </a:ext>
            </a:extLst>
          </p:cNvPr>
          <p:cNvSpPr/>
          <p:nvPr/>
        </p:nvSpPr>
        <p:spPr>
          <a:xfrm>
            <a:off x="155198" y="1854102"/>
            <a:ext cx="1629682" cy="50354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Demographic understanding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1B8A14-6DCA-43C2-9CC6-9545017249F0}"/>
              </a:ext>
            </a:extLst>
          </p:cNvPr>
          <p:cNvSpPr/>
          <p:nvPr/>
        </p:nvSpPr>
        <p:spPr>
          <a:xfrm>
            <a:off x="6796974" y="2394382"/>
            <a:ext cx="1311283" cy="50354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In market and Affinity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52E458A-FE83-4CC8-C7FF-FDEC24B02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487" y="2953569"/>
            <a:ext cx="1072930" cy="59322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EC03359-F0AC-AD8F-B39C-81F3B8962365}"/>
              </a:ext>
            </a:extLst>
          </p:cNvPr>
          <p:cNvSpPr/>
          <p:nvPr/>
        </p:nvSpPr>
        <p:spPr>
          <a:xfrm>
            <a:off x="6770839" y="1861795"/>
            <a:ext cx="1337419" cy="50354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Site Selection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ACB0761-95E4-5332-2FE4-5138CCB3C8C2}"/>
              </a:ext>
            </a:extLst>
          </p:cNvPr>
          <p:cNvSpPr/>
          <p:nvPr/>
        </p:nvSpPr>
        <p:spPr>
          <a:xfrm>
            <a:off x="8185041" y="1854100"/>
            <a:ext cx="1408080" cy="50354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Apps Selection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pic>
        <p:nvPicPr>
          <p:cNvPr id="21" name="Picture 2" descr="Comscore is a trusted currency for planning, transacting, and evaluating  media across platforms.">
            <a:extLst>
              <a:ext uri="{FF2B5EF4-FFF2-40B4-BE49-F238E27FC236}">
                <a16:creationId xmlns:a16="http://schemas.microsoft.com/office/drawing/2014/main" id="{D2D5E68A-6FD7-FE86-FC33-1CB8CFB16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2573" y="3211598"/>
            <a:ext cx="1636819" cy="377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04DB4C-21C4-37ED-6065-A90053FDE9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950" y="3168361"/>
            <a:ext cx="1411859" cy="46302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56A7EEF-039A-ECFE-0309-D9027C73294B}"/>
              </a:ext>
            </a:extLst>
          </p:cNvPr>
          <p:cNvSpPr/>
          <p:nvPr/>
        </p:nvSpPr>
        <p:spPr>
          <a:xfrm>
            <a:off x="6796974" y="3803665"/>
            <a:ext cx="2896335" cy="37772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Predecessors' learnings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30E239-C4CB-E7EE-FE44-CF0262BE1458}"/>
              </a:ext>
            </a:extLst>
          </p:cNvPr>
          <p:cNvSpPr/>
          <p:nvPr/>
        </p:nvSpPr>
        <p:spPr>
          <a:xfrm>
            <a:off x="217171" y="3752983"/>
            <a:ext cx="3597011" cy="37772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Predecessors' learnings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5EB010-5F1D-9120-6030-ACF75A70BAD7}"/>
              </a:ext>
            </a:extLst>
          </p:cNvPr>
          <p:cNvSpPr/>
          <p:nvPr/>
        </p:nvSpPr>
        <p:spPr>
          <a:xfrm>
            <a:off x="9805383" y="1832605"/>
            <a:ext cx="1077069" cy="50354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First level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5CC8F5F-3ED2-D71B-A23A-D8165F3C51D7}"/>
              </a:ext>
            </a:extLst>
          </p:cNvPr>
          <p:cNvSpPr/>
          <p:nvPr/>
        </p:nvSpPr>
        <p:spPr>
          <a:xfrm>
            <a:off x="10949556" y="1832109"/>
            <a:ext cx="1077069" cy="503546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Detailing  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riangle 27">
            <a:extLst>
              <a:ext uri="{FF2B5EF4-FFF2-40B4-BE49-F238E27FC236}">
                <a16:creationId xmlns:a16="http://schemas.microsoft.com/office/drawing/2014/main" id="{D8993A90-67EB-8F88-C318-60E6845E49AD}"/>
              </a:ext>
            </a:extLst>
          </p:cNvPr>
          <p:cNvSpPr/>
          <p:nvPr/>
        </p:nvSpPr>
        <p:spPr>
          <a:xfrm rot="5400000">
            <a:off x="9633689" y="1470584"/>
            <a:ext cx="343389" cy="228251"/>
          </a:xfrm>
          <a:prstGeom prst="triangle">
            <a:avLst/>
          </a:prstGeom>
          <a:solidFill>
            <a:schemeClr val="bg1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8B0AD2-6902-468A-770A-BE3EAF9679B3}"/>
              </a:ext>
            </a:extLst>
          </p:cNvPr>
          <p:cNvSpPr/>
          <p:nvPr/>
        </p:nvSpPr>
        <p:spPr>
          <a:xfrm>
            <a:off x="3930198" y="1405733"/>
            <a:ext cx="2632825" cy="380808"/>
          </a:xfrm>
          <a:prstGeom prst="rect">
            <a:avLst/>
          </a:prstGeom>
          <a:solidFill>
            <a:schemeClr val="bg1">
              <a:lumMod val="85000"/>
              <a:alpha val="67059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Tool driven Planning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riangle 15">
            <a:extLst>
              <a:ext uri="{FF2B5EF4-FFF2-40B4-BE49-F238E27FC236}">
                <a16:creationId xmlns:a16="http://schemas.microsoft.com/office/drawing/2014/main" id="{9FF07DE9-2CDF-D6D6-C0DF-8BADECE37D40}"/>
              </a:ext>
            </a:extLst>
          </p:cNvPr>
          <p:cNvSpPr/>
          <p:nvPr/>
        </p:nvSpPr>
        <p:spPr>
          <a:xfrm rot="5400000">
            <a:off x="3746238" y="1470919"/>
            <a:ext cx="343389" cy="228251"/>
          </a:xfrm>
          <a:prstGeom prst="triangle">
            <a:avLst/>
          </a:prstGeom>
          <a:solidFill>
            <a:schemeClr val="bg1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pic>
        <p:nvPicPr>
          <p:cNvPr id="2050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866BBAD9-4312-1697-DD5D-C389D3B72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363" y="2671585"/>
            <a:ext cx="1507974" cy="7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D0F6766-B8B6-647E-52D4-4EF6D42397EF}"/>
              </a:ext>
            </a:extLst>
          </p:cNvPr>
          <p:cNvSpPr/>
          <p:nvPr/>
        </p:nvSpPr>
        <p:spPr>
          <a:xfrm>
            <a:off x="3930199" y="1859962"/>
            <a:ext cx="1337419" cy="503546"/>
          </a:xfrm>
          <a:prstGeom prst="rect">
            <a:avLst/>
          </a:prstGeom>
          <a:noFill/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Integrated Planning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2A6F36-F734-B1EC-C044-E17734F26604}"/>
              </a:ext>
            </a:extLst>
          </p:cNvPr>
          <p:cNvSpPr/>
          <p:nvPr/>
        </p:nvSpPr>
        <p:spPr>
          <a:xfrm>
            <a:off x="5349421" y="1863929"/>
            <a:ext cx="1213602" cy="503546"/>
          </a:xfrm>
          <a:prstGeom prst="rect">
            <a:avLst/>
          </a:prstGeom>
          <a:noFill/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Integrated Budgeting</a:t>
            </a:r>
            <a:endParaRPr lang="en-US" sz="1200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646259EC-50A0-4D90-0820-7BF7713DE99B}"/>
              </a:ext>
            </a:extLst>
          </p:cNvPr>
          <p:cNvSpPr/>
          <p:nvPr/>
        </p:nvSpPr>
        <p:spPr>
          <a:xfrm rot="5400000">
            <a:off x="6558471" y="1472295"/>
            <a:ext cx="343389" cy="228251"/>
          </a:xfrm>
          <a:prstGeom prst="triangle">
            <a:avLst/>
          </a:prstGeom>
          <a:solidFill>
            <a:schemeClr val="bg1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3DB8FFA-17D9-25A9-B001-CE60A0EADEFE}"/>
              </a:ext>
            </a:extLst>
          </p:cNvPr>
          <p:cNvSpPr/>
          <p:nvPr/>
        </p:nvSpPr>
        <p:spPr>
          <a:xfrm>
            <a:off x="4523609" y="3339547"/>
            <a:ext cx="1488017" cy="30043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Century Gothic" panose="020B0502020202020204" pitchFamily="34" charset="0"/>
                <a:cs typeface="Calibri" panose="020F0502020204030204" pitchFamily="34" charset="0"/>
              </a:rPr>
              <a:t>Architect</a:t>
            </a:r>
            <a:endParaRPr lang="en-US" sz="1200" b="1">
              <a:latin typeface="Century Gothic" panose="020B050202020202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FAD5D2-CC10-3E58-5C04-060FEDBB999E}"/>
              </a:ext>
            </a:extLst>
          </p:cNvPr>
          <p:cNvSpPr txBox="1"/>
          <p:nvPr/>
        </p:nvSpPr>
        <p:spPr>
          <a:xfrm>
            <a:off x="217171" y="4846906"/>
            <a:ext cx="107653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+mj-lt"/>
              </a:rPr>
              <a:t>To get the right audience insights we looked at the appropriate relevant products available :</a:t>
            </a:r>
            <a:br>
              <a:rPr lang="en-US">
                <a:latin typeface="+mj-lt"/>
              </a:rPr>
            </a:br>
            <a:r>
              <a:rPr lang="en-US">
                <a:latin typeface="+mj-lt"/>
              </a:rPr>
              <a:t>Insight finder: X90 and X80 along with OP 10PRO (11PRO NA) &amp; Samsung Galaxy S23 are available in Google Insights Finder </a:t>
            </a:r>
          </a:p>
          <a:p>
            <a:r>
              <a:rPr lang="en-US">
                <a:latin typeface="+mj-lt"/>
              </a:rPr>
              <a:t>GWI : Samsung S series  </a:t>
            </a:r>
            <a:endParaRPr lang="en-US">
              <a:highlight>
                <a:srgbClr val="FFFF00"/>
              </a:highlight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5AC767-4776-F734-C7EB-A6829CBC4B64}"/>
              </a:ext>
            </a:extLst>
          </p:cNvPr>
          <p:cNvSpPr txBox="1"/>
          <p:nvPr/>
        </p:nvSpPr>
        <p:spPr>
          <a:xfrm>
            <a:off x="262012" y="5722175"/>
            <a:ext cx="2270173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>
                <a:latin typeface="+mj-lt"/>
              </a:rPr>
              <a:t>Launch days for reference</a:t>
            </a:r>
          </a:p>
          <a:p>
            <a:r>
              <a:rPr lang="en-US" sz="1050">
                <a:latin typeface="+mj-lt"/>
              </a:rPr>
              <a:t>OnePlus Sale Date 31</a:t>
            </a:r>
            <a:r>
              <a:rPr lang="en-US" sz="1050" baseline="30000">
                <a:latin typeface="+mj-lt"/>
              </a:rPr>
              <a:t>st</a:t>
            </a:r>
            <a:r>
              <a:rPr lang="en-US" sz="1050">
                <a:latin typeface="+mj-lt"/>
              </a:rPr>
              <a:t> Mar 2022</a:t>
            </a:r>
          </a:p>
          <a:p>
            <a:r>
              <a:rPr lang="en-US" sz="1050">
                <a:latin typeface="+mj-lt"/>
              </a:rPr>
              <a:t>X80 Launch Date 25</a:t>
            </a:r>
            <a:r>
              <a:rPr lang="en-US" sz="1050" baseline="30000">
                <a:latin typeface="+mj-lt"/>
              </a:rPr>
              <a:t>th</a:t>
            </a:r>
            <a:r>
              <a:rPr lang="en-US" sz="1050">
                <a:latin typeface="+mj-lt"/>
              </a:rPr>
              <a:t> Apr 2022</a:t>
            </a:r>
          </a:p>
          <a:p>
            <a:r>
              <a:rPr lang="en-US" sz="1050">
                <a:latin typeface="+mj-lt"/>
              </a:rPr>
              <a:t>X90 Launch Date 26</a:t>
            </a:r>
            <a:r>
              <a:rPr lang="en-US" sz="1050" baseline="30000">
                <a:latin typeface="+mj-lt"/>
              </a:rPr>
              <a:t>th</a:t>
            </a:r>
            <a:r>
              <a:rPr lang="en-US" sz="1050">
                <a:latin typeface="+mj-lt"/>
              </a:rPr>
              <a:t> Apr 2023</a:t>
            </a:r>
          </a:p>
          <a:p>
            <a:r>
              <a:rPr lang="en-US" sz="1050">
                <a:latin typeface="+mj-lt"/>
              </a:rPr>
              <a:t>S23 Launch Date 1</a:t>
            </a:r>
            <a:r>
              <a:rPr lang="en-US" sz="1050" baseline="30000">
                <a:latin typeface="+mj-lt"/>
              </a:rPr>
              <a:t>st</a:t>
            </a:r>
            <a:r>
              <a:rPr lang="en-US" sz="1050">
                <a:latin typeface="+mj-lt"/>
              </a:rPr>
              <a:t> Feb 2023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A165FD6-00AB-AA95-B650-6CEE5DB6D3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1662" y="2997587"/>
            <a:ext cx="1132145" cy="45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434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9" grpId="0" animBg="1"/>
      <p:bldP spid="16" grpId="0" animBg="1"/>
      <p:bldP spid="10" grpId="0" animBg="1"/>
      <p:bldP spid="17" grpId="0" animBg="1"/>
      <p:bldP spid="29" grpId="0" animBg="1"/>
      <p:bldP spid="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B9A4189-B3BB-A633-9ACE-E0999F48DD7C}"/>
              </a:ext>
            </a:extLst>
          </p:cNvPr>
          <p:cNvGraphicFramePr>
            <a:graphicFrameLocks noGrp="1"/>
          </p:cNvGraphicFramePr>
          <p:nvPr/>
        </p:nvGraphicFramePr>
        <p:xfrm>
          <a:off x="831690" y="1459315"/>
          <a:ext cx="4416967" cy="2777490"/>
        </p:xfrm>
        <a:graphic>
          <a:graphicData uri="http://schemas.openxmlformats.org/drawingml/2006/table">
            <a:tbl>
              <a:tblPr/>
              <a:tblGrid>
                <a:gridCol w="2640310">
                  <a:extLst>
                    <a:ext uri="{9D8B030D-6E8A-4147-A177-3AD203B41FA5}">
                      <a16:colId xmlns:a16="http://schemas.microsoft.com/office/drawing/2014/main" val="892173450"/>
                    </a:ext>
                  </a:extLst>
                </a:gridCol>
                <a:gridCol w="592219">
                  <a:extLst>
                    <a:ext uri="{9D8B030D-6E8A-4147-A177-3AD203B41FA5}">
                      <a16:colId xmlns:a16="http://schemas.microsoft.com/office/drawing/2014/main" val="4098283873"/>
                    </a:ext>
                  </a:extLst>
                </a:gridCol>
                <a:gridCol w="592219">
                  <a:extLst>
                    <a:ext uri="{9D8B030D-6E8A-4147-A177-3AD203B41FA5}">
                      <a16:colId xmlns:a16="http://schemas.microsoft.com/office/drawing/2014/main" val="540176807"/>
                    </a:ext>
                  </a:extLst>
                </a:gridCol>
                <a:gridCol w="592219">
                  <a:extLst>
                    <a:ext uri="{9D8B030D-6E8A-4147-A177-3AD203B41FA5}">
                      <a16:colId xmlns:a16="http://schemas.microsoft.com/office/drawing/2014/main" val="41734177"/>
                    </a:ext>
                  </a:extLst>
                </a:gridCol>
              </a:tblGrid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Top 3P DMP Audience Cohorts (basis share)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Overlap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Share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Index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967757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Budget </a:t>
                      </a:r>
                      <a:r>
                        <a:rPr lang="en-US" sz="1100" b="1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Traveller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14,804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1.565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7046580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International </a:t>
                      </a:r>
                      <a:r>
                        <a:rPr lang="en-US" sz="1100" b="1" i="0" u="none" strike="noStrike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Traveller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15,400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1.560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408064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Statement: “Electric Cars are the future”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14,415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1.541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5068264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Finance News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9,430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1.537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7476081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Statement: “Early Adopter of New Technology”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17,996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1.528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0221040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Luxury Cars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8,782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1.516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8891658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Job Profile : Business Development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16,094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6751255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Business Intelligence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17,787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1.158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0742523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Enterprise Business Solutions (EBS)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19,975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1.109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0673094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Tech / IT Business Professionals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13,422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9741762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Job Seniority : CXO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15,559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6901500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Job Seniority : Head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14,423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1.289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4653048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 disposable income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19,097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1.037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5790497"/>
                  </a:ext>
                </a:extLst>
              </a:tr>
              <a:tr h="15691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Millennial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23,245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63%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1.283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232078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7EF47B95-4E3F-F259-034D-936C3502D7F5}"/>
              </a:ext>
            </a:extLst>
          </p:cNvPr>
          <p:cNvGraphicFramePr>
            <a:graphicFrameLocks noGrp="1"/>
          </p:cNvGraphicFramePr>
          <p:nvPr/>
        </p:nvGraphicFramePr>
        <p:xfrm>
          <a:off x="831690" y="4331485"/>
          <a:ext cx="4416967" cy="1739900"/>
        </p:xfrm>
        <a:graphic>
          <a:graphicData uri="http://schemas.openxmlformats.org/drawingml/2006/table">
            <a:tbl>
              <a:tblPr/>
              <a:tblGrid>
                <a:gridCol w="2640310">
                  <a:extLst>
                    <a:ext uri="{9D8B030D-6E8A-4147-A177-3AD203B41FA5}">
                      <a16:colId xmlns:a16="http://schemas.microsoft.com/office/drawing/2014/main" val="2518795318"/>
                    </a:ext>
                  </a:extLst>
                </a:gridCol>
                <a:gridCol w="592219">
                  <a:extLst>
                    <a:ext uri="{9D8B030D-6E8A-4147-A177-3AD203B41FA5}">
                      <a16:colId xmlns:a16="http://schemas.microsoft.com/office/drawing/2014/main" val="1825397641"/>
                    </a:ext>
                  </a:extLst>
                </a:gridCol>
                <a:gridCol w="592219">
                  <a:extLst>
                    <a:ext uri="{9D8B030D-6E8A-4147-A177-3AD203B41FA5}">
                      <a16:colId xmlns:a16="http://schemas.microsoft.com/office/drawing/2014/main" val="862678686"/>
                    </a:ext>
                  </a:extLst>
                </a:gridCol>
                <a:gridCol w="592219">
                  <a:extLst>
                    <a:ext uri="{9D8B030D-6E8A-4147-A177-3AD203B41FA5}">
                      <a16:colId xmlns:a16="http://schemas.microsoft.com/office/drawing/2014/main" val="1976379705"/>
                    </a:ext>
                  </a:extLst>
                </a:gridCol>
              </a:tblGrid>
              <a:tr h="9608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Top 3P DMP Audience Cohorts (basis index)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Overlap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Share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Index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321705"/>
                  </a:ext>
                </a:extLst>
              </a:tr>
              <a:tr h="9608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 Market for Fitness Watch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2,135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2.349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4284908"/>
                  </a:ext>
                </a:extLst>
              </a:tr>
              <a:tr h="9608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 Market Used Cars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2,635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2.166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8386018"/>
                  </a:ext>
                </a:extLst>
              </a:tr>
              <a:tr h="9608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Affinity towards Apple Devices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3,034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2.139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5241752"/>
                  </a:ext>
                </a:extLst>
              </a:tr>
              <a:tr h="9608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 Market - Luxury Watches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2,349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6134987"/>
                  </a:ext>
                </a:extLst>
              </a:tr>
              <a:tr h="9608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 Market for Home Theatre Systems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6,162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1.916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1940296"/>
                  </a:ext>
                </a:extLst>
              </a:tr>
              <a:tr h="9608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 Market for Camera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7,211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1.909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2727138"/>
                  </a:ext>
                </a:extLst>
              </a:tr>
              <a:tr h="9608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 Market for Motorcycles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7,086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1.873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810216"/>
                  </a:ext>
                </a:extLst>
              </a:tr>
              <a:tr h="15301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Researching for vehicle Specs &amp; Reviews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9,298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1.871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9049982"/>
                  </a:ext>
                </a:extLst>
              </a:tr>
              <a:tr h="96083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Business Professional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9,771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1.911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1607527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898ECA96-9AEF-BBE6-87D2-FCC39C4F5E85}"/>
              </a:ext>
            </a:extLst>
          </p:cNvPr>
          <p:cNvSpPr>
            <a:spLocks/>
          </p:cNvSpPr>
          <p:nvPr/>
        </p:nvSpPr>
        <p:spPr>
          <a:xfrm>
            <a:off x="668688" y="4831886"/>
            <a:ext cx="4742953" cy="138346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12C122-2A93-1143-51FC-35147978BEFA}"/>
              </a:ext>
            </a:extLst>
          </p:cNvPr>
          <p:cNvSpPr>
            <a:spLocks/>
          </p:cNvSpPr>
          <p:nvPr/>
        </p:nvSpPr>
        <p:spPr>
          <a:xfrm>
            <a:off x="668693" y="5185302"/>
            <a:ext cx="4742953" cy="555846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2B7141F-F6AB-E389-8D42-EA0C55CD73F2}"/>
              </a:ext>
            </a:extLst>
          </p:cNvPr>
          <p:cNvSpPr>
            <a:spLocks/>
          </p:cNvSpPr>
          <p:nvPr/>
        </p:nvSpPr>
        <p:spPr>
          <a:xfrm>
            <a:off x="668692" y="5923895"/>
            <a:ext cx="4742953" cy="138346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EF2FA3-30EC-6AE5-5797-2A277CE00D33}"/>
              </a:ext>
            </a:extLst>
          </p:cNvPr>
          <p:cNvSpPr>
            <a:spLocks/>
          </p:cNvSpPr>
          <p:nvPr/>
        </p:nvSpPr>
        <p:spPr>
          <a:xfrm>
            <a:off x="668689" y="2684013"/>
            <a:ext cx="4742953" cy="138346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43969D5-37F3-D177-22EA-82EB18127D57}"/>
              </a:ext>
            </a:extLst>
          </p:cNvPr>
          <p:cNvSpPr>
            <a:spLocks/>
          </p:cNvSpPr>
          <p:nvPr/>
        </p:nvSpPr>
        <p:spPr>
          <a:xfrm>
            <a:off x="668690" y="3179650"/>
            <a:ext cx="4742953" cy="677832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C6EE8B4-3780-870F-8993-62CAF815D2DD}"/>
              </a:ext>
            </a:extLst>
          </p:cNvPr>
          <p:cNvSpPr>
            <a:spLocks/>
          </p:cNvSpPr>
          <p:nvPr/>
        </p:nvSpPr>
        <p:spPr>
          <a:xfrm>
            <a:off x="668689" y="5726915"/>
            <a:ext cx="4742953" cy="138346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25FE16-5A45-D9F8-DB4E-C46B75C85E77}"/>
              </a:ext>
            </a:extLst>
          </p:cNvPr>
          <p:cNvSpPr txBox="1"/>
          <p:nvPr/>
        </p:nvSpPr>
        <p:spPr>
          <a:xfrm>
            <a:off x="779468" y="6337237"/>
            <a:ext cx="10775945" cy="5078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</a:t>
            </a:r>
          </a:p>
          <a:p>
            <a:r>
              <a:rPr lang="en-US" sz="900" b="1">
                <a:solidFill>
                  <a:srgbClr val="191C1C"/>
                </a:solidFill>
                <a:latin typeface="Century Gothic"/>
                <a:sym typeface="Century Gothic"/>
              </a:rPr>
              <a:t>DV360 Audience Analysis:  Seed Audience - </a:t>
            </a:r>
            <a:r>
              <a:rPr lang="en-US" sz="900" u="sng" err="1">
                <a:solidFill>
                  <a:srgbClr val="191C1C"/>
                </a:solidFill>
                <a:latin typeface="Century Gothic"/>
                <a:sym typeface="Century Gothic"/>
              </a:rPr>
              <a:t>Buynowclick</a:t>
            </a:r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 - Purchase </a:t>
            </a:r>
            <a:r>
              <a:rPr lang="en-US" sz="900" u="sng" err="1">
                <a:solidFill>
                  <a:srgbClr val="191C1C"/>
                </a:solidFill>
                <a:latin typeface="Century Gothic"/>
                <a:sym typeface="Century Gothic"/>
              </a:rPr>
              <a:t>Intent_X</a:t>
            </a:r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 Series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(Audience size 39,000)</a:t>
            </a:r>
          </a:p>
          <a:p>
            <a:r>
              <a:rPr lang="en-US" sz="900" b="1">
                <a:solidFill>
                  <a:srgbClr val="191C1C"/>
                </a:solidFill>
                <a:latin typeface="Century Gothic"/>
                <a:sym typeface="Century Gothic"/>
              </a:rPr>
              <a:t>Data Partners -  </a:t>
            </a:r>
            <a:r>
              <a:rPr lang="en-US" sz="900" err="1">
                <a:solidFill>
                  <a:srgbClr val="191C1C"/>
                </a:solidFill>
                <a:latin typeface="Century Gothic"/>
                <a:sym typeface="Century Gothic"/>
              </a:rPr>
              <a:t>Semasio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| </a:t>
            </a:r>
            <a:r>
              <a:rPr lang="en-US" sz="900" err="1">
                <a:solidFill>
                  <a:srgbClr val="191C1C"/>
                </a:solidFill>
                <a:latin typeface="Century Gothic"/>
                <a:sym typeface="Century Gothic"/>
              </a:rPr>
              <a:t>Liveramp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| </a:t>
            </a:r>
            <a:r>
              <a:rPr lang="en-US" sz="900" err="1">
                <a:solidFill>
                  <a:srgbClr val="191C1C"/>
                </a:solidFill>
                <a:latin typeface="Century Gothic"/>
                <a:sym typeface="Century Gothic"/>
              </a:rPr>
              <a:t>Eyeota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| YouGov</a:t>
            </a:r>
            <a:endParaRPr lang="en-US" sz="900">
              <a:solidFill>
                <a:srgbClr val="191C1C"/>
              </a:solidFill>
              <a:latin typeface="Century Gothic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799522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Key Traits of X Series Purchase intenders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98B9E7-28EA-5878-FEFC-5F86034B7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855" y="-13252"/>
            <a:ext cx="1132145" cy="4504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347E49F-BD8A-9E6F-EFAF-1A6BB1484AB4}"/>
              </a:ext>
            </a:extLst>
          </p:cNvPr>
          <p:cNvSpPr>
            <a:spLocks/>
          </p:cNvSpPr>
          <p:nvPr/>
        </p:nvSpPr>
        <p:spPr>
          <a:xfrm>
            <a:off x="668688" y="3888859"/>
            <a:ext cx="4742953" cy="229943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BFA84C-D0AC-9331-110C-1ECFAEFAF1DA}"/>
              </a:ext>
            </a:extLst>
          </p:cNvPr>
          <p:cNvSpPr>
            <a:spLocks/>
          </p:cNvSpPr>
          <p:nvPr/>
        </p:nvSpPr>
        <p:spPr>
          <a:xfrm>
            <a:off x="668688" y="2281304"/>
            <a:ext cx="4742953" cy="358308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9DFED6-4DD9-0C7D-F1D0-6B3EA557EA50}"/>
              </a:ext>
            </a:extLst>
          </p:cNvPr>
          <p:cNvSpPr>
            <a:spLocks/>
          </p:cNvSpPr>
          <p:nvPr/>
        </p:nvSpPr>
        <p:spPr>
          <a:xfrm>
            <a:off x="668696" y="1667532"/>
            <a:ext cx="4742953" cy="297235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B1425C7-0650-FB4A-59A5-F45641AD98B2}"/>
              </a:ext>
            </a:extLst>
          </p:cNvPr>
          <p:cNvSpPr/>
          <p:nvPr/>
        </p:nvSpPr>
        <p:spPr>
          <a:xfrm>
            <a:off x="7631290" y="1459315"/>
            <a:ext cx="3924124" cy="4611322"/>
          </a:xfrm>
          <a:prstGeom prst="roundRect">
            <a:avLst/>
          </a:prstGeom>
          <a:noFill/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r>
              <a:rPr lang="en-US" sz="12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Considering most likely purchasers for vivo X Fold3 being vivo Flagship Loyalists with following traits:</a:t>
            </a:r>
          </a:p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AutoNum type="arabicPeriod"/>
            </a:pPr>
            <a:r>
              <a:rPr lang="en-US" sz="12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International Travel Enthusiasts</a:t>
            </a:r>
          </a:p>
          <a:p>
            <a:pPr marL="342900" indent="-342900">
              <a:buAutoNum type="arabicPeriod"/>
            </a:pPr>
            <a:r>
              <a:rPr lang="en-US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High Disposable income</a:t>
            </a:r>
          </a:p>
          <a:p>
            <a:pPr marL="342900" indent="-342900">
              <a:buAutoNum type="arabicPeriod"/>
            </a:pPr>
            <a:r>
              <a:rPr lang="en-US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Affinity towards Luxury Cars &amp; Watches</a:t>
            </a:r>
          </a:p>
          <a:p>
            <a:pPr marL="342900" indent="-342900">
              <a:buAutoNum type="arabicPeriod"/>
            </a:pPr>
            <a:r>
              <a:rPr lang="en-US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Senior level Job Designation</a:t>
            </a:r>
          </a:p>
          <a:p>
            <a:pPr marL="342900" indent="-342900">
              <a:buAutoNum type="arabicPeriod"/>
            </a:pPr>
            <a:r>
              <a:rPr lang="en-US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Affinity towards APPLE devices</a:t>
            </a:r>
          </a:p>
          <a:p>
            <a:pPr marL="342900" indent="-342900">
              <a:buAutoNum type="arabicPeriod"/>
            </a:pPr>
            <a:r>
              <a:rPr lang="en-US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Business Professional – Enterprise </a:t>
            </a:r>
          </a:p>
          <a:p>
            <a:pPr marL="342900" indent="-342900">
              <a:buAutoNum type="arabicPeriod"/>
            </a:pPr>
            <a:r>
              <a:rPr lang="en-US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Affinity towards Motor Vehicles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DB80D448-3981-C81C-58C0-68F1E1513530}"/>
              </a:ext>
            </a:extLst>
          </p:cNvPr>
          <p:cNvSpPr txBox="1">
            <a:spLocks/>
          </p:cNvSpPr>
          <p:nvPr/>
        </p:nvSpPr>
        <p:spPr>
          <a:xfrm>
            <a:off x="713515" y="555685"/>
            <a:ext cx="10935941" cy="79952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36370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 cap="none" baseline="0">
                <a:solidFill>
                  <a:schemeClr val="tx1"/>
                </a:solidFill>
                <a:latin typeface="+mj-lt"/>
                <a:ea typeface="Century Gothic" panose="020B0502020202020204" pitchFamily="34" charset="0"/>
                <a:cs typeface="Century Gothic" panose="020B0502020202020204" pitchFamily="34" charset="0"/>
              </a:defRPr>
            </a:lvl1pPr>
          </a:lstStyle>
          <a:p>
            <a:pPr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Font typeface="Arial"/>
              <a:buNone/>
              <a:defRPr/>
            </a:pPr>
            <a:r>
              <a:rPr lang="en-US" sz="2000" b="1" kern="0">
                <a:solidFill>
                  <a:srgbClr val="000000"/>
                </a:solidFill>
                <a:latin typeface="Century Gothic" panose="020B0502020202020204" pitchFamily="34" charset="0"/>
                <a:cs typeface="Arial"/>
              </a:rPr>
              <a:t>based on overlap between 1PD &amp; 3P DMP audience</a:t>
            </a:r>
            <a:endParaRPr lang="en-US" sz="2800" b="1" kern="0">
              <a:solidFill>
                <a:srgbClr val="000000"/>
              </a:solidFill>
              <a:latin typeface="Century Gothic" panose="020B0502020202020204" pitchFamily="34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45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E25FE16-5A45-D9F8-DB4E-C46B75C85E77}"/>
              </a:ext>
            </a:extLst>
          </p:cNvPr>
          <p:cNvSpPr txBox="1"/>
          <p:nvPr/>
        </p:nvSpPr>
        <p:spPr>
          <a:xfrm>
            <a:off x="779468" y="6475511"/>
            <a:ext cx="10775945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Choreograph: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Audience Origin 2.x (BETA) 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Description: Travelled abroad at least once in last 12 months OR Department Manager/VP and above OR Annual income 15 Lacs &amp; above</a:t>
            </a:r>
            <a:endParaRPr lang="en-US" sz="900">
              <a:solidFill>
                <a:srgbClr val="191C1C"/>
              </a:solidFill>
              <a:latin typeface="Century Gothic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Architect defines our TG as Millennials with almost equal gender split..</a:t>
            </a:r>
          </a:p>
        </p:txBody>
      </p:sp>
      <p:graphicFrame>
        <p:nvGraphicFramePr>
          <p:cNvPr id="2" name="Chart 0">
            <a:extLst>
              <a:ext uri="{FF2B5EF4-FFF2-40B4-BE49-F238E27FC236}">
                <a16:creationId xmlns:a16="http://schemas.microsoft.com/office/drawing/2014/main" id="{5B1DC7E0-1C06-06FD-BC56-25B277808801}"/>
              </a:ext>
            </a:extLst>
          </p:cNvPr>
          <p:cNvGraphicFramePr/>
          <p:nvPr/>
        </p:nvGraphicFramePr>
        <p:xfrm>
          <a:off x="4656096" y="1114725"/>
          <a:ext cx="3132829" cy="23996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69A3CBB3-703E-BFEB-6081-D2EDEEF89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4026" y="-10434"/>
            <a:ext cx="1507974" cy="7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1762768C-1557-D329-E5E5-3EFCFEA9EBF3}"/>
              </a:ext>
            </a:extLst>
          </p:cNvPr>
          <p:cNvGraphicFramePr/>
          <p:nvPr/>
        </p:nvGraphicFramePr>
        <p:xfrm>
          <a:off x="878620" y="1114725"/>
          <a:ext cx="3264407" cy="24029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9" name="Chart 0">
            <a:extLst>
              <a:ext uri="{FF2B5EF4-FFF2-40B4-BE49-F238E27FC236}">
                <a16:creationId xmlns:a16="http://schemas.microsoft.com/office/drawing/2014/main" id="{7E5508F9-9638-2F82-FCBC-3865798562AC}"/>
              </a:ext>
            </a:extLst>
          </p:cNvPr>
          <p:cNvGraphicFramePr/>
          <p:nvPr/>
        </p:nvGraphicFramePr>
        <p:xfrm>
          <a:off x="8438920" y="1106761"/>
          <a:ext cx="3132829" cy="23996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CDEE331F-3694-6600-6B16-455D585D221A}"/>
              </a:ext>
            </a:extLst>
          </p:cNvPr>
          <p:cNvGraphicFramePr/>
          <p:nvPr/>
        </p:nvGraphicFramePr>
        <p:xfrm>
          <a:off x="4656096" y="4001286"/>
          <a:ext cx="3132829" cy="23996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3" name="Chart 0">
            <a:extLst>
              <a:ext uri="{FF2B5EF4-FFF2-40B4-BE49-F238E27FC236}">
                <a16:creationId xmlns:a16="http://schemas.microsoft.com/office/drawing/2014/main" id="{3F885567-C158-9DAC-DFB0-37246185B922}"/>
              </a:ext>
            </a:extLst>
          </p:cNvPr>
          <p:cNvGraphicFramePr/>
          <p:nvPr/>
        </p:nvGraphicFramePr>
        <p:xfrm>
          <a:off x="8438919" y="3997942"/>
          <a:ext cx="3132829" cy="240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15" name="Chart 0">
            <a:extLst>
              <a:ext uri="{FF2B5EF4-FFF2-40B4-BE49-F238E27FC236}">
                <a16:creationId xmlns:a16="http://schemas.microsoft.com/office/drawing/2014/main" id="{6289A863-A987-E3A4-619D-D19818743C35}"/>
              </a:ext>
            </a:extLst>
          </p:cNvPr>
          <p:cNvGraphicFramePr/>
          <p:nvPr/>
        </p:nvGraphicFramePr>
        <p:xfrm>
          <a:off x="878620" y="4001286"/>
          <a:ext cx="3264405" cy="24029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9589F66D-C016-3341-2E9C-CF0FD575FB1F}"/>
              </a:ext>
            </a:extLst>
          </p:cNvPr>
          <p:cNvSpPr>
            <a:spLocks/>
          </p:cNvSpPr>
          <p:nvPr/>
        </p:nvSpPr>
        <p:spPr>
          <a:xfrm>
            <a:off x="878620" y="4866295"/>
            <a:ext cx="2999317" cy="942690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35CA79-FE69-BE00-1D10-28E989BEDE8B}"/>
              </a:ext>
            </a:extLst>
          </p:cNvPr>
          <p:cNvSpPr>
            <a:spLocks/>
          </p:cNvSpPr>
          <p:nvPr/>
        </p:nvSpPr>
        <p:spPr>
          <a:xfrm>
            <a:off x="8438697" y="5389169"/>
            <a:ext cx="2874684" cy="471345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A277297-C7ED-22BC-9FA2-9B8B08836D3E}"/>
              </a:ext>
            </a:extLst>
          </p:cNvPr>
          <p:cNvSpPr/>
          <p:nvPr/>
        </p:nvSpPr>
        <p:spPr>
          <a:xfrm>
            <a:off x="2378278" y="3555103"/>
            <a:ext cx="286439" cy="408804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08BEF7C7-DF4A-3E93-8DB4-DD8C6E03ECD0}"/>
              </a:ext>
            </a:extLst>
          </p:cNvPr>
          <p:cNvSpPr/>
          <p:nvPr/>
        </p:nvSpPr>
        <p:spPr>
          <a:xfrm>
            <a:off x="6079290" y="3555103"/>
            <a:ext cx="286439" cy="408804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C7D2A754-9CB9-7D78-2B81-8D1C94614C1A}"/>
              </a:ext>
            </a:extLst>
          </p:cNvPr>
          <p:cNvSpPr/>
          <p:nvPr/>
        </p:nvSpPr>
        <p:spPr>
          <a:xfrm>
            <a:off x="9862113" y="3555103"/>
            <a:ext cx="286439" cy="408804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1793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E25FE16-5A45-D9F8-DB4E-C46B75C85E77}"/>
              </a:ext>
            </a:extLst>
          </p:cNvPr>
          <p:cNvSpPr txBox="1"/>
          <p:nvPr/>
        </p:nvSpPr>
        <p:spPr>
          <a:xfrm>
            <a:off x="779468" y="6475511"/>
            <a:ext cx="10775945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Choreograph: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Audience Origin 2.x (BETA) 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Description: Travelled abroad at least once in last 12 months OR Department Manager/VP and above OR Annual income 15 Lacs &amp; above</a:t>
            </a:r>
            <a:endParaRPr lang="en-US" sz="900">
              <a:solidFill>
                <a:srgbClr val="191C1C"/>
              </a:solidFill>
              <a:latin typeface="Century Gothic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..career focused, at a life stage to get married and invest in high ticket item purchases</a:t>
            </a:r>
          </a:p>
        </p:txBody>
      </p:sp>
      <p:pic>
        <p:nvPicPr>
          <p:cNvPr id="5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69A3CBB3-703E-BFEB-6081-D2EDEEF89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4026" y="-10434"/>
            <a:ext cx="1507974" cy="7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7D4AF8E4-E898-ABFB-B933-83E2D1D34833}"/>
              </a:ext>
            </a:extLst>
          </p:cNvPr>
          <p:cNvGraphicFramePr/>
          <p:nvPr/>
        </p:nvGraphicFramePr>
        <p:xfrm>
          <a:off x="779468" y="1199794"/>
          <a:ext cx="5145561" cy="46635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4C4F1D3B-99A9-83E5-1524-3DB710D760A2}"/>
              </a:ext>
            </a:extLst>
          </p:cNvPr>
          <p:cNvGraphicFramePr/>
          <p:nvPr/>
        </p:nvGraphicFramePr>
        <p:xfrm>
          <a:off x="6332924" y="1184014"/>
          <a:ext cx="5145561" cy="46635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8C7D9089-D47E-2C87-CC24-C85E3F1CE458}"/>
              </a:ext>
            </a:extLst>
          </p:cNvPr>
          <p:cNvSpPr>
            <a:spLocks/>
          </p:cNvSpPr>
          <p:nvPr/>
        </p:nvSpPr>
        <p:spPr>
          <a:xfrm>
            <a:off x="779468" y="2354888"/>
            <a:ext cx="10699017" cy="539406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D45B88-21A8-BB40-5E21-B9D859E1981E}"/>
              </a:ext>
            </a:extLst>
          </p:cNvPr>
          <p:cNvSpPr>
            <a:spLocks/>
          </p:cNvSpPr>
          <p:nvPr/>
        </p:nvSpPr>
        <p:spPr>
          <a:xfrm>
            <a:off x="779463" y="4683088"/>
            <a:ext cx="10699017" cy="783511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549580-EA7F-FE6A-FA21-5C7ABE3487CA}"/>
              </a:ext>
            </a:extLst>
          </p:cNvPr>
          <p:cNvSpPr>
            <a:spLocks/>
          </p:cNvSpPr>
          <p:nvPr/>
        </p:nvSpPr>
        <p:spPr>
          <a:xfrm>
            <a:off x="779462" y="3516317"/>
            <a:ext cx="10699017" cy="539406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079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98715-78DF-C003-F451-7359E91C8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E4664-AC4B-11FC-8509-4E228FBB2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799522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IN" sz="2800" b="1" i="0">
                <a:effectLst/>
                <a:latin typeface="+mj-lt"/>
              </a:rPr>
              <a:t>“Millennial</a:t>
            </a:r>
            <a:r>
              <a:rPr lang="en-IN" sz="2800" b="1">
                <a:latin typeface="+mj-lt"/>
              </a:rPr>
              <a:t>s” clearly define our core TG</a:t>
            </a:r>
            <a:br>
              <a:rPr lang="en-IN" sz="2800" b="1">
                <a:latin typeface="+mj-lt"/>
              </a:rPr>
            </a:br>
            <a:r>
              <a:rPr lang="en-IN" sz="2800" b="1">
                <a:latin typeface="+mj-lt"/>
              </a:rPr>
              <a:t>with Females contributing towards a substantial share</a:t>
            </a:r>
            <a:endParaRPr lang="en-US" b="1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96443A-248D-FEF9-6366-2A86AF4D4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855" y="23188"/>
            <a:ext cx="1132145" cy="337865"/>
          </a:xfrm>
          <a:prstGeom prst="rect">
            <a:avLst/>
          </a:prstGeom>
          <a:ln>
            <a:solidFill>
              <a:srgbClr val="A4EEEE">
                <a:alpha val="63922"/>
              </a:srgbClr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518BB6-A650-89BC-3E16-E692AD0AD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422" y="1970061"/>
            <a:ext cx="3337112" cy="7054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80DDEB5-15D9-E06D-896A-8DF8B7B1AC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002" y="1970061"/>
            <a:ext cx="3141300" cy="7017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21CA635-1294-4AA5-56FB-5E580ADEF0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37" y="1970061"/>
            <a:ext cx="3275329" cy="6980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D57FAE5-9E06-E833-14A6-1CD7E80D6EC6}"/>
              </a:ext>
            </a:extLst>
          </p:cNvPr>
          <p:cNvSpPr txBox="1"/>
          <p:nvPr/>
        </p:nvSpPr>
        <p:spPr>
          <a:xfrm>
            <a:off x="779468" y="6062917"/>
            <a:ext cx="10775945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Google Insights Finder, India, Sept-Nov  23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,: - Topic – OnePlus Open| Samsung Fold |  Samsung Galaxy Z5</a:t>
            </a:r>
          </a:p>
          <a:p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endParaRPr lang="en-US" sz="900">
              <a:solidFill>
                <a:srgbClr val="191C1C"/>
              </a:solidFill>
              <a:latin typeface="Century Gothic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31EBAD8-1563-5AE3-0E71-7AE7207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4394"/>
              </p:ext>
            </p:extLst>
          </p:nvPr>
        </p:nvGraphicFramePr>
        <p:xfrm>
          <a:off x="901419" y="2768577"/>
          <a:ext cx="3337112" cy="665480"/>
        </p:xfrm>
        <a:graphic>
          <a:graphicData uri="http://schemas.openxmlformats.org/drawingml/2006/table">
            <a:tbl>
              <a:tblPr/>
              <a:tblGrid>
                <a:gridCol w="834278">
                  <a:extLst>
                    <a:ext uri="{9D8B030D-6E8A-4147-A177-3AD203B41FA5}">
                      <a16:colId xmlns:a16="http://schemas.microsoft.com/office/drawing/2014/main" val="3145363480"/>
                    </a:ext>
                  </a:extLst>
                </a:gridCol>
                <a:gridCol w="834278">
                  <a:extLst>
                    <a:ext uri="{9D8B030D-6E8A-4147-A177-3AD203B41FA5}">
                      <a16:colId xmlns:a16="http://schemas.microsoft.com/office/drawing/2014/main" val="3911541502"/>
                    </a:ext>
                  </a:extLst>
                </a:gridCol>
                <a:gridCol w="834278">
                  <a:extLst>
                    <a:ext uri="{9D8B030D-6E8A-4147-A177-3AD203B41FA5}">
                      <a16:colId xmlns:a16="http://schemas.microsoft.com/office/drawing/2014/main" val="1023731934"/>
                    </a:ext>
                  </a:extLst>
                </a:gridCol>
                <a:gridCol w="834278">
                  <a:extLst>
                    <a:ext uri="{9D8B030D-6E8A-4147-A177-3AD203B41FA5}">
                      <a16:colId xmlns:a16="http://schemas.microsoft.com/office/drawing/2014/main" val="2322529774"/>
                    </a:ext>
                  </a:extLst>
                </a:gridCol>
              </a:tblGrid>
              <a:tr h="52693">
                <a:tc gridSpan="4">
                  <a:txBody>
                    <a:bodyPr/>
                    <a:lstStyle/>
                    <a:p>
                      <a:pPr algn="ctr" rtl="0" fontAlgn="b"/>
                      <a:r>
                        <a:rPr lang="en-US" sz="1050" b="1" i="0" u="none" strike="noStrike">
                          <a:solidFill>
                            <a:srgbClr val="0A0F0D"/>
                          </a:solidFill>
                          <a:effectLst/>
                          <a:latin typeface="Century Gothic" panose="020B0502020202020204" pitchFamily="34" charset="0"/>
                        </a:rPr>
                        <a:t>Samsung Galaxy Z5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837334"/>
                  </a:ext>
                </a:extLst>
              </a:tr>
              <a:tr h="10356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Gender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Share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Index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Relevance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9564622"/>
                  </a:ext>
                </a:extLst>
              </a:tr>
              <a:tr h="5269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Male 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6868359"/>
                  </a:ext>
                </a:extLst>
              </a:tr>
              <a:tr h="52693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Female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400504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6495ECA-0924-D066-4344-29E95331A9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552673"/>
              </p:ext>
            </p:extLst>
          </p:nvPr>
        </p:nvGraphicFramePr>
        <p:xfrm>
          <a:off x="4740000" y="2768577"/>
          <a:ext cx="3141300" cy="695960"/>
        </p:xfrm>
        <a:graphic>
          <a:graphicData uri="http://schemas.openxmlformats.org/drawingml/2006/table">
            <a:tbl>
              <a:tblPr/>
              <a:tblGrid>
                <a:gridCol w="785325">
                  <a:extLst>
                    <a:ext uri="{9D8B030D-6E8A-4147-A177-3AD203B41FA5}">
                      <a16:colId xmlns:a16="http://schemas.microsoft.com/office/drawing/2014/main" val="1420506476"/>
                    </a:ext>
                  </a:extLst>
                </a:gridCol>
                <a:gridCol w="785325">
                  <a:extLst>
                    <a:ext uri="{9D8B030D-6E8A-4147-A177-3AD203B41FA5}">
                      <a16:colId xmlns:a16="http://schemas.microsoft.com/office/drawing/2014/main" val="2222138103"/>
                    </a:ext>
                  </a:extLst>
                </a:gridCol>
                <a:gridCol w="785325">
                  <a:extLst>
                    <a:ext uri="{9D8B030D-6E8A-4147-A177-3AD203B41FA5}">
                      <a16:colId xmlns:a16="http://schemas.microsoft.com/office/drawing/2014/main" val="3542191469"/>
                    </a:ext>
                  </a:extLst>
                </a:gridCol>
                <a:gridCol w="785325">
                  <a:extLst>
                    <a:ext uri="{9D8B030D-6E8A-4147-A177-3AD203B41FA5}">
                      <a16:colId xmlns:a16="http://schemas.microsoft.com/office/drawing/2014/main" val="2816595273"/>
                    </a:ext>
                  </a:extLst>
                </a:gridCol>
              </a:tblGrid>
              <a:tr h="85630">
                <a:tc gridSpan="4"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A0F0D"/>
                          </a:solidFill>
                          <a:effectLst/>
                          <a:latin typeface="Century Gothic" panose="020B0502020202020204" pitchFamily="34" charset="0"/>
                        </a:rPr>
                        <a:t>Samsung Fold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4879525"/>
                  </a:ext>
                </a:extLst>
              </a:tr>
              <a:tr h="16830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Gender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Share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Index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Relevance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2495208"/>
                  </a:ext>
                </a:extLst>
              </a:tr>
              <a:tr h="8563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Male 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2511916"/>
                  </a:ext>
                </a:extLst>
              </a:tr>
              <a:tr h="85630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Female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1570437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49A768E-BDB8-65C7-95EB-FCF50F5E89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170623"/>
              </p:ext>
            </p:extLst>
          </p:nvPr>
        </p:nvGraphicFramePr>
        <p:xfrm>
          <a:off x="8346034" y="2768577"/>
          <a:ext cx="3275328" cy="695960"/>
        </p:xfrm>
        <a:graphic>
          <a:graphicData uri="http://schemas.openxmlformats.org/drawingml/2006/table">
            <a:tbl>
              <a:tblPr/>
              <a:tblGrid>
                <a:gridCol w="818832">
                  <a:extLst>
                    <a:ext uri="{9D8B030D-6E8A-4147-A177-3AD203B41FA5}">
                      <a16:colId xmlns:a16="http://schemas.microsoft.com/office/drawing/2014/main" val="1393140761"/>
                    </a:ext>
                  </a:extLst>
                </a:gridCol>
                <a:gridCol w="818832">
                  <a:extLst>
                    <a:ext uri="{9D8B030D-6E8A-4147-A177-3AD203B41FA5}">
                      <a16:colId xmlns:a16="http://schemas.microsoft.com/office/drawing/2014/main" val="3784168923"/>
                    </a:ext>
                  </a:extLst>
                </a:gridCol>
                <a:gridCol w="818832">
                  <a:extLst>
                    <a:ext uri="{9D8B030D-6E8A-4147-A177-3AD203B41FA5}">
                      <a16:colId xmlns:a16="http://schemas.microsoft.com/office/drawing/2014/main" val="745510542"/>
                    </a:ext>
                  </a:extLst>
                </a:gridCol>
                <a:gridCol w="818832">
                  <a:extLst>
                    <a:ext uri="{9D8B030D-6E8A-4147-A177-3AD203B41FA5}">
                      <a16:colId xmlns:a16="http://schemas.microsoft.com/office/drawing/2014/main" val="2534281643"/>
                    </a:ext>
                  </a:extLst>
                </a:gridCol>
              </a:tblGrid>
              <a:tr h="80925">
                <a:tc gridSpan="4"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A0F0D"/>
                          </a:solidFill>
                          <a:effectLst/>
                          <a:latin typeface="Century Gothic" panose="020B0502020202020204" pitchFamily="34" charset="0"/>
                        </a:rPr>
                        <a:t>OnePlus Open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781813"/>
                  </a:ext>
                </a:extLst>
              </a:tr>
              <a:tr h="159059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Gender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Share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Index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Relevance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556667"/>
                  </a:ext>
                </a:extLst>
              </a:tr>
              <a:tr h="809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Male 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1600816"/>
                  </a:ext>
                </a:extLst>
              </a:tr>
              <a:tr h="809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Female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947870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2E80B18-79B2-C186-0F52-96A0FF176A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0311"/>
              </p:ext>
            </p:extLst>
          </p:nvPr>
        </p:nvGraphicFramePr>
        <p:xfrm>
          <a:off x="901418" y="3557575"/>
          <a:ext cx="3337112" cy="1043940"/>
        </p:xfrm>
        <a:graphic>
          <a:graphicData uri="http://schemas.openxmlformats.org/drawingml/2006/table">
            <a:tbl>
              <a:tblPr/>
              <a:tblGrid>
                <a:gridCol w="834278">
                  <a:extLst>
                    <a:ext uri="{9D8B030D-6E8A-4147-A177-3AD203B41FA5}">
                      <a16:colId xmlns:a16="http://schemas.microsoft.com/office/drawing/2014/main" val="3895450357"/>
                    </a:ext>
                  </a:extLst>
                </a:gridCol>
                <a:gridCol w="834278">
                  <a:extLst>
                    <a:ext uri="{9D8B030D-6E8A-4147-A177-3AD203B41FA5}">
                      <a16:colId xmlns:a16="http://schemas.microsoft.com/office/drawing/2014/main" val="3070819695"/>
                    </a:ext>
                  </a:extLst>
                </a:gridCol>
                <a:gridCol w="834278">
                  <a:extLst>
                    <a:ext uri="{9D8B030D-6E8A-4147-A177-3AD203B41FA5}">
                      <a16:colId xmlns:a16="http://schemas.microsoft.com/office/drawing/2014/main" val="3468207453"/>
                    </a:ext>
                  </a:extLst>
                </a:gridCol>
                <a:gridCol w="834278">
                  <a:extLst>
                    <a:ext uri="{9D8B030D-6E8A-4147-A177-3AD203B41FA5}">
                      <a16:colId xmlns:a16="http://schemas.microsoft.com/office/drawing/2014/main" val="3699934288"/>
                    </a:ext>
                  </a:extLst>
                </a:gridCol>
              </a:tblGrid>
              <a:tr h="134505">
                <a:tc gridSpan="4"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A0F0D"/>
                          </a:solidFill>
                          <a:effectLst/>
                          <a:latin typeface="Century Gothic" panose="020B0502020202020204" pitchFamily="34" charset="0"/>
                        </a:rPr>
                        <a:t>Samsung Galaxy Z5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098575"/>
                  </a:ext>
                </a:extLst>
              </a:tr>
              <a:tr h="165866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Share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Index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Relevance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738907"/>
                  </a:ext>
                </a:extLst>
              </a:tr>
              <a:tr h="13450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18-24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AD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6297230"/>
                  </a:ext>
                </a:extLst>
              </a:tr>
              <a:tr h="13450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25-34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8596808"/>
                  </a:ext>
                </a:extLst>
              </a:tr>
              <a:tr h="13450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35-44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1825868"/>
                  </a:ext>
                </a:extLst>
              </a:tr>
              <a:tr h="13450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45-54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802528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A08B5A8E-34EC-E135-583B-47056C13CE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4140258"/>
              </p:ext>
            </p:extLst>
          </p:nvPr>
        </p:nvGraphicFramePr>
        <p:xfrm>
          <a:off x="4740000" y="3553824"/>
          <a:ext cx="3141300" cy="1043940"/>
        </p:xfrm>
        <a:graphic>
          <a:graphicData uri="http://schemas.openxmlformats.org/drawingml/2006/table">
            <a:tbl>
              <a:tblPr/>
              <a:tblGrid>
                <a:gridCol w="785325">
                  <a:extLst>
                    <a:ext uri="{9D8B030D-6E8A-4147-A177-3AD203B41FA5}">
                      <a16:colId xmlns:a16="http://schemas.microsoft.com/office/drawing/2014/main" val="4228457442"/>
                    </a:ext>
                  </a:extLst>
                </a:gridCol>
                <a:gridCol w="785325">
                  <a:extLst>
                    <a:ext uri="{9D8B030D-6E8A-4147-A177-3AD203B41FA5}">
                      <a16:colId xmlns:a16="http://schemas.microsoft.com/office/drawing/2014/main" val="338858248"/>
                    </a:ext>
                  </a:extLst>
                </a:gridCol>
                <a:gridCol w="785325">
                  <a:extLst>
                    <a:ext uri="{9D8B030D-6E8A-4147-A177-3AD203B41FA5}">
                      <a16:colId xmlns:a16="http://schemas.microsoft.com/office/drawing/2014/main" val="2131746508"/>
                    </a:ext>
                  </a:extLst>
                </a:gridCol>
                <a:gridCol w="785325">
                  <a:extLst>
                    <a:ext uri="{9D8B030D-6E8A-4147-A177-3AD203B41FA5}">
                      <a16:colId xmlns:a16="http://schemas.microsoft.com/office/drawing/2014/main" val="1804777449"/>
                    </a:ext>
                  </a:extLst>
                </a:gridCol>
              </a:tblGrid>
              <a:tr h="84560">
                <a:tc gridSpan="4">
                  <a:txBody>
                    <a:bodyPr/>
                    <a:lstStyle/>
                    <a:p>
                      <a:pPr algn="ctr" rtl="0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Samsung Fold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286680"/>
                  </a:ext>
                </a:extLst>
              </a:tr>
              <a:tr h="9544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Share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Index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Relevance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319336"/>
                  </a:ext>
                </a:extLst>
              </a:tr>
              <a:tr h="8456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18-24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B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7393251"/>
                  </a:ext>
                </a:extLst>
              </a:tr>
              <a:tr h="8456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25-34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115738"/>
                  </a:ext>
                </a:extLst>
              </a:tr>
              <a:tr h="8456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35-44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9178254"/>
                  </a:ext>
                </a:extLst>
              </a:tr>
              <a:tr h="84560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45-54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492208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0717B3FA-F698-B055-C2A5-4CFEE6C08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331547"/>
              </p:ext>
            </p:extLst>
          </p:nvPr>
        </p:nvGraphicFramePr>
        <p:xfrm>
          <a:off x="8346034" y="3553824"/>
          <a:ext cx="3275328" cy="1043940"/>
        </p:xfrm>
        <a:graphic>
          <a:graphicData uri="http://schemas.openxmlformats.org/drawingml/2006/table">
            <a:tbl>
              <a:tblPr/>
              <a:tblGrid>
                <a:gridCol w="818832">
                  <a:extLst>
                    <a:ext uri="{9D8B030D-6E8A-4147-A177-3AD203B41FA5}">
                      <a16:colId xmlns:a16="http://schemas.microsoft.com/office/drawing/2014/main" val="696023683"/>
                    </a:ext>
                  </a:extLst>
                </a:gridCol>
                <a:gridCol w="818832">
                  <a:extLst>
                    <a:ext uri="{9D8B030D-6E8A-4147-A177-3AD203B41FA5}">
                      <a16:colId xmlns:a16="http://schemas.microsoft.com/office/drawing/2014/main" val="3414139893"/>
                    </a:ext>
                  </a:extLst>
                </a:gridCol>
                <a:gridCol w="818832">
                  <a:extLst>
                    <a:ext uri="{9D8B030D-6E8A-4147-A177-3AD203B41FA5}">
                      <a16:colId xmlns:a16="http://schemas.microsoft.com/office/drawing/2014/main" val="4153749438"/>
                    </a:ext>
                  </a:extLst>
                </a:gridCol>
                <a:gridCol w="818832">
                  <a:extLst>
                    <a:ext uri="{9D8B030D-6E8A-4147-A177-3AD203B41FA5}">
                      <a16:colId xmlns:a16="http://schemas.microsoft.com/office/drawing/2014/main" val="3553172062"/>
                    </a:ext>
                  </a:extLst>
                </a:gridCol>
              </a:tblGrid>
              <a:tr h="127352">
                <a:tc gridSpan="4"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A0F0D"/>
                          </a:solidFill>
                          <a:effectLst/>
                          <a:latin typeface="Century Gothic" panose="020B0502020202020204" pitchFamily="34" charset="0"/>
                        </a:rPr>
                        <a:t>OnePlus Open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1282403"/>
                  </a:ext>
                </a:extLst>
              </a:tr>
              <a:tr h="127352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Age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Share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Index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Relevance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661967"/>
                  </a:ext>
                </a:extLst>
              </a:tr>
              <a:tr h="127352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18-24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7791819"/>
                  </a:ext>
                </a:extLst>
              </a:tr>
              <a:tr h="127352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25-34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CD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183179"/>
                  </a:ext>
                </a:extLst>
              </a:tr>
              <a:tr h="127352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35-44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8D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4870137"/>
                  </a:ext>
                </a:extLst>
              </a:tr>
              <a:tr h="127352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45-54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5%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5755213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C858A0CC-8C42-28DF-9594-3C91C2CCD93D}"/>
              </a:ext>
            </a:extLst>
          </p:cNvPr>
          <p:cNvSpPr>
            <a:spLocks/>
          </p:cNvSpPr>
          <p:nvPr/>
        </p:nvSpPr>
        <p:spPr>
          <a:xfrm>
            <a:off x="779468" y="1892085"/>
            <a:ext cx="10935941" cy="2768443"/>
          </a:xfrm>
          <a:prstGeom prst="rect">
            <a:avLst/>
          </a:prstGeom>
          <a:solidFill>
            <a:schemeClr val="bg1">
              <a:alpha val="3000"/>
            </a:schemeClr>
          </a:solidFill>
          <a:ln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8AA8CBF-3DC7-6324-14D5-0FF958208CAB}"/>
              </a:ext>
            </a:extLst>
          </p:cNvPr>
          <p:cNvSpPr/>
          <p:nvPr/>
        </p:nvSpPr>
        <p:spPr>
          <a:xfrm>
            <a:off x="5568508" y="838584"/>
            <a:ext cx="1197864" cy="2546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Insights Finder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7542BEB-D38E-332E-AEFA-BBE14C62F2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56873" y="332918"/>
            <a:ext cx="835127" cy="461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698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E25FE16-5A45-D9F8-DB4E-C46B75C85E77}"/>
              </a:ext>
            </a:extLst>
          </p:cNvPr>
          <p:cNvSpPr txBox="1"/>
          <p:nvPr/>
        </p:nvSpPr>
        <p:spPr>
          <a:xfrm>
            <a:off x="779468" y="5788597"/>
            <a:ext cx="10775945" cy="10618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GWI, Wave Q1 2023 – Q4 2023: 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Question: </a:t>
            </a:r>
            <a:r>
              <a:rPr lang="en-US" sz="900" i="1">
                <a:solidFill>
                  <a:srgbClr val="191C1C"/>
                </a:solidFill>
                <a:latin typeface="Century Gothic"/>
                <a:sym typeface="Century Gothic"/>
              </a:rPr>
              <a:t>Which of these products have you or your household purchased in the last 3-6 months? Which of these items did you purchase online? Which of these items are you / your household thinking about purchasing in the next 3-6 months?</a:t>
            </a:r>
          </a:p>
          <a:p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Question</a:t>
            </a:r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:</a:t>
            </a:r>
            <a:r>
              <a:rPr lang="en-US" sz="900" i="1">
                <a:solidFill>
                  <a:srgbClr val="191C1C"/>
                </a:solidFill>
                <a:latin typeface="Century Gothic"/>
                <a:sym typeface="Century Gothic"/>
              </a:rPr>
              <a:t> In the last week, which of these have you watched, listened to, or done online?</a:t>
            </a:r>
          </a:p>
          <a:p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vivo X Series - Travelled abroad at least once in last 12 months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Department Manager/VP and above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Annual income 15 Lacs &amp; above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Samsung Z Fold: Owns/used to own Samsung Galaxy Z Fold 4</a:t>
            </a:r>
            <a:endParaRPr lang="en-US" sz="900">
              <a:solidFill>
                <a:srgbClr val="191C1C"/>
              </a:solidFill>
              <a:latin typeface="Century Gothic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Our TG is invested in emerging tech &amp; high-ticket items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2B2C2A-C2E2-3FE8-0FF3-491035A879C2}"/>
              </a:ext>
            </a:extLst>
          </p:cNvPr>
          <p:cNvSpPr/>
          <p:nvPr/>
        </p:nvSpPr>
        <p:spPr>
          <a:xfrm>
            <a:off x="2947765" y="1441309"/>
            <a:ext cx="354650" cy="2344518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19E62F1-8299-A56B-63F4-F2ED3F93ED1E}"/>
              </a:ext>
            </a:extLst>
          </p:cNvPr>
          <p:cNvSpPr/>
          <p:nvPr/>
        </p:nvSpPr>
        <p:spPr>
          <a:xfrm>
            <a:off x="4034124" y="1441309"/>
            <a:ext cx="354650" cy="2344518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A4BE914A-BEC6-7710-9532-17B0F513FD69}"/>
              </a:ext>
            </a:extLst>
          </p:cNvPr>
          <p:cNvSpPr/>
          <p:nvPr/>
        </p:nvSpPr>
        <p:spPr>
          <a:xfrm>
            <a:off x="4782155" y="1441308"/>
            <a:ext cx="354650" cy="2344518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0E5DE6AA-D1DD-8D56-9D29-76D2EEFAAB0D}"/>
              </a:ext>
            </a:extLst>
          </p:cNvPr>
          <p:cNvSpPr/>
          <p:nvPr/>
        </p:nvSpPr>
        <p:spPr>
          <a:xfrm>
            <a:off x="6969260" y="1441307"/>
            <a:ext cx="354650" cy="2344518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6D05B05-713B-5E4A-264B-1C8E217BE685}"/>
              </a:ext>
            </a:extLst>
          </p:cNvPr>
          <p:cNvSpPr/>
          <p:nvPr/>
        </p:nvSpPr>
        <p:spPr>
          <a:xfrm>
            <a:off x="8440678" y="1441307"/>
            <a:ext cx="354650" cy="2344518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181FD2F-051B-ACDD-5603-EFA53EB5529E}"/>
              </a:ext>
            </a:extLst>
          </p:cNvPr>
          <p:cNvSpPr/>
          <p:nvPr/>
        </p:nvSpPr>
        <p:spPr>
          <a:xfrm>
            <a:off x="9886751" y="1441305"/>
            <a:ext cx="354650" cy="2344518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47071CD-4C00-E822-9054-7A0870B6DCBD}"/>
              </a:ext>
            </a:extLst>
          </p:cNvPr>
          <p:cNvSpPr/>
          <p:nvPr/>
        </p:nvSpPr>
        <p:spPr>
          <a:xfrm>
            <a:off x="10610088" y="1441306"/>
            <a:ext cx="354650" cy="2344518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DDCC66B-4678-AD33-C881-8DD053EF34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6873" y="0"/>
            <a:ext cx="835127" cy="461743"/>
          </a:xfrm>
          <a:prstGeom prst="rect">
            <a:avLst/>
          </a:prstGeom>
        </p:spPr>
      </p:pic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730FC01-E04C-3F6C-45C2-89D08BCE4C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0613312"/>
              </p:ext>
            </p:extLst>
          </p:nvPr>
        </p:nvGraphicFramePr>
        <p:xfrm>
          <a:off x="779878" y="1233889"/>
          <a:ext cx="10632244" cy="42491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303261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E25FE16-5A45-D9F8-DB4E-C46B75C85E77}"/>
              </a:ext>
            </a:extLst>
          </p:cNvPr>
          <p:cNvSpPr txBox="1"/>
          <p:nvPr/>
        </p:nvSpPr>
        <p:spPr>
          <a:xfrm>
            <a:off x="779468" y="5788597"/>
            <a:ext cx="10775945" cy="10618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GWI, Wave Q1 2023 – Q4 2023: 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Question: </a:t>
            </a:r>
            <a:r>
              <a:rPr lang="en-US" sz="900" i="1">
                <a:solidFill>
                  <a:srgbClr val="191C1C"/>
                </a:solidFill>
                <a:latin typeface="Century Gothic"/>
                <a:sym typeface="Century Gothic"/>
              </a:rPr>
              <a:t>Which of these products have you or your household purchased in the last 3-6 months? Which of these items did you purchase online? Which of these items are you / your household thinking about purchasing in the next 3-6 months?</a:t>
            </a:r>
          </a:p>
          <a:p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Question</a:t>
            </a:r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:</a:t>
            </a:r>
            <a:r>
              <a:rPr lang="en-US" sz="900" i="1">
                <a:solidFill>
                  <a:srgbClr val="191C1C"/>
                </a:solidFill>
                <a:latin typeface="Century Gothic"/>
                <a:sym typeface="Century Gothic"/>
              </a:rPr>
              <a:t> In the last week, which of these have you watched, listened to, or done online?</a:t>
            </a:r>
          </a:p>
          <a:p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vivo X Series - Travelled abroad at least once in last 12 months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Department Manager/VP and above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Annual income 15 Lacs &amp; above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Samsung Z Fold: Owns/used to own Samsung Galaxy Z Fold 4</a:t>
            </a:r>
            <a:endParaRPr lang="en-US" sz="900">
              <a:solidFill>
                <a:srgbClr val="191C1C"/>
              </a:solidFill>
              <a:latin typeface="Century Gothic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is tech friendly, with higher use of voice assistant tech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DDCC66B-4678-AD33-C881-8DD053EF34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6873" y="0"/>
            <a:ext cx="835127" cy="461743"/>
          </a:xfrm>
          <a:prstGeom prst="rect">
            <a:avLst/>
          </a:prstGeom>
        </p:spPr>
      </p:pic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6F127C69-F01B-3EA2-D647-4ADE1158DF1C}"/>
              </a:ext>
            </a:extLst>
          </p:cNvPr>
          <p:cNvSpPr/>
          <p:nvPr/>
        </p:nvSpPr>
        <p:spPr>
          <a:xfrm>
            <a:off x="2947350" y="1574025"/>
            <a:ext cx="354650" cy="2269490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FF911274-B4BF-8EDC-8E24-2929E341CD07}"/>
              </a:ext>
            </a:extLst>
          </p:cNvPr>
          <p:cNvSpPr/>
          <p:nvPr/>
        </p:nvSpPr>
        <p:spPr>
          <a:xfrm>
            <a:off x="5142676" y="1574025"/>
            <a:ext cx="354650" cy="2269490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5B7710D2-4E68-4287-DD26-8D71F6D85702}"/>
              </a:ext>
            </a:extLst>
          </p:cNvPr>
          <p:cNvSpPr/>
          <p:nvPr/>
        </p:nvSpPr>
        <p:spPr>
          <a:xfrm>
            <a:off x="6178365" y="1574025"/>
            <a:ext cx="790479" cy="2269490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0E38D288-10D3-0E9F-8D6C-20182759E57F}"/>
              </a:ext>
            </a:extLst>
          </p:cNvPr>
          <p:cNvSpPr/>
          <p:nvPr/>
        </p:nvSpPr>
        <p:spPr>
          <a:xfrm>
            <a:off x="8440263" y="1574025"/>
            <a:ext cx="354650" cy="2269490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C3C3A34-F392-3729-11E6-DFFF45A34D6E}"/>
              </a:ext>
            </a:extLst>
          </p:cNvPr>
          <p:cNvSpPr/>
          <p:nvPr/>
        </p:nvSpPr>
        <p:spPr>
          <a:xfrm>
            <a:off x="10237339" y="1574025"/>
            <a:ext cx="354650" cy="2269490"/>
          </a:xfrm>
          <a:prstGeom prst="roundRect">
            <a:avLst/>
          </a:prstGeom>
          <a:solidFill>
            <a:schemeClr val="accent5">
              <a:alpha val="20000"/>
            </a:schemeClr>
          </a:solidFill>
          <a:ln w="6350">
            <a:solidFill>
              <a:schemeClr val="accent5">
                <a:alpha val="67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endParaRPr lang="en-US" sz="120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36" name="Chart 35">
            <a:extLst>
              <a:ext uri="{FF2B5EF4-FFF2-40B4-BE49-F238E27FC236}">
                <a16:creationId xmlns:a16="http://schemas.microsoft.com/office/drawing/2014/main" id="{172C7B78-3487-930C-7E02-E1B348EB55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9378929"/>
              </p:ext>
            </p:extLst>
          </p:nvPr>
        </p:nvGraphicFramePr>
        <p:xfrm>
          <a:off x="779468" y="1368425"/>
          <a:ext cx="10632244" cy="41132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05563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2800" b="1" kern="0">
                <a:solidFill>
                  <a:srgbClr val="000000"/>
                </a:solidFill>
                <a:latin typeface="Century Gothic" panose="020B0502020202020204" pitchFamily="34" charset="0"/>
                <a:cs typeface="Arial"/>
                <a:sym typeface="Arial"/>
              </a:rPr>
              <a:t>Addressing the requirements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DDCC66B-4678-AD33-C881-8DD053EF34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6873" y="0"/>
            <a:ext cx="835127" cy="461743"/>
          </a:xfrm>
          <a:prstGeom prst="rect">
            <a:avLst/>
          </a:prstGeom>
        </p:spPr>
      </p:pic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FF4FC0D-FC3F-2D69-6D2C-772BCE96DF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8160238"/>
              </p:ext>
            </p:extLst>
          </p:nvPr>
        </p:nvGraphicFramePr>
        <p:xfrm>
          <a:off x="779463" y="987424"/>
          <a:ext cx="6027737" cy="51816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3E240A6-A783-C03F-5422-E63575372427}"/>
              </a:ext>
            </a:extLst>
          </p:cNvPr>
          <p:cNvSpPr txBox="1"/>
          <p:nvPr/>
        </p:nvSpPr>
        <p:spPr>
          <a:xfrm>
            <a:off x="779468" y="6201191"/>
            <a:ext cx="10775945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GWI, Wave Q1 2023 – Q4 2023: 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vivo X Series - Travelled abroad at least once in last 12 months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Department Manager/VP and above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Annual income 15 Lacs &amp; above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Samsung Z Fold: Owns/used to own Samsung Galaxy Z Fold 4</a:t>
            </a:r>
            <a:endParaRPr lang="en-US" sz="900">
              <a:solidFill>
                <a:srgbClr val="191C1C"/>
              </a:solidFill>
              <a:latin typeface="Century Gothic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35C693-8142-40A2-6A81-68A7D4B654D7}"/>
              </a:ext>
            </a:extLst>
          </p:cNvPr>
          <p:cNvSpPr/>
          <p:nvPr/>
        </p:nvSpPr>
        <p:spPr>
          <a:xfrm>
            <a:off x="7507223" y="987424"/>
            <a:ext cx="4197047" cy="5200051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</a:pPr>
            <a:r>
              <a:rPr lang="en-US" b="1">
                <a:solidFill>
                  <a:schemeClr val="bg1"/>
                </a:solidFill>
              </a:rPr>
              <a:t>vivo X Series TG &amp; Samsung Z Fold users are Open minded and majority share can be defined as:</a:t>
            </a:r>
          </a:p>
          <a:p>
            <a:pPr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</a:pPr>
            <a:endParaRPr lang="en-US" b="1">
              <a:solidFill>
                <a:schemeClr val="bg1"/>
              </a:solidFill>
            </a:endParaRP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Open to try new things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Influenced by Ads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Likes to take risks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Prefer Premium Products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Opinion Leaders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Like being represented by community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Affluent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Values being successful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endParaRPr lang="en-US">
              <a:solidFill>
                <a:schemeClr val="bg1"/>
              </a:solidFill>
            </a:endParaRP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Comfortable with data sharing policies</a:t>
            </a:r>
          </a:p>
        </p:txBody>
      </p:sp>
    </p:spTree>
    <p:extLst>
      <p:ext uri="{BB962C8B-B14F-4D97-AF65-F5344CB8AC3E}">
        <p14:creationId xmlns:p14="http://schemas.microsoft.com/office/powerpoint/2010/main" val="119124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E262-D987-5030-2732-20CDC3DF4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937" y="112475"/>
            <a:ext cx="10943519" cy="542149"/>
          </a:xfrm>
          <a:noFill/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2400" b="1" kern="0">
                <a:solidFill>
                  <a:srgbClr val="191C1C"/>
                </a:solidFill>
                <a:latin typeface="Century Gothic"/>
                <a:sym typeface="Century Gothic"/>
              </a:rPr>
              <a:t>Key TG takeaways &amp; recommendations for vivo X Fold3</a:t>
            </a:r>
            <a:endParaRPr kumimoji="0" lang="en-US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5F37F-57BB-61B8-A18A-2D1CEB2DA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261" y="6362298"/>
            <a:ext cx="494264" cy="374669"/>
          </a:xfrm>
        </p:spPr>
        <p:txBody>
          <a:bodyPr/>
          <a:lstStyle/>
          <a:p>
            <a:fld id="{41E71DB5-5680-5541-BB1B-1B8E18C31C82}" type="slidenum">
              <a:rPr lang="en-GB" smtClean="0">
                <a:latin typeface="+mj-lt"/>
              </a:rPr>
              <a:pPr/>
              <a:t>14</a:t>
            </a:fld>
            <a:endParaRPr lang="en-GB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E4C132-E61B-98C3-A1AD-DD5C81136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026" y="794383"/>
            <a:ext cx="1324492" cy="395267"/>
          </a:xfrm>
          <a:prstGeom prst="rect">
            <a:avLst/>
          </a:prstGeom>
          <a:ln>
            <a:noFill/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76D63D3-B38F-3188-ACB4-788D6CD2783C}"/>
              </a:ext>
            </a:extLst>
          </p:cNvPr>
          <p:cNvSpPr/>
          <p:nvPr/>
        </p:nvSpPr>
        <p:spPr>
          <a:xfrm>
            <a:off x="3769599" y="731882"/>
            <a:ext cx="1384847" cy="45776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Physiographic understanding </a:t>
            </a:r>
            <a:endParaRPr lang="en-US" sz="1050">
              <a:latin typeface="+mj-lt"/>
              <a:cs typeface="Calibri" panose="020F050202020403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94B9F5-CCD3-56BA-4398-AE96B250F804}"/>
              </a:ext>
            </a:extLst>
          </p:cNvPr>
          <p:cNvSpPr/>
          <p:nvPr/>
        </p:nvSpPr>
        <p:spPr>
          <a:xfrm>
            <a:off x="276566" y="754922"/>
            <a:ext cx="1497570" cy="449788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Demo &amp; Audience understanding, </a:t>
            </a:r>
            <a:r>
              <a:rPr lang="en-US" sz="1050">
                <a:solidFill>
                  <a:schemeClr val="tx1"/>
                </a:solidFill>
                <a:latin typeface="+mj-lt"/>
              </a:rPr>
              <a:t>Interests &amp; Behaviors</a:t>
            </a:r>
            <a:endParaRPr lang="en-US" sz="1050">
              <a:solidFill>
                <a:schemeClr val="tx1"/>
              </a:solidFill>
              <a:latin typeface="+mj-lt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8E234A-A368-510D-A574-70B017C19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304" y="771975"/>
            <a:ext cx="835127" cy="461743"/>
          </a:xfrm>
          <a:prstGeom prst="rect">
            <a:avLst/>
          </a:prstGeom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E187722-263C-E10A-ECEA-D057E348C185}"/>
              </a:ext>
            </a:extLst>
          </p:cNvPr>
          <p:cNvSpPr/>
          <p:nvPr/>
        </p:nvSpPr>
        <p:spPr>
          <a:xfrm>
            <a:off x="276566" y="4438151"/>
            <a:ext cx="11638868" cy="457769"/>
          </a:xfrm>
          <a:prstGeom prst="rect">
            <a:avLst/>
          </a:prstGeom>
          <a:solidFill>
            <a:srgbClr val="00B0F0">
              <a:alpha val="54902"/>
            </a:srgbClr>
          </a:solidFill>
          <a:ln w="19050">
            <a:solidFill>
              <a:srgbClr val="00B0F0">
                <a:alpha val="43137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Key Takeaways and Recommendations For X Fold3</a:t>
            </a:r>
            <a:endParaRPr lang="en-US" sz="1200" b="1"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2BE96D-37E0-0BCA-6E3B-8FF66C77E437}"/>
              </a:ext>
            </a:extLst>
          </p:cNvPr>
          <p:cNvSpPr/>
          <p:nvPr/>
        </p:nvSpPr>
        <p:spPr>
          <a:xfrm>
            <a:off x="276565" y="4966902"/>
            <a:ext cx="7420957" cy="415547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Demo, Interests, Affinities</a:t>
            </a:r>
            <a:endParaRPr lang="en-US" sz="1200"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2F9E24-17A6-4EEB-812B-2510C5CAA418}"/>
              </a:ext>
            </a:extLst>
          </p:cNvPr>
          <p:cNvSpPr/>
          <p:nvPr/>
        </p:nvSpPr>
        <p:spPr>
          <a:xfrm>
            <a:off x="276566" y="1446868"/>
            <a:ext cx="3171173" cy="278117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Demo</a:t>
            </a:r>
            <a:b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</a:br>
            <a:r>
              <a:rPr lang="en-US" sz="1050" b="1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30-54</a:t>
            </a:r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 YOA, Consistent </a:t>
            </a:r>
            <a:r>
              <a:rPr lang="en-US" sz="1050" b="1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Male </a:t>
            </a:r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Dominance, &amp; Higher Female Engagement</a:t>
            </a:r>
            <a:b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</a:br>
            <a:endParaRPr lang="en-US" sz="1050">
              <a:solidFill>
                <a:schemeClr val="tx1"/>
              </a:solidFill>
              <a:latin typeface="+mj-lt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In Market</a:t>
            </a:r>
            <a:br>
              <a:rPr lang="en-US" sz="105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</a:br>
            <a:r>
              <a:rPr lang="en-US" sz="1050" b="1" u="sng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Gaming Peripherals &amp; Accessories,</a:t>
            </a:r>
            <a:r>
              <a:rPr lang="en-US" sz="1050" b="1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 Primary &amp; Secondary Schools (K-12), </a:t>
            </a:r>
            <a:r>
              <a:rPr lang="en-US" sz="1050" b="1" u="sng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SUVs (New)</a:t>
            </a:r>
            <a:r>
              <a:rPr lang="en-US" sz="1050" b="1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, </a:t>
            </a:r>
            <a:r>
              <a:rPr lang="en-US" sz="1050" b="1" u="sng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, Luxury Vehicles,</a:t>
            </a:r>
            <a:br>
              <a:rPr lang="en-US" sz="1050" b="1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</a:br>
            <a:endParaRPr lang="en-US" sz="1050" b="1">
              <a:solidFill>
                <a:schemeClr val="accent1"/>
              </a:solidFill>
              <a:latin typeface="+mj-lt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Affinity</a:t>
            </a:r>
            <a:b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</a:br>
            <a:r>
              <a:rPr lang="en-US" sz="1050" b="1" u="sng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Shopping Enthusiasts, Performance &amp; Luxury Vehicle Enthusiasts, Motor Sports Enthusiasts</a:t>
            </a:r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,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422A38-60FB-4580-85FA-560BB9F8A03F}"/>
              </a:ext>
            </a:extLst>
          </p:cNvPr>
          <p:cNvSpPr/>
          <p:nvPr/>
        </p:nvSpPr>
        <p:spPr>
          <a:xfrm>
            <a:off x="3753190" y="1440668"/>
            <a:ext cx="3944332" cy="278117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US" sz="1050" b="1">
                <a:solidFill>
                  <a:schemeClr val="tx1"/>
                </a:solidFill>
                <a:latin typeface="+mj-lt"/>
                <a:cs typeface="Calibri"/>
              </a:rPr>
              <a:t>Top Attributes - </a:t>
            </a:r>
            <a:br>
              <a:rPr lang="en-US" sz="1050">
                <a:solidFill>
                  <a:schemeClr val="tx1"/>
                </a:solidFill>
                <a:latin typeface="+mj-lt"/>
                <a:cs typeface="Calibri"/>
              </a:rPr>
            </a:br>
            <a:endParaRPr lang="en-US" sz="1050">
              <a:latin typeface="+mj-lt"/>
            </a:endParaRPr>
          </a:p>
          <a:p>
            <a:pPr marL="285750" indent="-285750"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 b="1">
                <a:solidFill>
                  <a:schemeClr val="accent1"/>
                </a:solidFill>
              </a:rPr>
              <a:t>Open to try new things</a:t>
            </a:r>
          </a:p>
          <a:p>
            <a:pPr marL="285750" indent="-285750"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 b="1">
                <a:solidFill>
                  <a:schemeClr val="accent1"/>
                </a:solidFill>
              </a:rPr>
              <a:t>Influenced by Ads</a:t>
            </a:r>
          </a:p>
          <a:p>
            <a:pPr marL="285750" indent="-285750"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 b="1">
                <a:solidFill>
                  <a:schemeClr val="accent1"/>
                </a:solidFill>
              </a:rPr>
              <a:t>Likes to take risks</a:t>
            </a:r>
          </a:p>
          <a:p>
            <a:pPr marL="285750" indent="-285750"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 b="1">
                <a:solidFill>
                  <a:schemeClr val="accent1"/>
                </a:solidFill>
              </a:rPr>
              <a:t>Prefer Premium Products</a:t>
            </a:r>
          </a:p>
          <a:p>
            <a:pPr marL="285750" indent="-285750"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 b="1">
                <a:solidFill>
                  <a:schemeClr val="accent1"/>
                </a:solidFill>
              </a:rPr>
              <a:t>Opinion Leaders</a:t>
            </a:r>
          </a:p>
          <a:p>
            <a:pPr marL="285750" indent="-285750"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 b="1">
                <a:solidFill>
                  <a:schemeClr val="accent1"/>
                </a:solidFill>
              </a:rPr>
              <a:t>Like being represented by community</a:t>
            </a:r>
          </a:p>
          <a:p>
            <a:pPr marL="285750" indent="-285750"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 b="1">
                <a:solidFill>
                  <a:schemeClr val="accent1"/>
                </a:solidFill>
              </a:rPr>
              <a:t>Affluent</a:t>
            </a:r>
          </a:p>
          <a:p>
            <a:pPr marL="285750" indent="-285750">
              <a:spcAft>
                <a:spcPts val="600"/>
              </a:spcAft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 b="1">
                <a:solidFill>
                  <a:schemeClr val="accent1"/>
                </a:solidFill>
              </a:rPr>
              <a:t>Values being successful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050" b="1" u="sng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CF4147-8A05-4B3D-ACA8-DC8DB7BE6CEA}"/>
              </a:ext>
            </a:extLst>
          </p:cNvPr>
          <p:cNvSpPr/>
          <p:nvPr/>
        </p:nvSpPr>
        <p:spPr>
          <a:xfrm>
            <a:off x="7971103" y="1434687"/>
            <a:ext cx="3944332" cy="278117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Demo </a:t>
            </a:r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-</a:t>
            </a:r>
            <a:r>
              <a:rPr lang="en-US" sz="105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 </a:t>
            </a:r>
            <a:r>
              <a:rPr lang="en-US" sz="1050" b="1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Millennials</a:t>
            </a:r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, </a:t>
            </a:r>
            <a:r>
              <a:rPr lang="en-US" sz="1050" b="1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College graduates</a:t>
            </a:r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 Similar </a:t>
            </a:r>
            <a:r>
              <a:rPr lang="en-US" sz="1050" b="1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Male &amp; Female</a:t>
            </a:r>
            <a:r>
              <a:rPr lang="en-US" sz="1050">
                <a:solidFill>
                  <a:schemeClr val="accent1"/>
                </a:solidFill>
                <a:latin typeface="+mj-lt"/>
                <a:cs typeface="Calibri" panose="020F0502020204030204" pitchFamily="34" charset="0"/>
              </a:rPr>
              <a:t> </a:t>
            </a:r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split.</a:t>
            </a:r>
          </a:p>
          <a:p>
            <a:endParaRPr lang="en-US" sz="1050">
              <a:solidFill>
                <a:schemeClr val="tx1"/>
              </a:solidFill>
              <a:latin typeface="+mj-lt"/>
              <a:cs typeface="Calibri" panose="020F0502020204030204" pitchFamily="34" charset="0"/>
            </a:endParaRPr>
          </a:p>
          <a:p>
            <a:r>
              <a:rPr lang="en-US" sz="105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Key Traits</a:t>
            </a:r>
          </a:p>
          <a:p>
            <a:pPr marL="342900" indent="-342900"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 b="0" cap="none" spc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International Travel Enthusiasts</a:t>
            </a:r>
          </a:p>
          <a:p>
            <a:pPr marL="342900" indent="-342900"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High Disposable income</a:t>
            </a:r>
          </a:p>
          <a:p>
            <a:pPr marL="342900" indent="-342900"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Affinity towards Luxury Cars &amp; Watches</a:t>
            </a:r>
          </a:p>
          <a:p>
            <a:pPr marL="342900" indent="-342900"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Senior level Job Designation</a:t>
            </a:r>
          </a:p>
          <a:p>
            <a:pPr marL="342900" indent="-342900"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Affinity towards APPLE devices</a:t>
            </a:r>
          </a:p>
          <a:p>
            <a:pPr marL="342900" indent="-342900"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Business Professional – Enterprise </a:t>
            </a:r>
          </a:p>
          <a:p>
            <a:pPr marL="342900" indent="-342900">
              <a:buClr>
                <a:schemeClr val="accent1"/>
              </a:buClr>
              <a:buFont typeface="Wingdings" panose="05000000000000000000" pitchFamily="2" charset="2"/>
              <a:buChar char="v"/>
            </a:pPr>
            <a:r>
              <a:rPr lang="en-US" sz="105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Affinity towards Motor Vehicles</a:t>
            </a:r>
            <a:endParaRPr lang="en-US" sz="1050">
              <a:solidFill>
                <a:schemeClr val="accent1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E9B73B-1933-4A79-8205-A94484F1308D}"/>
              </a:ext>
            </a:extLst>
          </p:cNvPr>
          <p:cNvSpPr/>
          <p:nvPr/>
        </p:nvSpPr>
        <p:spPr>
          <a:xfrm>
            <a:off x="268471" y="5481638"/>
            <a:ext cx="7420958" cy="126979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>
                <a:solidFill>
                  <a:schemeClr val="tx1"/>
                </a:solidFill>
                <a:latin typeface="+mj-lt"/>
                <a:cs typeface="Calibri"/>
              </a:rPr>
              <a:t>Demo – 30- 54</a:t>
            </a:r>
            <a:endParaRPr lang="en-US" sz="1000">
              <a:solidFill>
                <a:schemeClr val="tx1"/>
              </a:solidFill>
              <a:latin typeface="+mj-lt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CORE TG: </a:t>
            </a:r>
            <a:r>
              <a:rPr lang="en-US" sz="100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Gaming Peripherals &amp; Accessories, Mobile Phones, Primary &amp; Secondary Schools (K-12), SUVs (New), Luxury Vehicles, Luxury Travelers, Shopping Enthusiasts, Performance &amp; Luxury Vehicle Enthusiasts, Motor Sports Enthusiasts, Snowbound Travelers, International Travelers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COVER TG: </a:t>
            </a:r>
            <a:r>
              <a:rPr lang="en-US" sz="100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Mobile Phones, Mobile Enthusiasts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HHI Targeting</a:t>
            </a:r>
            <a:r>
              <a:rPr lang="en-US" sz="100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 – Top 30%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2C9F68-8257-0B42-B23D-BA8934A790E1}"/>
              </a:ext>
            </a:extLst>
          </p:cNvPr>
          <p:cNvSpPr/>
          <p:nvPr/>
        </p:nvSpPr>
        <p:spPr>
          <a:xfrm>
            <a:off x="3769600" y="731881"/>
            <a:ext cx="3930480" cy="45776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>
              <a:latin typeface="+mj-lt"/>
              <a:cs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C84575-1BA5-47FD-1034-BC04EF5996F9}"/>
              </a:ext>
            </a:extLst>
          </p:cNvPr>
          <p:cNvSpPr/>
          <p:nvPr/>
        </p:nvSpPr>
        <p:spPr>
          <a:xfrm>
            <a:off x="276566" y="754922"/>
            <a:ext cx="3171172" cy="45776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>
              <a:latin typeface="+mj-lt"/>
              <a:cs typeface="Calibri" panose="020F050202020403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786FAF-FD19-B3CF-D36A-32A839ED4782}"/>
              </a:ext>
            </a:extLst>
          </p:cNvPr>
          <p:cNvSpPr/>
          <p:nvPr/>
        </p:nvSpPr>
        <p:spPr>
          <a:xfrm>
            <a:off x="7971102" y="742388"/>
            <a:ext cx="3944332" cy="45776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2C23D8-3979-BBF3-608E-ACA56CA613E8}"/>
              </a:ext>
            </a:extLst>
          </p:cNvPr>
          <p:cNvSpPr/>
          <p:nvPr/>
        </p:nvSpPr>
        <p:spPr>
          <a:xfrm>
            <a:off x="7975332" y="743631"/>
            <a:ext cx="1702248" cy="457769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Audience understanding </a:t>
            </a:r>
            <a:b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</a:br>
            <a:r>
              <a:rPr lang="en-US" sz="105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1PD vs. 3P DMP overlap</a:t>
            </a:r>
            <a:endParaRPr lang="en-US" sz="1050">
              <a:latin typeface="+mj-lt"/>
              <a:cs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8B3CFF4-AFB9-D01C-2F0A-443F8DB640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8230" y="834579"/>
            <a:ext cx="779703" cy="310204"/>
          </a:xfrm>
          <a:prstGeom prst="rect">
            <a:avLst/>
          </a:prstGeom>
          <a:ln>
            <a:noFill/>
          </a:ln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4534F780-0660-6A15-0797-7D4F826D3F55}"/>
              </a:ext>
            </a:extLst>
          </p:cNvPr>
          <p:cNvSpPr/>
          <p:nvPr/>
        </p:nvSpPr>
        <p:spPr>
          <a:xfrm>
            <a:off x="7986515" y="4960992"/>
            <a:ext cx="3928920" cy="415547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Geography</a:t>
            </a:r>
            <a:endParaRPr lang="en-US" sz="1200">
              <a:latin typeface="+mj-lt"/>
              <a:cs typeface="Calibri" panose="020F050202020403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3E0E88-DA01-994E-FA46-BC060A0B3CD6}"/>
              </a:ext>
            </a:extLst>
          </p:cNvPr>
          <p:cNvSpPr/>
          <p:nvPr/>
        </p:nvSpPr>
        <p:spPr>
          <a:xfrm>
            <a:off x="7971102" y="5475728"/>
            <a:ext cx="3916156" cy="126979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CORE TG: Explained in below slides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>
                <a:solidFill>
                  <a:schemeClr val="tx1"/>
                </a:solidFill>
                <a:latin typeface="+mj-lt"/>
                <a:cs typeface="Calibri" panose="020F0502020204030204" pitchFamily="34" charset="0"/>
              </a:rPr>
              <a:t>COVER TG: PAN INDIA</a:t>
            </a:r>
          </a:p>
        </p:txBody>
      </p:sp>
      <p:pic>
        <p:nvPicPr>
          <p:cNvPr id="23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8D387BC7-2AC9-81EC-0DBD-8F0CDC891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5238" y="685662"/>
            <a:ext cx="1088779" cy="5421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78" name="Picture 2" descr="As Data Landscape Transforms, Eyeota's Approach to Identity and First-Party  Data Onboarding Deepens Its Global Impact">
            <a:extLst>
              <a:ext uri="{FF2B5EF4-FFF2-40B4-BE49-F238E27FC236}">
                <a16:creationId xmlns:a16="http://schemas.microsoft.com/office/drawing/2014/main" id="{9EB6A6A8-E53B-AFB9-628E-968A11846C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9579" y="762881"/>
            <a:ext cx="656526" cy="193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80" name="Picture 4">
            <a:extLst>
              <a:ext uri="{FF2B5EF4-FFF2-40B4-BE49-F238E27FC236}">
                <a16:creationId xmlns:a16="http://schemas.microsoft.com/office/drawing/2014/main" id="{F517D568-F12E-DC62-21EA-D59C4DC1C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7329" y="975806"/>
            <a:ext cx="669475" cy="222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82" name="Picture 6">
            <a:extLst>
              <a:ext uri="{FF2B5EF4-FFF2-40B4-BE49-F238E27FC236}">
                <a16:creationId xmlns:a16="http://schemas.microsoft.com/office/drawing/2014/main" id="{13656D29-FA3F-662B-69CD-01F044F48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2355" y="807103"/>
            <a:ext cx="605176" cy="127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84" name="Picture 8">
            <a:extLst>
              <a:ext uri="{FF2B5EF4-FFF2-40B4-BE49-F238E27FC236}">
                <a16:creationId xmlns:a16="http://schemas.microsoft.com/office/drawing/2014/main" id="{3CF5417C-C2CA-B1F2-8806-2C82DB06A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3919" y="1039198"/>
            <a:ext cx="605176" cy="108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72274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1">
            <a:extLst>
              <a:ext uri="{FF2B5EF4-FFF2-40B4-BE49-F238E27FC236}">
                <a16:creationId xmlns:a16="http://schemas.microsoft.com/office/drawing/2014/main" id="{91906560-11F2-C3D4-684B-01CF6186C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Our Core TG is highly </a:t>
            </a: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entury Gothic"/>
                <a:sym typeface="Century Gothic"/>
              </a:rPr>
              <a:t>Digitally Active</a:t>
            </a: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, but they also spend a fair share of time on TV and Print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EF70B3-F51C-9B99-2BCD-B87346633537}"/>
              </a:ext>
            </a:extLst>
          </p:cNvPr>
          <p:cNvSpPr/>
          <p:nvPr/>
        </p:nvSpPr>
        <p:spPr>
          <a:xfrm>
            <a:off x="4814024" y="1859429"/>
            <a:ext cx="2651760" cy="2651760"/>
          </a:xfrm>
          <a:prstGeom prst="ellipse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AF96CE-A288-B210-A937-031837461E61}"/>
              </a:ext>
            </a:extLst>
          </p:cNvPr>
          <p:cNvSpPr/>
          <p:nvPr/>
        </p:nvSpPr>
        <p:spPr>
          <a:xfrm>
            <a:off x="5865583" y="1794572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1454E7D-CA82-6048-071E-361A33DD6EAE}"/>
              </a:ext>
            </a:extLst>
          </p:cNvPr>
          <p:cNvSpPr/>
          <p:nvPr/>
        </p:nvSpPr>
        <p:spPr>
          <a:xfrm>
            <a:off x="5180053" y="2085227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2089A14-41B8-1A7B-5200-3A1E073E259B}"/>
              </a:ext>
            </a:extLst>
          </p:cNvPr>
          <p:cNvSpPr/>
          <p:nvPr/>
        </p:nvSpPr>
        <p:spPr>
          <a:xfrm>
            <a:off x="4799210" y="2683320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1A461C0-4E6D-75BF-B2E1-090D73C5741C}"/>
              </a:ext>
            </a:extLst>
          </p:cNvPr>
          <p:cNvSpPr/>
          <p:nvPr/>
        </p:nvSpPr>
        <p:spPr>
          <a:xfrm>
            <a:off x="4799210" y="3463626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8BB0057-FD54-AE52-23F0-519C214DD4A9}"/>
              </a:ext>
            </a:extLst>
          </p:cNvPr>
          <p:cNvSpPr/>
          <p:nvPr/>
        </p:nvSpPr>
        <p:spPr>
          <a:xfrm>
            <a:off x="5180053" y="4070992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1750142-FD19-9F91-AD17-76C38D269E79}"/>
              </a:ext>
            </a:extLst>
          </p:cNvPr>
          <p:cNvSpPr/>
          <p:nvPr/>
        </p:nvSpPr>
        <p:spPr>
          <a:xfrm>
            <a:off x="5865583" y="4410166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E79E1D5-E7CF-E67B-2AB7-985D74D2DEFB}"/>
              </a:ext>
            </a:extLst>
          </p:cNvPr>
          <p:cNvSpPr/>
          <p:nvPr/>
        </p:nvSpPr>
        <p:spPr>
          <a:xfrm>
            <a:off x="6574243" y="4277546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53AD046-919F-39F4-4B07-B80F36A7384F}"/>
              </a:ext>
            </a:extLst>
          </p:cNvPr>
          <p:cNvSpPr/>
          <p:nvPr/>
        </p:nvSpPr>
        <p:spPr>
          <a:xfrm>
            <a:off x="7134489" y="3871487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549348D-D97F-A40C-3D93-53F171A390F2}"/>
              </a:ext>
            </a:extLst>
          </p:cNvPr>
          <p:cNvSpPr/>
          <p:nvPr/>
        </p:nvSpPr>
        <p:spPr>
          <a:xfrm>
            <a:off x="7374343" y="3188519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088B5FC-B4D2-89E3-94F4-350E0AFEAC3D}"/>
              </a:ext>
            </a:extLst>
          </p:cNvPr>
          <p:cNvSpPr/>
          <p:nvPr/>
        </p:nvSpPr>
        <p:spPr>
          <a:xfrm>
            <a:off x="7201046" y="2439065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85D81E8-B59F-2908-8D2C-28FCD430D6AA}"/>
              </a:ext>
            </a:extLst>
          </p:cNvPr>
          <p:cNvSpPr/>
          <p:nvPr/>
        </p:nvSpPr>
        <p:spPr>
          <a:xfrm>
            <a:off x="6665683" y="1920418"/>
            <a:ext cx="182880" cy="18288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B8DF247-0A51-88FB-A0FB-E8F5EDEFE09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243864" y="2261724"/>
            <a:ext cx="1857395" cy="1857395"/>
          </a:xfrm>
          <a:prstGeom prst="rect">
            <a:avLst/>
          </a:prstGeom>
        </p:spPr>
      </p:pic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31C29DE8-B3D1-6E9E-A2B7-DD30D1E8DADF}"/>
              </a:ext>
            </a:extLst>
          </p:cNvPr>
          <p:cNvSpPr txBox="1">
            <a:spLocks/>
          </p:cNvSpPr>
          <p:nvPr/>
        </p:nvSpPr>
        <p:spPr>
          <a:xfrm>
            <a:off x="4958338" y="1112533"/>
            <a:ext cx="1615905" cy="750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Online Press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Less than30 mins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(28.4% | 95.3 ix)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F4DDFC44-677E-8465-7F63-E49B7CBA921F}"/>
              </a:ext>
            </a:extLst>
          </p:cNvPr>
          <p:cNvSpPr txBox="1">
            <a:spLocks/>
          </p:cNvSpPr>
          <p:nvPr/>
        </p:nvSpPr>
        <p:spPr>
          <a:xfrm>
            <a:off x="3234285" y="1675485"/>
            <a:ext cx="2052957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Linear / Broadcast TV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30 mins to 2 hours 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</a:t>
            </a:r>
            <a:r>
              <a:rPr lang="en-US" sz="1100" u="sng">
                <a:solidFill>
                  <a:srgbClr val="008291"/>
                </a:solidFill>
              </a:rPr>
              <a:t>55.7%</a:t>
            </a:r>
            <a:r>
              <a:rPr lang="en-US" sz="1100" b="0">
                <a:solidFill>
                  <a:srgbClr val="5461C8"/>
                </a:solidFill>
              </a:rPr>
              <a:t> | </a:t>
            </a:r>
            <a:r>
              <a:rPr lang="en-US" sz="1100" u="sng">
                <a:solidFill>
                  <a:srgbClr val="008291"/>
                </a:solidFill>
              </a:rPr>
              <a:t>135.4 </a:t>
            </a:r>
            <a:r>
              <a:rPr lang="en-US" sz="1100" b="0">
                <a:solidFill>
                  <a:srgbClr val="5461C8"/>
                </a:solidFill>
              </a:rPr>
              <a:t>ix)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4BF3E0F1-7984-9547-2D8F-AB294E373780}"/>
              </a:ext>
            </a:extLst>
          </p:cNvPr>
          <p:cNvSpPr txBox="1">
            <a:spLocks/>
          </p:cNvSpPr>
          <p:nvPr/>
        </p:nvSpPr>
        <p:spPr>
          <a:xfrm>
            <a:off x="2826382" y="2408835"/>
            <a:ext cx="2052957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Social Media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30 mins to 2 hours 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</a:t>
            </a:r>
            <a:r>
              <a:rPr lang="en-US" sz="1100">
                <a:solidFill>
                  <a:srgbClr val="008291"/>
                </a:solidFill>
              </a:rPr>
              <a:t>43.9%</a:t>
            </a:r>
            <a:r>
              <a:rPr lang="en-US" sz="1100" b="0">
                <a:solidFill>
                  <a:srgbClr val="5461C8"/>
                </a:solidFill>
              </a:rPr>
              <a:t> | 111.4 ix)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62D058C7-7B1E-5E2E-D279-03058182AFD2}"/>
              </a:ext>
            </a:extLst>
          </p:cNvPr>
          <p:cNvSpPr txBox="1">
            <a:spLocks/>
          </p:cNvSpPr>
          <p:nvPr/>
        </p:nvSpPr>
        <p:spPr>
          <a:xfrm>
            <a:off x="2833492" y="3220306"/>
            <a:ext cx="2052957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Online TV / Streaming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30 mins to 2 hours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</a:t>
            </a:r>
            <a:r>
              <a:rPr lang="en-US" sz="1100" u="sng">
                <a:solidFill>
                  <a:srgbClr val="008291"/>
                </a:solidFill>
              </a:rPr>
              <a:t>41.1% </a:t>
            </a:r>
            <a:r>
              <a:rPr lang="en-US" sz="1100" b="0">
                <a:solidFill>
                  <a:srgbClr val="5461C8"/>
                </a:solidFill>
              </a:rPr>
              <a:t>| </a:t>
            </a:r>
            <a:r>
              <a:rPr lang="en-US" sz="1100" u="sng">
                <a:solidFill>
                  <a:srgbClr val="008291"/>
                </a:solidFill>
              </a:rPr>
              <a:t>122.3 </a:t>
            </a:r>
            <a:r>
              <a:rPr lang="en-US" sz="1100" b="0">
                <a:solidFill>
                  <a:srgbClr val="5461C8"/>
                </a:solidFill>
              </a:rPr>
              <a:t>ix)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63335EA-D18A-6CCF-FFF9-D612A648A8E3}"/>
              </a:ext>
            </a:extLst>
          </p:cNvPr>
          <p:cNvSpPr txBox="1">
            <a:spLocks/>
          </p:cNvSpPr>
          <p:nvPr/>
        </p:nvSpPr>
        <p:spPr>
          <a:xfrm>
            <a:off x="2518501" y="4016806"/>
            <a:ext cx="2576948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Online on Mobile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2 hours to 4 hours 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</a:t>
            </a:r>
            <a:r>
              <a:rPr lang="en-US" sz="1100" u="sng">
                <a:solidFill>
                  <a:srgbClr val="008291"/>
                </a:solidFill>
              </a:rPr>
              <a:t>38.1%</a:t>
            </a:r>
            <a:r>
              <a:rPr lang="en-US" sz="1100" b="0">
                <a:solidFill>
                  <a:srgbClr val="5461C8"/>
                </a:solidFill>
              </a:rPr>
              <a:t> | </a:t>
            </a:r>
            <a:r>
              <a:rPr lang="en-US" sz="1100" u="sng">
                <a:solidFill>
                  <a:srgbClr val="008291"/>
                </a:solidFill>
              </a:rPr>
              <a:t>124.9</a:t>
            </a:r>
            <a:r>
              <a:rPr lang="en-US" sz="1100" b="0">
                <a:solidFill>
                  <a:srgbClr val="5461C8"/>
                </a:solidFill>
              </a:rPr>
              <a:t> ix)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F92075F5-F17C-15F8-7091-CD6C3DDB730D}"/>
              </a:ext>
            </a:extLst>
          </p:cNvPr>
          <p:cNvSpPr txBox="1">
            <a:spLocks/>
          </p:cNvSpPr>
          <p:nvPr/>
        </p:nvSpPr>
        <p:spPr>
          <a:xfrm>
            <a:off x="4192042" y="4524826"/>
            <a:ext cx="2576948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Music Streaming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30 mins to 2 hours 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(35.8% | </a:t>
            </a:r>
            <a:r>
              <a:rPr lang="en-US" sz="1100" u="sng">
                <a:solidFill>
                  <a:srgbClr val="008291"/>
                </a:solidFill>
              </a:rPr>
              <a:t>122.1</a:t>
            </a:r>
            <a:r>
              <a:rPr lang="en-US" sz="1100" b="0">
                <a:solidFill>
                  <a:srgbClr val="5461C8"/>
                </a:solidFill>
              </a:rPr>
              <a:t> ix)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8989203E-91A5-3D80-1112-110D54EE921E}"/>
              </a:ext>
            </a:extLst>
          </p:cNvPr>
          <p:cNvSpPr txBox="1">
            <a:spLocks/>
          </p:cNvSpPr>
          <p:nvPr/>
        </p:nvSpPr>
        <p:spPr>
          <a:xfrm>
            <a:off x="6004012" y="4438270"/>
            <a:ext cx="2576948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Games Consoles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30 mins to 2 hours 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(35.7% | </a:t>
            </a:r>
            <a:r>
              <a:rPr lang="en-US" sz="1100" u="sng">
                <a:solidFill>
                  <a:srgbClr val="008291"/>
                </a:solidFill>
              </a:rPr>
              <a:t>147.8</a:t>
            </a:r>
            <a:r>
              <a:rPr lang="en-US" sz="1100">
                <a:solidFill>
                  <a:srgbClr val="5461C8"/>
                </a:solidFill>
              </a:rPr>
              <a:t> </a:t>
            </a:r>
            <a:r>
              <a:rPr lang="en-US" sz="1100" b="0">
                <a:solidFill>
                  <a:srgbClr val="5461C8"/>
                </a:solidFill>
              </a:rPr>
              <a:t>ix)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7EEA78-CBC4-0821-A7E5-98F8DCC5FB5C}"/>
              </a:ext>
            </a:extLst>
          </p:cNvPr>
          <p:cNvSpPr txBox="1">
            <a:spLocks/>
          </p:cNvSpPr>
          <p:nvPr/>
        </p:nvSpPr>
        <p:spPr>
          <a:xfrm>
            <a:off x="6701137" y="3702067"/>
            <a:ext cx="2576948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Radio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30 mins to 2 hours 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(31.9% | 139.9 ix)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ED9DE3E2-F054-46F4-7556-21B51491DE9C}"/>
              </a:ext>
            </a:extLst>
          </p:cNvPr>
          <p:cNvSpPr txBox="1">
            <a:spLocks/>
          </p:cNvSpPr>
          <p:nvPr/>
        </p:nvSpPr>
        <p:spPr>
          <a:xfrm>
            <a:off x="6951968" y="2876033"/>
            <a:ext cx="2576948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Podcasts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30 mins to 2 hours 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(31.5% | </a:t>
            </a:r>
            <a:r>
              <a:rPr lang="en-US" sz="1100" u="sng">
                <a:solidFill>
                  <a:srgbClr val="008291"/>
                </a:solidFill>
              </a:rPr>
              <a:t>146.3 </a:t>
            </a:r>
            <a:r>
              <a:rPr lang="en-US" sz="1100" b="0">
                <a:solidFill>
                  <a:srgbClr val="5461C8"/>
                </a:solidFill>
              </a:rPr>
              <a:t>ix)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2A5D4BF-287F-7423-A027-F0506A3E98A0}"/>
              </a:ext>
            </a:extLst>
          </p:cNvPr>
          <p:cNvSpPr txBox="1">
            <a:spLocks/>
          </p:cNvSpPr>
          <p:nvPr/>
        </p:nvSpPr>
        <p:spPr>
          <a:xfrm>
            <a:off x="6848563" y="2026700"/>
            <a:ext cx="2576948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Online on PC / Laptop / Tablet </a:t>
            </a:r>
            <a:r>
              <a:rPr lang="en-US" sz="1100" b="0">
                <a:solidFill>
                  <a:srgbClr val="5461C8"/>
                </a:solidFill>
              </a:rPr>
              <a:t>More than 4 hours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(29.2% | 115.4 ix)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1EE5F8D1-20CB-6497-0BA0-FF72811524C9}"/>
              </a:ext>
            </a:extLst>
          </p:cNvPr>
          <p:cNvSpPr txBox="1">
            <a:spLocks/>
          </p:cNvSpPr>
          <p:nvPr/>
        </p:nvSpPr>
        <p:spPr>
          <a:xfrm>
            <a:off x="6245619" y="1289253"/>
            <a:ext cx="2576948" cy="8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228600" indent="0"/>
            <a:r>
              <a:rPr lang="en-US" sz="1100">
                <a:solidFill>
                  <a:schemeClr val="tx1"/>
                </a:solidFill>
              </a:rPr>
              <a:t>Physical Press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30 mins to 2 hours</a:t>
            </a:r>
          </a:p>
          <a:p>
            <a:pPr marL="228600" indent="0"/>
            <a:r>
              <a:rPr lang="en-US" sz="1100" b="0">
                <a:solidFill>
                  <a:srgbClr val="5461C8"/>
                </a:solidFill>
              </a:rPr>
              <a:t>(27.1% | </a:t>
            </a:r>
            <a:r>
              <a:rPr lang="en-US" sz="1100" u="sng">
                <a:solidFill>
                  <a:srgbClr val="008291"/>
                </a:solidFill>
              </a:rPr>
              <a:t>140.7</a:t>
            </a:r>
            <a:r>
              <a:rPr lang="en-US" sz="1100" b="0">
                <a:solidFill>
                  <a:srgbClr val="5461C8"/>
                </a:solidFill>
              </a:rPr>
              <a:t> ix)</a:t>
            </a:r>
          </a:p>
        </p:txBody>
      </p: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9E1E2AE-C0F7-4724-279F-BA8CC5E41275}"/>
              </a:ext>
            </a:extLst>
          </p:cNvPr>
          <p:cNvSpPr/>
          <p:nvPr/>
        </p:nvSpPr>
        <p:spPr>
          <a:xfrm>
            <a:off x="2272142" y="1289253"/>
            <a:ext cx="610111" cy="4026933"/>
          </a:xfrm>
          <a:prstGeom prst="leftBracket">
            <a:avLst>
              <a:gd name="adj" fmla="val 75624"/>
            </a:avLst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F5FD7918-D738-B437-DE3A-BCC4C1B7A4CA}"/>
              </a:ext>
            </a:extLst>
          </p:cNvPr>
          <p:cNvSpPr/>
          <p:nvPr/>
        </p:nvSpPr>
        <p:spPr>
          <a:xfrm flipH="1">
            <a:off x="9299413" y="1184246"/>
            <a:ext cx="610111" cy="4203653"/>
          </a:xfrm>
          <a:prstGeom prst="leftBracket">
            <a:avLst>
              <a:gd name="adj" fmla="val 75624"/>
            </a:avLst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EAC51A3E-C15C-D107-13F4-0E9EB2513E46}"/>
              </a:ext>
            </a:extLst>
          </p:cNvPr>
          <p:cNvSpPr txBox="1">
            <a:spLocks/>
          </p:cNvSpPr>
          <p:nvPr/>
        </p:nvSpPr>
        <p:spPr>
          <a:xfrm>
            <a:off x="284715" y="1862719"/>
            <a:ext cx="1980586" cy="10133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indent="0" algn="l">
              <a:lnSpc>
                <a:spcPct val="110000"/>
              </a:lnSpc>
              <a:buClr>
                <a:srgbClr val="008291"/>
              </a:buClr>
            </a:pPr>
            <a:r>
              <a:rPr lang="en-US" sz="1400">
                <a:solidFill>
                  <a:schemeClr val="tx1"/>
                </a:solidFill>
              </a:rPr>
              <a:t>More than 4 hours :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Laptop or PC</a:t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85F2ED1F-10AE-20E5-9839-55E8023AB68B}"/>
              </a:ext>
            </a:extLst>
          </p:cNvPr>
          <p:cNvSpPr txBox="1">
            <a:spLocks/>
          </p:cNvSpPr>
          <p:nvPr/>
        </p:nvSpPr>
        <p:spPr>
          <a:xfrm>
            <a:off x="322547" y="3818512"/>
            <a:ext cx="1980586" cy="886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indent="0" algn="l">
              <a:lnSpc>
                <a:spcPct val="110000"/>
              </a:lnSpc>
              <a:buClr>
                <a:srgbClr val="008291"/>
              </a:buClr>
            </a:pPr>
            <a:r>
              <a:rPr lang="en-US" sz="1400">
                <a:solidFill>
                  <a:schemeClr val="tx1"/>
                </a:solidFill>
              </a:rPr>
              <a:t>2 to 4 hours :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Online Mobile</a:t>
            </a:r>
          </a:p>
        </p:txBody>
      </p:sp>
      <p:sp>
        <p:nvSpPr>
          <p:cNvPr id="42" name="Text Placeholder 3">
            <a:extLst>
              <a:ext uri="{FF2B5EF4-FFF2-40B4-BE49-F238E27FC236}">
                <a16:creationId xmlns:a16="http://schemas.microsoft.com/office/drawing/2014/main" id="{FD594279-1EA6-728B-747E-D9E2CE184C21}"/>
              </a:ext>
            </a:extLst>
          </p:cNvPr>
          <p:cNvSpPr txBox="1">
            <a:spLocks/>
          </p:cNvSpPr>
          <p:nvPr/>
        </p:nvSpPr>
        <p:spPr>
          <a:xfrm>
            <a:off x="10078753" y="3085767"/>
            <a:ext cx="1980586" cy="2822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indent="0" algn="l">
              <a:lnSpc>
                <a:spcPct val="110000"/>
              </a:lnSpc>
              <a:buClr>
                <a:srgbClr val="008291"/>
              </a:buClr>
            </a:pPr>
            <a:r>
              <a:rPr lang="en-US" sz="1400">
                <a:solidFill>
                  <a:schemeClr val="tx1"/>
                </a:solidFill>
              </a:rPr>
              <a:t>30 mins to 2 hours :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Linear TV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Social Media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Online TV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Music Streaming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Gaming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Radio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Podcasts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Physical Press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CFE32E6-F48A-9891-A490-422ADC26E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8526" y="5183607"/>
            <a:ext cx="5059874" cy="1081461"/>
          </a:xfrm>
          <a:solidFill>
            <a:schemeClr val="bg1">
              <a:lumMod val="95000"/>
            </a:schemeClr>
          </a:solidFill>
        </p:spPr>
        <p:txBody>
          <a:bodyPr anchor="t">
            <a:normAutofit/>
          </a:bodyPr>
          <a:lstStyle/>
          <a:p>
            <a:pPr marL="0" indent="0" algn="ctr"/>
            <a:r>
              <a:rPr lang="en-US" sz="1200" b="1">
                <a:solidFill>
                  <a:srgbClr val="5461C8"/>
                </a:solidFill>
              </a:rPr>
              <a:t>Core Target is consuming </a:t>
            </a:r>
          </a:p>
          <a:p>
            <a:pPr marL="0" indent="0" algn="ctr"/>
            <a:br>
              <a:rPr lang="en-US" sz="1200" b="1">
                <a:solidFill>
                  <a:schemeClr val="bg2"/>
                </a:solidFill>
              </a:rPr>
            </a:br>
            <a:endParaRPr lang="en-US" sz="1200" b="1">
              <a:solidFill>
                <a:schemeClr val="bg2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34BCA7-8C02-64F0-3D6B-B8780173B00D}"/>
              </a:ext>
            </a:extLst>
          </p:cNvPr>
          <p:cNvSpPr/>
          <p:nvPr/>
        </p:nvSpPr>
        <p:spPr>
          <a:xfrm>
            <a:off x="6586600" y="4568104"/>
            <a:ext cx="1724053" cy="722566"/>
          </a:xfrm>
          <a:prstGeom prst="rect">
            <a:avLst/>
          </a:prstGeom>
          <a:noFill/>
          <a:ln w="9525">
            <a:solidFill>
              <a:schemeClr val="bg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8E67F2-A983-2041-3D2C-423911882D94}"/>
              </a:ext>
            </a:extLst>
          </p:cNvPr>
          <p:cNvSpPr/>
          <p:nvPr/>
        </p:nvSpPr>
        <p:spPr>
          <a:xfrm>
            <a:off x="3044798" y="3322612"/>
            <a:ext cx="1724053" cy="722566"/>
          </a:xfrm>
          <a:prstGeom prst="rect">
            <a:avLst/>
          </a:prstGeom>
          <a:noFill/>
          <a:ln w="9525">
            <a:solidFill>
              <a:schemeClr val="bg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778AA67-F202-E443-467F-1BE592400ADF}"/>
              </a:ext>
            </a:extLst>
          </p:cNvPr>
          <p:cNvSpPr/>
          <p:nvPr/>
        </p:nvSpPr>
        <p:spPr>
          <a:xfrm>
            <a:off x="3432735" y="1667500"/>
            <a:ext cx="1660089" cy="702007"/>
          </a:xfrm>
          <a:prstGeom prst="rect">
            <a:avLst/>
          </a:prstGeom>
          <a:noFill/>
          <a:ln w="9525">
            <a:solidFill>
              <a:schemeClr val="bg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6B48F5-F59A-156C-D8F6-6026F50BA6FB}"/>
              </a:ext>
            </a:extLst>
          </p:cNvPr>
          <p:cNvSpPr txBox="1"/>
          <p:nvPr/>
        </p:nvSpPr>
        <p:spPr>
          <a:xfrm>
            <a:off x="8184438" y="4704805"/>
            <a:ext cx="1263318" cy="24622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000" b="1" u="sng">
                <a:solidFill>
                  <a:schemeClr val="tx1"/>
                </a:solidFill>
              </a:rPr>
              <a:t>&gt; Connected TV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512347-5C14-2839-4142-4D79011A5AD8}"/>
              </a:ext>
            </a:extLst>
          </p:cNvPr>
          <p:cNvSpPr/>
          <p:nvPr/>
        </p:nvSpPr>
        <p:spPr>
          <a:xfrm>
            <a:off x="6881579" y="1322493"/>
            <a:ext cx="1724053" cy="722566"/>
          </a:xfrm>
          <a:prstGeom prst="rect">
            <a:avLst/>
          </a:prstGeom>
          <a:noFill/>
          <a:ln w="9525">
            <a:solidFill>
              <a:schemeClr val="bg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187D15-C5D3-06EB-3BC7-503A62D2D784}"/>
              </a:ext>
            </a:extLst>
          </p:cNvPr>
          <p:cNvSpPr/>
          <p:nvPr/>
        </p:nvSpPr>
        <p:spPr>
          <a:xfrm>
            <a:off x="2852970" y="4164281"/>
            <a:ext cx="2175384" cy="600846"/>
          </a:xfrm>
          <a:prstGeom prst="rect">
            <a:avLst/>
          </a:prstGeom>
          <a:noFill/>
          <a:ln w="9525">
            <a:solidFill>
              <a:schemeClr val="bg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4327350-D277-1395-CE75-E9593E21FB8F}"/>
              </a:ext>
            </a:extLst>
          </p:cNvPr>
          <p:cNvSpPr txBox="1"/>
          <p:nvPr/>
        </p:nvSpPr>
        <p:spPr>
          <a:xfrm>
            <a:off x="6292802" y="5447083"/>
            <a:ext cx="221216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0" algn="ctr"/>
            <a:r>
              <a:rPr lang="en-US" sz="1050" b="1">
                <a:solidFill>
                  <a:srgbClr val="5461C8"/>
                </a:solidFill>
                <a:latin typeface="Century Gothic" panose="020B0502020202020204" pitchFamily="34" charset="0"/>
              </a:rPr>
              <a:t>OFFLINE</a:t>
            </a:r>
          </a:p>
          <a:p>
            <a:pPr marL="228600" indent="0"/>
            <a:r>
              <a:rPr lang="en-US" sz="1050">
                <a:solidFill>
                  <a:schemeClr val="tx1"/>
                </a:solidFill>
                <a:latin typeface="Century Gothic" panose="020B0502020202020204" pitchFamily="34" charset="0"/>
              </a:rPr>
              <a:t>Linear / Broadcast TV</a:t>
            </a:r>
          </a:p>
          <a:p>
            <a:pPr marL="228600" indent="0"/>
            <a:r>
              <a:rPr lang="en-US" sz="1050">
                <a:solidFill>
                  <a:schemeClr val="tx1"/>
                </a:solidFill>
                <a:latin typeface="Century Gothic" panose="020B0502020202020204" pitchFamily="34" charset="0"/>
              </a:rPr>
              <a:t>Physical Press (Print)</a:t>
            </a:r>
          </a:p>
          <a:p>
            <a:pPr marL="228600" indent="0"/>
            <a:endParaRPr lang="en-US" sz="105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2DB5E2-0FB0-95ED-1CCC-ED52E37901EB}"/>
              </a:ext>
            </a:extLst>
          </p:cNvPr>
          <p:cNvSpPr txBox="1"/>
          <p:nvPr/>
        </p:nvSpPr>
        <p:spPr>
          <a:xfrm>
            <a:off x="3518526" y="5387156"/>
            <a:ext cx="221216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0" algn="ctr"/>
            <a:r>
              <a:rPr lang="en-US" sz="1000" b="1">
                <a:solidFill>
                  <a:srgbClr val="5461C8"/>
                </a:solidFill>
                <a:latin typeface="Century Gothic" panose="020B0502020202020204" pitchFamily="34" charset="0"/>
              </a:rPr>
              <a:t>DIGITAL</a:t>
            </a:r>
          </a:p>
          <a:p>
            <a:pPr marL="228600" indent="0"/>
            <a:r>
              <a:rPr lang="en-US" sz="1000">
                <a:solidFill>
                  <a:schemeClr val="tx1"/>
                </a:solidFill>
                <a:latin typeface="Century Gothic" panose="020B0502020202020204" pitchFamily="34" charset="0"/>
              </a:rPr>
              <a:t>Mobile first, followed by PC</a:t>
            </a:r>
          </a:p>
          <a:p>
            <a:pPr marL="228600" indent="0"/>
            <a:r>
              <a:rPr lang="en-US" sz="1000">
                <a:solidFill>
                  <a:schemeClr val="tx1"/>
                </a:solidFill>
                <a:latin typeface="Century Gothic" panose="020B0502020202020204" pitchFamily="34" charset="0"/>
              </a:rPr>
              <a:t>Social Media, </a:t>
            </a:r>
          </a:p>
          <a:p>
            <a:pPr marL="228600" indent="0"/>
            <a:r>
              <a:rPr lang="en-US" sz="1000">
                <a:solidFill>
                  <a:schemeClr val="tx1"/>
                </a:solidFill>
                <a:latin typeface="Century Gothic" panose="020B0502020202020204" pitchFamily="34" charset="0"/>
              </a:rPr>
              <a:t>OTT, C TV</a:t>
            </a:r>
          </a:p>
          <a:p>
            <a:pPr marL="228600" indent="0"/>
            <a:r>
              <a:rPr lang="en-US" sz="1000">
                <a:solidFill>
                  <a:schemeClr val="tx1"/>
                </a:solidFill>
                <a:latin typeface="Century Gothic" panose="020B0502020202020204" pitchFamily="34" charset="0"/>
              </a:rPr>
              <a:t>Music Streaming + Podcasts</a:t>
            </a:r>
          </a:p>
          <a:p>
            <a:pPr marL="228600" indent="0"/>
            <a:endParaRPr lang="en-US" sz="105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620496F-0270-0961-31DD-D4F88B497D71}"/>
              </a:ext>
            </a:extLst>
          </p:cNvPr>
          <p:cNvSpPr/>
          <p:nvPr/>
        </p:nvSpPr>
        <p:spPr>
          <a:xfrm>
            <a:off x="7480598" y="3739617"/>
            <a:ext cx="1724053" cy="722566"/>
          </a:xfrm>
          <a:prstGeom prst="rect">
            <a:avLst/>
          </a:prstGeom>
          <a:noFill/>
          <a:ln w="9525">
            <a:solidFill>
              <a:schemeClr val="bg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152024-40E2-88B5-C7E8-C51E684AD909}"/>
              </a:ext>
            </a:extLst>
          </p:cNvPr>
          <p:cNvSpPr txBox="1"/>
          <p:nvPr/>
        </p:nvSpPr>
        <p:spPr>
          <a:xfrm>
            <a:off x="2280953" y="3637648"/>
            <a:ext cx="1263318" cy="40011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000" b="1" u="sng">
                <a:solidFill>
                  <a:schemeClr val="tx1"/>
                </a:solidFill>
              </a:rPr>
              <a:t>Connected TV &lt;  &amp; OTT</a:t>
            </a:r>
          </a:p>
        </p:txBody>
      </p:sp>
      <p:sp>
        <p:nvSpPr>
          <p:cNvPr id="43" name="Text Placeholder 3">
            <a:extLst>
              <a:ext uri="{FF2B5EF4-FFF2-40B4-BE49-F238E27FC236}">
                <a16:creationId xmlns:a16="http://schemas.microsoft.com/office/drawing/2014/main" id="{328731AA-4DD3-E5BC-E282-08CF7050DAC1}"/>
              </a:ext>
            </a:extLst>
          </p:cNvPr>
          <p:cNvSpPr txBox="1">
            <a:spLocks/>
          </p:cNvSpPr>
          <p:nvPr/>
        </p:nvSpPr>
        <p:spPr>
          <a:xfrm>
            <a:off x="10038158" y="1460078"/>
            <a:ext cx="2195793" cy="108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8344B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E8344B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302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E8344B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2860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rgbClr val="191C1C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191C1C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indent="0" algn="l">
              <a:lnSpc>
                <a:spcPct val="110000"/>
              </a:lnSpc>
              <a:buClr>
                <a:srgbClr val="008291"/>
              </a:buClr>
            </a:pPr>
            <a:r>
              <a:rPr lang="en-US" sz="1400">
                <a:solidFill>
                  <a:schemeClr val="tx1"/>
                </a:solidFill>
              </a:rPr>
              <a:t>Less than 30 mins :</a:t>
            </a:r>
          </a:p>
          <a:p>
            <a:pPr marL="285750" indent="-285750" algn="l">
              <a:lnSpc>
                <a:spcPct val="110000"/>
              </a:lnSpc>
              <a:buClr>
                <a:srgbClr val="008291"/>
              </a:buCl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tx1"/>
                </a:solidFill>
              </a:rPr>
              <a:t>Online Press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6FD29C-9110-5706-2B73-6DA75CD07DBD}"/>
              </a:ext>
            </a:extLst>
          </p:cNvPr>
          <p:cNvSpPr txBox="1"/>
          <p:nvPr/>
        </p:nvSpPr>
        <p:spPr>
          <a:xfrm>
            <a:off x="779468" y="6345571"/>
            <a:ext cx="10775945" cy="5078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GWI, Wave Q1 2023 – Q4 2023: 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vivo X Series - Travelled abroad at least once in last 12 months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Department Manager/VP and above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Annual income 15 Lacs &amp; above</a:t>
            </a:r>
            <a:endParaRPr lang="en-US" sz="900">
              <a:solidFill>
                <a:srgbClr val="191C1C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098112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937" y="112475"/>
            <a:ext cx="10943519" cy="195329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2400" b="1" kern="0">
                <a:solidFill>
                  <a:srgbClr val="191C1C"/>
                </a:solidFill>
                <a:latin typeface="Century Gothic"/>
                <a:sym typeface="Century Gothic"/>
              </a:rPr>
              <a:t>w</a:t>
            </a:r>
            <a:r>
              <a:rPr kumimoji="0" lang="en-US" sz="2400" b="1" i="0" u="none" strike="noStrike" kern="0" cap="none" spc="0" normalizeH="0" baseline="0" noProof="0" err="1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ith</a:t>
            </a: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 high </a:t>
            </a: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entury Gothic"/>
                <a:sym typeface="Century Gothic"/>
              </a:rPr>
              <a:t>Affinity Index</a:t>
            </a: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, towards Gaming, Print, TV &amp; Online Video Ads</a:t>
            </a:r>
            <a:endParaRPr kumimoji="0" lang="en-US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DDCC66B-4678-AD33-C881-8DD053EF34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6873" y="0"/>
            <a:ext cx="835127" cy="461743"/>
          </a:xfrm>
          <a:prstGeom prst="rect">
            <a:avLst/>
          </a:prstGeom>
        </p:spPr>
      </p:pic>
      <p:graphicFrame>
        <p:nvGraphicFramePr>
          <p:cNvPr id="25" name="Chart 24">
            <a:extLst>
              <a:ext uri="{FF2B5EF4-FFF2-40B4-BE49-F238E27FC236}">
                <a16:creationId xmlns:a16="http://schemas.microsoft.com/office/drawing/2014/main" id="{1FBC2BE5-ECB7-3D93-C9D4-8CF408F776A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4406155"/>
              </p:ext>
            </p:extLst>
          </p:nvPr>
        </p:nvGraphicFramePr>
        <p:xfrm>
          <a:off x="705940" y="912431"/>
          <a:ext cx="6574970" cy="40325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6" name="Chart 25">
            <a:extLst>
              <a:ext uri="{FF2B5EF4-FFF2-40B4-BE49-F238E27FC236}">
                <a16:creationId xmlns:a16="http://schemas.microsoft.com/office/drawing/2014/main" id="{EF75B893-A585-DFCC-4FE7-43E17BE1C2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392584"/>
              </p:ext>
            </p:extLst>
          </p:nvPr>
        </p:nvGraphicFramePr>
        <p:xfrm>
          <a:off x="7280910" y="912431"/>
          <a:ext cx="4360971" cy="40325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7" name="Rectangle 26">
            <a:extLst>
              <a:ext uri="{FF2B5EF4-FFF2-40B4-BE49-F238E27FC236}">
                <a16:creationId xmlns:a16="http://schemas.microsoft.com/office/drawing/2014/main" id="{90173121-1185-F12E-A8E9-241DA54E2968}"/>
              </a:ext>
            </a:extLst>
          </p:cNvPr>
          <p:cNvSpPr>
            <a:spLocks/>
          </p:cNvSpPr>
          <p:nvPr/>
        </p:nvSpPr>
        <p:spPr>
          <a:xfrm>
            <a:off x="713515" y="1549845"/>
            <a:ext cx="10935941" cy="416583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7D17C08-AD48-701F-2BD4-808E66D49BF0}"/>
              </a:ext>
            </a:extLst>
          </p:cNvPr>
          <p:cNvSpPr>
            <a:spLocks/>
          </p:cNvSpPr>
          <p:nvPr/>
        </p:nvSpPr>
        <p:spPr>
          <a:xfrm>
            <a:off x="705939" y="2358411"/>
            <a:ext cx="10935941" cy="416583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1997E9B-D6DC-6005-7EE2-9D47D72B9A6A}"/>
              </a:ext>
            </a:extLst>
          </p:cNvPr>
          <p:cNvSpPr>
            <a:spLocks/>
          </p:cNvSpPr>
          <p:nvPr/>
        </p:nvSpPr>
        <p:spPr>
          <a:xfrm>
            <a:off x="713515" y="3546916"/>
            <a:ext cx="10935941" cy="416583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48D263-97FF-7B57-CC22-373E4E8E8FBB}"/>
              </a:ext>
            </a:extLst>
          </p:cNvPr>
          <p:cNvSpPr>
            <a:spLocks/>
          </p:cNvSpPr>
          <p:nvPr/>
        </p:nvSpPr>
        <p:spPr>
          <a:xfrm>
            <a:off x="705938" y="4140645"/>
            <a:ext cx="10935941" cy="279926"/>
          </a:xfrm>
          <a:prstGeom prst="rect">
            <a:avLst/>
          </a:prstGeom>
          <a:solidFill>
            <a:schemeClr val="accent5">
              <a:lumMod val="75000"/>
              <a:alpha val="15000"/>
            </a:schemeClr>
          </a:solidFill>
          <a:ln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5FF9418-9D30-C9BB-9D61-80BC71787E07}"/>
              </a:ext>
            </a:extLst>
          </p:cNvPr>
          <p:cNvSpPr/>
          <p:nvPr/>
        </p:nvSpPr>
        <p:spPr>
          <a:xfrm>
            <a:off x="721092" y="5050500"/>
            <a:ext cx="10928364" cy="112606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</a:pPr>
            <a:r>
              <a:rPr lang="en-US" sz="1000">
                <a:solidFill>
                  <a:schemeClr val="bg1"/>
                </a:solidFill>
              </a:rPr>
              <a:t>Channel selection should be integrated &amp; cover all media vehicles including TV &amp; Print along with Digital Ads</a:t>
            </a:r>
          </a:p>
          <a:p>
            <a:pPr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</a:pPr>
            <a:r>
              <a:rPr lang="en-US" sz="1000">
                <a:solidFill>
                  <a:schemeClr val="bg1"/>
                </a:solidFill>
              </a:rPr>
              <a:t>Target audience have shown higher affinity Index towards: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1000" b="1">
                <a:solidFill>
                  <a:schemeClr val="bg1"/>
                </a:solidFill>
              </a:rPr>
              <a:t>Gaming Ads, Pre-Roll video Ads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1000" b="1">
                <a:solidFill>
                  <a:schemeClr val="bg1"/>
                </a:solidFill>
              </a:rPr>
              <a:t>Print &amp; TV Ads</a:t>
            </a: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 sz="1000" b="1">
                <a:solidFill>
                  <a:schemeClr val="bg1"/>
                </a:solidFill>
              </a:rPr>
              <a:t>Review websites (Gadgets 360 / 91 mobiles), Retail websites (Amazon / Flipkart).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1190A2-0A90-CFAD-3845-BC96FCFA4FD6}"/>
              </a:ext>
            </a:extLst>
          </p:cNvPr>
          <p:cNvSpPr txBox="1"/>
          <p:nvPr/>
        </p:nvSpPr>
        <p:spPr>
          <a:xfrm>
            <a:off x="779468" y="6201191"/>
            <a:ext cx="10775945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GWI, Wave Q1 2023 – Q4 2023: 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vivo X Series - Travelled abroad at least once in last 12 months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Department Manager/VP and above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OR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Annual income 15 Lacs &amp; above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Samsung Z Fold: Owns/used to own Samsung Galaxy Z Fold 4</a:t>
            </a:r>
            <a:endParaRPr lang="en-US" sz="900">
              <a:solidFill>
                <a:srgbClr val="191C1C"/>
              </a:solidFill>
              <a:latin typeface="Century Gothic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8F75FA-2DB6-BDE0-1638-5C6B273D15EF}"/>
              </a:ext>
            </a:extLst>
          </p:cNvPr>
          <p:cNvSpPr txBox="1"/>
          <p:nvPr/>
        </p:nvSpPr>
        <p:spPr>
          <a:xfrm>
            <a:off x="8401879" y="1554922"/>
            <a:ext cx="3659808" cy="4832092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So, given this the management in China to understand the </a:t>
            </a:r>
            <a:br>
              <a:rPr lang="en-US"/>
            </a:br>
            <a:endParaRPr lang="en-US"/>
          </a:p>
          <a:p>
            <a:r>
              <a:rPr lang="en-US"/>
              <a:t>1. The slide shared wisely justified digital and its landscape. Only thing we need to add here is top targeting apps/platform like gaming is a big genre so is entertainment. Hence request you to call out 5-7 top apps in each of the genres. </a:t>
            </a:r>
            <a:br>
              <a:rPr lang="en-US"/>
            </a:br>
            <a:endParaRPr lang="en-US"/>
          </a:p>
          <a:p>
            <a:r>
              <a:rPr lang="en-US"/>
              <a:t>2. We see a fair opportunity to put a case for TV, print, D/OOH &amp; cinema. I see music streaming a surrogate of Radio..</a:t>
            </a:r>
          </a:p>
          <a:p>
            <a:r>
              <a:rPr lang="en-US"/>
              <a:t>Suggest if we have 1-2 slide which describes CDJ of premium consumer including all media (offline and online).</a:t>
            </a:r>
          </a:p>
          <a:p>
            <a:r>
              <a:rPr lang="en-US"/>
              <a:t>For offline if we have recommendations like: </a:t>
            </a:r>
          </a:p>
          <a:p>
            <a:r>
              <a:rPr lang="en-US"/>
              <a:t>TV (sports HD, other surrogate) </a:t>
            </a:r>
          </a:p>
          <a:p>
            <a:r>
              <a:rPr lang="en-US"/>
              <a:t>Ooh (airport </a:t>
            </a:r>
            <a:r>
              <a:rPr lang="en-US" err="1"/>
              <a:t>etc</a:t>
            </a:r>
            <a:r>
              <a:rPr lang="en-US"/>
              <a:t>) </a:t>
            </a:r>
          </a:p>
          <a:p>
            <a:r>
              <a:rPr lang="en-US"/>
              <a:t>DOOH ( premium malls , society </a:t>
            </a:r>
            <a:r>
              <a:rPr lang="en-US" err="1"/>
              <a:t>etc</a:t>
            </a:r>
            <a:r>
              <a:rPr lang="en-US"/>
              <a:t>) </a:t>
            </a:r>
          </a:p>
          <a:p>
            <a:r>
              <a:rPr lang="en-US"/>
              <a:t>Cinema ...</a:t>
            </a:r>
          </a:p>
        </p:txBody>
      </p:sp>
    </p:spTree>
    <p:extLst>
      <p:ext uri="{BB962C8B-B14F-4D97-AF65-F5344CB8AC3E}">
        <p14:creationId xmlns:p14="http://schemas.microsoft.com/office/powerpoint/2010/main" val="14859417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Sizing the Potential of our TG – Option 3 – Targeting only Core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0517123-3E65-2361-C523-4B3BAC941CA6}"/>
              </a:ext>
            </a:extLst>
          </p:cNvPr>
          <p:cNvSpPr/>
          <p:nvPr/>
        </p:nvSpPr>
        <p:spPr>
          <a:xfrm>
            <a:off x="7337425" y="1597025"/>
            <a:ext cx="4572000" cy="45720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084D23-F675-91CB-0517-5FFD40C670F2}"/>
              </a:ext>
            </a:extLst>
          </p:cNvPr>
          <p:cNvSpPr txBox="1"/>
          <p:nvPr/>
        </p:nvSpPr>
        <p:spPr>
          <a:xfrm>
            <a:off x="9849783" y="2904579"/>
            <a:ext cx="25111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400" b="1">
                <a:solidFill>
                  <a:schemeClr val="dk1"/>
                </a:solidFill>
                <a:latin typeface="Century Gothic" panose="020B0502020202020204" pitchFamily="34" charset="0"/>
                <a:ea typeface="Montserrat"/>
                <a:cs typeface="Montserrat"/>
                <a:sym typeface="Montserrat"/>
              </a:rPr>
              <a:t>35-54, Males + Female, PAN India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entury Gothic" panose="020B0502020202020204" pitchFamily="34" charset="0"/>
                <a:sym typeface="Montserrat"/>
              </a:rPr>
              <a:t>158* Mn</a:t>
            </a:r>
            <a:endParaRPr lang="en-US" sz="2000" b="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A8B633F-B08B-AA28-C3CD-85F29C65DB90}"/>
              </a:ext>
            </a:extLst>
          </p:cNvPr>
          <p:cNvSpPr/>
          <p:nvPr/>
        </p:nvSpPr>
        <p:spPr>
          <a:xfrm>
            <a:off x="8387905" y="2870352"/>
            <a:ext cx="1920240" cy="1920240"/>
          </a:xfrm>
          <a:prstGeom prst="ellipse">
            <a:avLst/>
          </a:prstGeom>
          <a:solidFill>
            <a:schemeClr val="tx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71B2E7-6D6E-B66F-087D-45CD7A7B293F}"/>
              </a:ext>
            </a:extLst>
          </p:cNvPr>
          <p:cNvSpPr txBox="1"/>
          <p:nvPr/>
        </p:nvSpPr>
        <p:spPr>
          <a:xfrm>
            <a:off x="5787409" y="2325734"/>
            <a:ext cx="2511101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400">
                <a:solidFill>
                  <a:schemeClr val="tx1"/>
                </a:solidFill>
                <a:latin typeface="Century Gothic" panose="020B0502020202020204" pitchFamily="34" charset="0"/>
                <a:ea typeface="Montserrat"/>
                <a:cs typeface="Montserrat"/>
                <a:sym typeface="Montserrat"/>
              </a:rPr>
              <a:t>CORE TG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>
                <a:solidFill>
                  <a:schemeClr val="tx1"/>
                </a:solidFill>
                <a:latin typeface="Century Gothic" panose="020B0502020202020204" pitchFamily="34" charset="0"/>
                <a:ea typeface="Montserrat"/>
                <a:cs typeface="Montserrat"/>
                <a:sym typeface="Montserrat"/>
              </a:rPr>
              <a:t>3</a:t>
            </a:r>
            <a:r>
              <a:rPr lang="en" sz="1400">
                <a:solidFill>
                  <a:schemeClr val="tx1"/>
                </a:solidFill>
                <a:latin typeface="Century Gothic" panose="020B0502020202020204" pitchFamily="34" charset="0"/>
                <a:ea typeface="Montserrat"/>
                <a:cs typeface="Montserrat"/>
                <a:sym typeface="Montserrat"/>
              </a:rPr>
              <a:t>5-54, M&amp;F, </a:t>
            </a:r>
          </a:p>
          <a:p>
            <a:pPr algn="ctr">
              <a:buSzPts val="1000"/>
            </a:pPr>
            <a:endParaRPr lang="en-US" sz="1000">
              <a:solidFill>
                <a:srgbClr val="FF0000"/>
              </a:solidFill>
              <a:cs typeface="Calibri" panose="020F0502020204030204" pitchFamily="34" charset="0"/>
            </a:endParaRPr>
          </a:p>
          <a:p>
            <a:pPr algn="ctr">
              <a:buSzPts val="1000"/>
            </a:pPr>
            <a:r>
              <a:rPr lang="en-US" sz="1000">
                <a:solidFill>
                  <a:srgbClr val="FF0000"/>
                </a:solidFill>
                <a:cs typeface="Calibri" panose="020F0502020204030204" pitchFamily="34" charset="0"/>
              </a:rPr>
              <a:t>Gaming Peripherals &amp; Accessories, Primary &amp; Secondary Schools (K-12),</a:t>
            </a:r>
            <a:r>
              <a:rPr lang="en-US" sz="1000">
                <a:solidFill>
                  <a:schemeClr val="tx1"/>
                </a:solidFill>
                <a:cs typeface="Calibri" panose="020F0502020204030204" pitchFamily="34" charset="0"/>
              </a:rPr>
              <a:t> SUVs (New), Luxury Vehicles,  Luxury Travelers, </a:t>
            </a:r>
            <a:r>
              <a:rPr lang="en-US" sz="1000">
                <a:solidFill>
                  <a:srgbClr val="FF0000"/>
                </a:solidFill>
                <a:cs typeface="Calibri" panose="020F0502020204030204" pitchFamily="34" charset="0"/>
              </a:rPr>
              <a:t>Shopping Enthusiasts,</a:t>
            </a:r>
            <a:r>
              <a:rPr lang="en-US" sz="1000">
                <a:solidFill>
                  <a:schemeClr val="tx1"/>
                </a:solidFill>
                <a:cs typeface="Calibri" panose="020F0502020204030204" pitchFamily="34" charset="0"/>
              </a:rPr>
              <a:t> Performance &amp; Luxury Vehicle Enthusiasts, </a:t>
            </a:r>
            <a:r>
              <a:rPr lang="en-US" sz="1000">
                <a:solidFill>
                  <a:srgbClr val="FF0000"/>
                </a:solidFill>
                <a:cs typeface="Calibri" panose="020F0502020204030204" pitchFamily="34" charset="0"/>
              </a:rPr>
              <a:t>Motor Sports Enthusiasts</a:t>
            </a:r>
            <a:r>
              <a:rPr lang="en-US" sz="1000">
                <a:solidFill>
                  <a:schemeClr val="tx1"/>
                </a:solidFill>
                <a:cs typeface="Calibri" panose="020F0502020204030204" pitchFamily="34" charset="0"/>
              </a:rPr>
              <a:t>, Snowbound Travelers, International Travelers</a:t>
            </a:r>
            <a:endParaRPr lang="en" sz="1000">
              <a:solidFill>
                <a:schemeClr val="tx1"/>
              </a:solidFill>
              <a:latin typeface="Century Gothic" panose="020B0502020202020204" pitchFamily="34" charset="0"/>
              <a:ea typeface="Montserrat"/>
              <a:cs typeface="Montserrat"/>
              <a:sym typeface="Montserra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lang="en" sz="1400">
              <a:solidFill>
                <a:schemeClr val="tx1"/>
              </a:solidFill>
              <a:latin typeface="Century Gothic" panose="020B0502020202020204" pitchFamily="34" charset="0"/>
              <a:ea typeface="Montserrat"/>
              <a:cs typeface="Montserrat"/>
              <a:sym typeface="Montserrat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2000">
                <a:solidFill>
                  <a:schemeClr val="tx1"/>
                </a:solidFill>
                <a:latin typeface="Century Gothic" panose="020B0502020202020204" pitchFamily="34" charset="0"/>
                <a:sym typeface="Montserrat"/>
              </a:rPr>
              <a:t>79.2* Mn</a:t>
            </a:r>
            <a:endParaRPr lang="en-US" sz="2000">
              <a:solidFill>
                <a:schemeClr val="tx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CE3703B-B636-DEEF-086B-07FD5AF0165D}"/>
              </a:ext>
            </a:extLst>
          </p:cNvPr>
          <p:cNvCxnSpPr>
            <a:cxnSpLocks/>
          </p:cNvCxnSpPr>
          <p:nvPr/>
        </p:nvCxnSpPr>
        <p:spPr>
          <a:xfrm>
            <a:off x="8142481" y="2854271"/>
            <a:ext cx="960120" cy="48798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F9CF55E-3DF8-76C0-8272-249483020C0D}"/>
              </a:ext>
            </a:extLst>
          </p:cNvPr>
          <p:cNvCxnSpPr>
            <a:cxnSpLocks/>
          </p:cNvCxnSpPr>
          <p:nvPr/>
        </p:nvCxnSpPr>
        <p:spPr>
          <a:xfrm>
            <a:off x="9102601" y="2903069"/>
            <a:ext cx="302625" cy="229548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198E151-2DAD-780D-AD58-6D7E660C5A9A}"/>
              </a:ext>
            </a:extLst>
          </p:cNvPr>
          <p:cNvSpPr/>
          <p:nvPr/>
        </p:nvSpPr>
        <p:spPr>
          <a:xfrm>
            <a:off x="5489585" y="3303094"/>
            <a:ext cx="382821" cy="326960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32AE1D-FF70-CB65-CF76-0E897324DD3B}"/>
              </a:ext>
            </a:extLst>
          </p:cNvPr>
          <p:cNvSpPr txBox="1"/>
          <p:nvPr/>
        </p:nvSpPr>
        <p:spPr>
          <a:xfrm>
            <a:off x="779468" y="6345571"/>
            <a:ext cx="10775945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900" u="sng">
                <a:solidFill>
                  <a:srgbClr val="191C1C"/>
                </a:solidFill>
                <a:latin typeface="Century Gothic"/>
                <a:sym typeface="Century Gothic"/>
              </a:rPr>
              <a:t>Source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 : </a:t>
            </a:r>
            <a:r>
              <a:rPr lang="en-US" sz="900" b="1" u="sng">
                <a:solidFill>
                  <a:srgbClr val="191C1C"/>
                </a:solidFill>
                <a:latin typeface="Century Gothic"/>
                <a:sym typeface="Century Gothic"/>
              </a:rPr>
              <a:t>DV360 Reach Planner</a:t>
            </a:r>
            <a: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  <a:t>, YouTube + Display India, Target Reach at 1+ | India</a:t>
            </a:r>
            <a:br>
              <a:rPr lang="en-US" sz="900">
                <a:solidFill>
                  <a:srgbClr val="191C1C"/>
                </a:solidFill>
                <a:latin typeface="Century Gothic"/>
                <a:sym typeface="Century Gothic"/>
              </a:rPr>
            </a:br>
            <a:r>
              <a:rPr kumimoji="0" lang="en-US" sz="900" b="0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cs typeface="Arial"/>
                <a:sym typeface="Century Gothic"/>
              </a:rPr>
              <a:t>* Overall reach planned= 60.9*30%(duplication of platforms)</a:t>
            </a:r>
            <a:endParaRPr lang="en-US" sz="900" b="1" u="sng">
              <a:solidFill>
                <a:srgbClr val="191C1C"/>
              </a:solidFill>
              <a:latin typeface="Century Gothic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F5A189-87C8-4F68-9DDF-73B66B2800A0}"/>
              </a:ext>
            </a:extLst>
          </p:cNvPr>
          <p:cNvSpPr txBox="1"/>
          <p:nvPr/>
        </p:nvSpPr>
        <p:spPr>
          <a:xfrm>
            <a:off x="886878" y="1329953"/>
            <a:ext cx="3690621" cy="30777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r>
              <a:rPr lang="en-US">
                <a:ln>
                  <a:solidFill>
                    <a:schemeClr val="bg2">
                      <a:lumMod val="50000"/>
                    </a:schemeClr>
                  </a:solidFill>
                </a:ln>
              </a:rPr>
              <a:t>Budget- 8Cr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3AD881-3B67-7FDE-050E-C2CAA5F1D1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6595"/>
          <a:stretch/>
        </p:blipFill>
        <p:spPr>
          <a:xfrm>
            <a:off x="828190" y="2148620"/>
            <a:ext cx="4572000" cy="256076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7562655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Budget Distribution across channels – Option 3 – Targeting only Core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9102289-2D4C-61EC-513C-1A5A517C8CDB}"/>
              </a:ext>
            </a:extLst>
          </p:cNvPr>
          <p:cNvSpPr/>
          <p:nvPr/>
        </p:nvSpPr>
        <p:spPr>
          <a:xfrm>
            <a:off x="8375904" y="1719072"/>
            <a:ext cx="3311119" cy="390399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Higher investments in Display &amp; Video Auction buys due to Narrower Audience (Option3)</a:t>
            </a:r>
            <a:br>
              <a:rPr lang="en-US">
                <a:solidFill>
                  <a:schemeClr val="bg1"/>
                </a:solidFill>
              </a:rPr>
            </a:br>
            <a:endParaRPr lang="en-US">
              <a:solidFill>
                <a:schemeClr val="bg1"/>
              </a:solidFill>
            </a:endParaRP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Basic Investment of 1.5 Cr on search would Cater towards Brand &amp; Generic segments.</a:t>
            </a:r>
            <a:br>
              <a:rPr lang="en-US">
                <a:solidFill>
                  <a:schemeClr val="bg1"/>
                </a:solidFill>
              </a:rPr>
            </a:br>
            <a:endParaRPr lang="en-US">
              <a:solidFill>
                <a:schemeClr val="bg1"/>
              </a:solidFill>
            </a:endParaRPr>
          </a:p>
          <a:p>
            <a:pPr marL="285750" indent="-285750"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v"/>
            </a:pPr>
            <a:r>
              <a:rPr lang="en-US">
                <a:solidFill>
                  <a:schemeClr val="bg1"/>
                </a:solidFill>
              </a:rPr>
              <a:t>Conservative spends on Display &amp; Video reserve considered for hygiene properties (Tech pack, Mastheads &amp; Tech + Lifestyle websites) to create impact on Launch &amp; Superday – Limited spends on DOOH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1D1BD4A-425F-B278-655B-FE3A834C2F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18893"/>
              </p:ext>
            </p:extLst>
          </p:nvPr>
        </p:nvGraphicFramePr>
        <p:xfrm>
          <a:off x="4906264" y="1719070"/>
          <a:ext cx="3098800" cy="3903990"/>
        </p:xfrm>
        <a:graphic>
          <a:graphicData uri="http://schemas.openxmlformats.org/drawingml/2006/table">
            <a:tbl>
              <a:tblPr/>
              <a:tblGrid>
                <a:gridCol w="1651000">
                  <a:extLst>
                    <a:ext uri="{9D8B030D-6E8A-4147-A177-3AD203B41FA5}">
                      <a16:colId xmlns:a16="http://schemas.microsoft.com/office/drawing/2014/main" val="1945412344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1811874810"/>
                    </a:ext>
                  </a:extLst>
                </a:gridCol>
              </a:tblGrid>
              <a:tr h="39039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X Fold3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3433736"/>
                  </a:ext>
                </a:extLst>
              </a:tr>
              <a:tr h="390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Search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15,000,000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2537180"/>
                  </a:ext>
                </a:extLst>
              </a:tr>
              <a:tr h="390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Social Media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14,100,000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3548929"/>
                  </a:ext>
                </a:extLst>
              </a:tr>
              <a:tr h="390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Video Auction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19,000,000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5338908"/>
                  </a:ext>
                </a:extLst>
              </a:tr>
              <a:tr h="390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Auction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4,500,000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4870679"/>
                  </a:ext>
                </a:extLst>
              </a:tr>
              <a:tr h="390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Video Reserve Buy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5,500,000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4534084"/>
                  </a:ext>
                </a:extLst>
              </a:tr>
              <a:tr h="390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Reserve Buy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18,000,000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461719"/>
                  </a:ext>
                </a:extLst>
              </a:tr>
              <a:tr h="390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Concurrency &amp; Webcasting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1,620,000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1991376"/>
                  </a:ext>
                </a:extLst>
              </a:tr>
              <a:tr h="390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 Serving &amp; Agency Fees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2,280,000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5517082"/>
                  </a:ext>
                </a:extLst>
              </a:tr>
              <a:tr h="390399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80,000,000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0180717"/>
                  </a:ext>
                </a:extLst>
              </a:tr>
            </a:tbl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E8BEC3-AB74-403C-A03E-6ED9471384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5583922"/>
              </p:ext>
            </p:extLst>
          </p:nvPr>
        </p:nvGraphicFramePr>
        <p:xfrm>
          <a:off x="641351" y="1719069"/>
          <a:ext cx="3894073" cy="39039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98170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Channel Split Comparison - X100 TG vs </a:t>
            </a: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Century Gothic"/>
                <a:sym typeface="Century Gothic"/>
              </a:rPr>
              <a:t>Option 3 </a:t>
            </a:r>
            <a:r>
              <a:rPr kumimoji="0" lang="en-US" sz="28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TG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3E925C9D-54FD-C775-BF33-D5890980B9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73189289"/>
              </p:ext>
            </p:extLst>
          </p:nvPr>
        </p:nvGraphicFramePr>
        <p:xfrm>
          <a:off x="6364493" y="798345"/>
          <a:ext cx="5113992" cy="240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71AD4DC-1241-C4F6-1B5F-5942D8B10F77}"/>
              </a:ext>
            </a:extLst>
          </p:cNvPr>
          <p:cNvSpPr/>
          <p:nvPr/>
        </p:nvSpPr>
        <p:spPr>
          <a:xfrm>
            <a:off x="521496" y="5288062"/>
            <a:ext cx="11033917" cy="1255950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</a:pPr>
            <a:r>
              <a:rPr lang="en-US" sz="1100">
                <a:solidFill>
                  <a:schemeClr val="bg1"/>
                </a:solidFill>
              </a:rPr>
              <a:t>Compared to X100, for vivo X Fold3 we have:</a:t>
            </a:r>
          </a:p>
          <a:p>
            <a:pPr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</a:pPr>
            <a:r>
              <a:rPr lang="en-US" sz="1100">
                <a:solidFill>
                  <a:schemeClr val="bg1"/>
                </a:solidFill>
              </a:rPr>
              <a:t>Higher investment share on Display Reserve to create Impact on Launch &amp; Super Day via RB properties &amp; ROS Innovations.</a:t>
            </a:r>
          </a:p>
          <a:p>
            <a:pPr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</a:pPr>
            <a:r>
              <a:rPr lang="en-US" sz="1100">
                <a:solidFill>
                  <a:schemeClr val="bg1"/>
                </a:solidFill>
              </a:rPr>
              <a:t>Increased share on Video Auction slightly to generate higher intended views</a:t>
            </a:r>
          </a:p>
          <a:p>
            <a:pPr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</a:pPr>
            <a:r>
              <a:rPr lang="en-US" sz="1100">
                <a:solidFill>
                  <a:schemeClr val="bg1"/>
                </a:solidFill>
              </a:rPr>
              <a:t>Reduced budgets on Display &amp; Social auction due to narrower TG</a:t>
            </a:r>
          </a:p>
          <a:p>
            <a:pPr>
              <a:lnSpc>
                <a:spcPct val="110000"/>
              </a:lnSpc>
              <a:spcAft>
                <a:spcPts val="600"/>
              </a:spcAft>
              <a:buClr>
                <a:schemeClr val="bg1"/>
              </a:buClr>
            </a:pPr>
            <a:r>
              <a:rPr lang="en-US" sz="1100">
                <a:solidFill>
                  <a:schemeClr val="bg1"/>
                </a:solidFill>
              </a:rPr>
              <a:t>Investments on Search lowered slightly due to limited Searches in “Fold” category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0EA4BF7-A733-4609-BF23-ACFD24369B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768624"/>
              </p:ext>
            </p:extLst>
          </p:nvPr>
        </p:nvGraphicFramePr>
        <p:xfrm>
          <a:off x="521495" y="798345"/>
          <a:ext cx="5113992" cy="240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117DDB7-8B42-3976-D3D8-D209555BD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314577"/>
              </p:ext>
            </p:extLst>
          </p:nvPr>
        </p:nvGraphicFramePr>
        <p:xfrm>
          <a:off x="521495" y="3387154"/>
          <a:ext cx="5113992" cy="1663700"/>
        </p:xfrm>
        <a:graphic>
          <a:graphicData uri="http://schemas.openxmlformats.org/drawingml/2006/table">
            <a:tbl>
              <a:tblPr/>
              <a:tblGrid>
                <a:gridCol w="1857036">
                  <a:extLst>
                    <a:ext uri="{9D8B030D-6E8A-4147-A177-3AD203B41FA5}">
                      <a16:colId xmlns:a16="http://schemas.microsoft.com/office/drawing/2014/main" val="3995914354"/>
                    </a:ext>
                  </a:extLst>
                </a:gridCol>
                <a:gridCol w="1628478">
                  <a:extLst>
                    <a:ext uri="{9D8B030D-6E8A-4147-A177-3AD203B41FA5}">
                      <a16:colId xmlns:a16="http://schemas.microsoft.com/office/drawing/2014/main" val="225002512"/>
                    </a:ext>
                  </a:extLst>
                </a:gridCol>
                <a:gridCol w="1628478">
                  <a:extLst>
                    <a:ext uri="{9D8B030D-6E8A-4147-A177-3AD203B41FA5}">
                      <a16:colId xmlns:a16="http://schemas.microsoft.com/office/drawing/2014/main" val="150450609"/>
                    </a:ext>
                  </a:extLst>
                </a:gridCol>
              </a:tblGrid>
              <a:tr h="12062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X100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Share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6414310"/>
                  </a:ext>
                </a:extLst>
              </a:tr>
              <a:tr h="1261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Search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30,123,460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2607692"/>
                  </a:ext>
                </a:extLst>
              </a:tr>
              <a:tr h="1261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Social Media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35,361,764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6497259"/>
                  </a:ext>
                </a:extLst>
              </a:tr>
              <a:tr h="1261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Video Auction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33,371,655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6956016"/>
                  </a:ext>
                </a:extLst>
              </a:tr>
              <a:tr h="1261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Auction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8,381,483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699905"/>
                  </a:ext>
                </a:extLst>
              </a:tr>
              <a:tr h="1261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Video Reserve Buy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13,823,498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0295338"/>
                  </a:ext>
                </a:extLst>
              </a:tr>
              <a:tr h="1261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Reserve Buy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19,902,515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3805294"/>
                  </a:ext>
                </a:extLst>
              </a:tr>
              <a:tr h="1261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Concurrency &amp; Webcasting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1,620,000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4571714"/>
                  </a:ext>
                </a:extLst>
              </a:tr>
              <a:tr h="1261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 Serving &amp; Agency Fees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4,403,140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0091910"/>
                  </a:ext>
                </a:extLst>
              </a:tr>
              <a:tr h="12614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146,987,515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100.00%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313313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3359F3-ACA5-FF84-74E3-3BBC5B7439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634161"/>
              </p:ext>
            </p:extLst>
          </p:nvPr>
        </p:nvGraphicFramePr>
        <p:xfrm>
          <a:off x="6364493" y="3387154"/>
          <a:ext cx="5113992" cy="1663700"/>
        </p:xfrm>
        <a:graphic>
          <a:graphicData uri="http://schemas.openxmlformats.org/drawingml/2006/table">
            <a:tbl>
              <a:tblPr/>
              <a:tblGrid>
                <a:gridCol w="1857036">
                  <a:extLst>
                    <a:ext uri="{9D8B030D-6E8A-4147-A177-3AD203B41FA5}">
                      <a16:colId xmlns:a16="http://schemas.microsoft.com/office/drawing/2014/main" val="2120219117"/>
                    </a:ext>
                  </a:extLst>
                </a:gridCol>
                <a:gridCol w="1628478">
                  <a:extLst>
                    <a:ext uri="{9D8B030D-6E8A-4147-A177-3AD203B41FA5}">
                      <a16:colId xmlns:a16="http://schemas.microsoft.com/office/drawing/2014/main" val="2183991682"/>
                    </a:ext>
                  </a:extLst>
                </a:gridCol>
                <a:gridCol w="1628478">
                  <a:extLst>
                    <a:ext uri="{9D8B030D-6E8A-4147-A177-3AD203B41FA5}">
                      <a16:colId xmlns:a16="http://schemas.microsoft.com/office/drawing/2014/main" val="4191015765"/>
                    </a:ext>
                  </a:extLst>
                </a:gridCol>
              </a:tblGrid>
              <a:tr h="1167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X Fold3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Share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708058"/>
                  </a:ext>
                </a:extLst>
              </a:tr>
              <a:tr h="116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Search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15,000,000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5531943"/>
                  </a:ext>
                </a:extLst>
              </a:tr>
              <a:tr h="116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Social Media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14,100,000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3096338"/>
                  </a:ext>
                </a:extLst>
              </a:tr>
              <a:tr h="116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Video Auction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19,000,000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0827281"/>
                  </a:ext>
                </a:extLst>
              </a:tr>
              <a:tr h="116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Auction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4,500,000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459374"/>
                  </a:ext>
                </a:extLst>
              </a:tr>
              <a:tr h="116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Video Reserve Buy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5,500,000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9910154"/>
                  </a:ext>
                </a:extLst>
              </a:tr>
              <a:tr h="116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Reserve Buy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18,000,000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167210"/>
                  </a:ext>
                </a:extLst>
              </a:tr>
              <a:tr h="116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Concurrency &amp; Webcasting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1,620,000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4489532"/>
                  </a:ext>
                </a:extLst>
              </a:tr>
              <a:tr h="116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 Serving &amp; Agency Fees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2,280,000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4023140"/>
                  </a:ext>
                </a:extLst>
              </a:tr>
              <a:tr h="11674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80,000,000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100.00%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6610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58035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Reach &amp; Frequency dispersion - Option 3 (8 Cr)</a:t>
            </a:r>
            <a:b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</a:b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Forecasting 5+ Unique Reach of 36Mn+ for X Fold3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16D7A4DE-5136-8ABC-399D-D965BE2145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3677887"/>
              </p:ext>
            </p:extLst>
          </p:nvPr>
        </p:nvGraphicFramePr>
        <p:xfrm>
          <a:off x="317806" y="1570902"/>
          <a:ext cx="5597294" cy="37418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F88444DD-92D5-2021-B4C2-0689BDBADF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35116846"/>
              </p:ext>
            </p:extLst>
          </p:nvPr>
        </p:nvGraphicFramePr>
        <p:xfrm>
          <a:off x="6290637" y="1549382"/>
          <a:ext cx="5597294" cy="37418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822768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Budget Phasing - Option 3 8Cr (8 Cr)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D7464A7-F987-1955-73F5-D99B71EE7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117289"/>
              </p:ext>
            </p:extLst>
          </p:nvPr>
        </p:nvGraphicFramePr>
        <p:xfrm>
          <a:off x="840677" y="850084"/>
          <a:ext cx="10714734" cy="5318941"/>
        </p:xfrm>
        <a:graphic>
          <a:graphicData uri="http://schemas.openxmlformats.org/drawingml/2006/table">
            <a:tbl>
              <a:tblPr/>
              <a:tblGrid>
                <a:gridCol w="1785789">
                  <a:extLst>
                    <a:ext uri="{9D8B030D-6E8A-4147-A177-3AD203B41FA5}">
                      <a16:colId xmlns:a16="http://schemas.microsoft.com/office/drawing/2014/main" val="1458892302"/>
                    </a:ext>
                  </a:extLst>
                </a:gridCol>
                <a:gridCol w="1785789">
                  <a:extLst>
                    <a:ext uri="{9D8B030D-6E8A-4147-A177-3AD203B41FA5}">
                      <a16:colId xmlns:a16="http://schemas.microsoft.com/office/drawing/2014/main" val="1363145263"/>
                    </a:ext>
                  </a:extLst>
                </a:gridCol>
                <a:gridCol w="1785789">
                  <a:extLst>
                    <a:ext uri="{9D8B030D-6E8A-4147-A177-3AD203B41FA5}">
                      <a16:colId xmlns:a16="http://schemas.microsoft.com/office/drawing/2014/main" val="3739341203"/>
                    </a:ext>
                  </a:extLst>
                </a:gridCol>
                <a:gridCol w="1785789">
                  <a:extLst>
                    <a:ext uri="{9D8B030D-6E8A-4147-A177-3AD203B41FA5}">
                      <a16:colId xmlns:a16="http://schemas.microsoft.com/office/drawing/2014/main" val="2234804514"/>
                    </a:ext>
                  </a:extLst>
                </a:gridCol>
                <a:gridCol w="1785789">
                  <a:extLst>
                    <a:ext uri="{9D8B030D-6E8A-4147-A177-3AD203B41FA5}">
                      <a16:colId xmlns:a16="http://schemas.microsoft.com/office/drawing/2014/main" val="3209828893"/>
                    </a:ext>
                  </a:extLst>
                </a:gridCol>
                <a:gridCol w="1785789">
                  <a:extLst>
                    <a:ext uri="{9D8B030D-6E8A-4147-A177-3AD203B41FA5}">
                      <a16:colId xmlns:a16="http://schemas.microsoft.com/office/drawing/2014/main" val="4249476554"/>
                    </a:ext>
                  </a:extLst>
                </a:gridCol>
              </a:tblGrid>
              <a:tr h="31368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X Fold3</a:t>
                      </a:r>
                    </a:p>
                  </a:txBody>
                  <a:tcPr marL="5178" marR="5178" marT="5178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PRE-BUZZ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98E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LAUNCH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98E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 PREBOOK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98E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SUPER DAY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98E3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SUSTENANCE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98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694585"/>
                  </a:ext>
                </a:extLst>
              </a:tr>
              <a:tr h="54553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Campaign Dates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20th May - 5th Jun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6th Jun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7th Jun - 12th Jun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13th Jun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14th June - 30th June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3575615"/>
                  </a:ext>
                </a:extLst>
              </a:tr>
              <a:tr h="54553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No. of Days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17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6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17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488181"/>
                  </a:ext>
                </a:extLst>
              </a:tr>
              <a:tr h="54553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Budget Share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30%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24%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26%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9%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11%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69654"/>
                  </a:ext>
                </a:extLst>
              </a:tr>
              <a:tr h="54553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Budget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2.4 Cr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1.9 Cr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2.1 Cr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0.7 Cr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0.9 Cr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990149"/>
                  </a:ext>
                </a:extLst>
              </a:tr>
              <a:tr h="54553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Per Day Spends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14 L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1.9 Cr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35 L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0.7 Cr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Vivo Office" panose="020B0604020202020204" charset="0"/>
                        </a:rPr>
                        <a:t>5 L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4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771832"/>
                  </a:ext>
                </a:extLst>
              </a:tr>
              <a:tr h="1138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Audiences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Core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Core</a:t>
                      </a:r>
                    </a:p>
                  </a:txBody>
                  <a:tcPr marL="5178" marR="5178" marT="5178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Core</a:t>
                      </a:r>
                      <a:b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</a:br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+</a:t>
                      </a:r>
                      <a:b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</a:br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Remarketing</a:t>
                      </a:r>
                    </a:p>
                  </a:txBody>
                  <a:tcPr marL="5178" marR="5178" marT="5178" marB="0" anchor="ctr">
                    <a:lnL>
                      <a:noFill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Focus on Core</a:t>
                      </a:r>
                      <a:b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</a:br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+</a:t>
                      </a:r>
                      <a:b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</a:br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Limited Remarketing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Remarketing Only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8875310"/>
                  </a:ext>
                </a:extLst>
              </a:tr>
              <a:tr h="1138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TG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PAN INDIA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PAN INDIA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PAN INDIA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PAN INDIA </a:t>
                      </a:r>
                      <a:b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</a:br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OR</a:t>
                      </a:r>
                      <a:b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</a:br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TOP CITIES (where Fold would be available)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PAN INDIA </a:t>
                      </a:r>
                      <a:b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</a:br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OR</a:t>
                      </a:r>
                      <a:b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</a:br>
                      <a:r>
                        <a:rPr lang="en-US" sz="1400" b="1" i="0" u="none" strike="noStrike">
                          <a:solidFill>
                            <a:srgbClr val="0A0F0D"/>
                          </a:solidFill>
                          <a:effectLst/>
                          <a:latin typeface="Vivo Office" panose="020B0604020202020204" charset="0"/>
                        </a:rPr>
                        <a:t>TOP CITIES (where Fold would be available)</a:t>
                      </a:r>
                    </a:p>
                  </a:txBody>
                  <a:tcPr marL="5178" marR="5178" marT="5178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083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0171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X Fold3 Tentative KPIs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B349EB0-C627-5AE0-BE11-04CB45A581B8}"/>
              </a:ext>
            </a:extLst>
          </p:cNvPr>
          <p:cNvSpPr txBox="1"/>
          <p:nvPr/>
        </p:nvSpPr>
        <p:spPr>
          <a:xfrm>
            <a:off x="779468" y="6345571"/>
            <a:ext cx="10775945" cy="2308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900" b="1" i="1" u="sng">
                <a:solidFill>
                  <a:srgbClr val="191C1C"/>
                </a:solidFill>
                <a:latin typeface="Century Gothic"/>
                <a:sym typeface="Century Gothic"/>
              </a:rPr>
              <a:t>Only media metrics considered. (Ad Serving, Agency Fees, Concurrency &amp; Webcast are not included)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9CFAD42-7830-F69B-8E2D-F322B51BFE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0960291"/>
              </p:ext>
            </p:extLst>
          </p:nvPr>
        </p:nvGraphicFramePr>
        <p:xfrm>
          <a:off x="779467" y="636105"/>
          <a:ext cx="10775946" cy="5532917"/>
        </p:xfrm>
        <a:graphic>
          <a:graphicData uri="http://schemas.openxmlformats.org/drawingml/2006/table">
            <a:tbl>
              <a:tblPr/>
              <a:tblGrid>
                <a:gridCol w="1795991">
                  <a:extLst>
                    <a:ext uri="{9D8B030D-6E8A-4147-A177-3AD203B41FA5}">
                      <a16:colId xmlns:a16="http://schemas.microsoft.com/office/drawing/2014/main" val="4049942674"/>
                    </a:ext>
                  </a:extLst>
                </a:gridCol>
                <a:gridCol w="1795991">
                  <a:extLst>
                    <a:ext uri="{9D8B030D-6E8A-4147-A177-3AD203B41FA5}">
                      <a16:colId xmlns:a16="http://schemas.microsoft.com/office/drawing/2014/main" val="1027072019"/>
                    </a:ext>
                  </a:extLst>
                </a:gridCol>
                <a:gridCol w="1795991">
                  <a:extLst>
                    <a:ext uri="{9D8B030D-6E8A-4147-A177-3AD203B41FA5}">
                      <a16:colId xmlns:a16="http://schemas.microsoft.com/office/drawing/2014/main" val="3741942944"/>
                    </a:ext>
                  </a:extLst>
                </a:gridCol>
                <a:gridCol w="1795991">
                  <a:extLst>
                    <a:ext uri="{9D8B030D-6E8A-4147-A177-3AD203B41FA5}">
                      <a16:colId xmlns:a16="http://schemas.microsoft.com/office/drawing/2014/main" val="2251224647"/>
                    </a:ext>
                  </a:extLst>
                </a:gridCol>
                <a:gridCol w="1795991">
                  <a:extLst>
                    <a:ext uri="{9D8B030D-6E8A-4147-A177-3AD203B41FA5}">
                      <a16:colId xmlns:a16="http://schemas.microsoft.com/office/drawing/2014/main" val="2234078905"/>
                    </a:ext>
                  </a:extLst>
                </a:gridCol>
                <a:gridCol w="1795991">
                  <a:extLst>
                    <a:ext uri="{9D8B030D-6E8A-4147-A177-3AD203B41FA5}">
                      <a16:colId xmlns:a16="http://schemas.microsoft.com/office/drawing/2014/main" val="2584189462"/>
                    </a:ext>
                  </a:extLst>
                </a:gridCol>
              </a:tblGrid>
              <a:tr h="173444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Metric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X80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X90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X100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Tentative KPI Deliverables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%delta compared to X100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659172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Budget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110,600,000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113,600,000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137,076,860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75,742,978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-45%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3573004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Impressions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1,889,000,000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2,892,000,000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3,873,805,004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1,537,499,708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-60%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0684177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Clicks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18,800,000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14,200,000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26,363,107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9,882,374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-63%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9341031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Views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396,000,000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343,000,000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547,613,958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318,027,879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-42%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7161266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CTR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0.49%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0.68%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0.64%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0109785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ECPM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6240738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ECPV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0.28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0.33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0.25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0.24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9014176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ECPC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5.88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8.0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5.2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7.7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47%</a:t>
                      </a:r>
                    </a:p>
                  </a:txBody>
                  <a:tcPr marL="4750" marR="4750" marT="47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0516151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b"/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50" marR="4750" marT="47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50" marR="4750" marT="47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50" marR="4750" marT="47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50" marR="4750" marT="47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50" marR="4750" marT="47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50" marR="4750" marT="47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5700485"/>
                  </a:ext>
                </a:extLst>
              </a:tr>
              <a:tr h="188622">
                <a:tc rowSpan="2">
                  <a:txBody>
                    <a:bodyPr/>
                    <a:lstStyle/>
                    <a:p>
                      <a:pPr algn="l" rtl="0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Channel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eCPM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eCPM variation vs X100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eCPM</a:t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X Fold3 Actual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eCPM variation vs X100 Actual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Remarks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800077"/>
                  </a:ext>
                </a:extLst>
              </a:tr>
              <a:tr h="18862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X100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699318"/>
                  </a:ext>
                </a:extLst>
              </a:tr>
              <a:tr h="364236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Search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4,009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4,916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Higher investments on Competition segment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2496976"/>
                  </a:ext>
                </a:extLst>
              </a:tr>
              <a:tr h="364236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Social Media 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65%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Higher investments on Instagram Placement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5282711"/>
                  </a:ext>
                </a:extLst>
              </a:tr>
              <a:tr h="546355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Video Auction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Higher investments on CPV buy properties for Maximizing views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2877439"/>
                  </a:ext>
                </a:extLst>
              </a:tr>
              <a:tr h="72847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Auction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157%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104%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Low eCPM properties like Truecaller/Sharechat/Moj/Casual Gaming inventories to be excluded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246090"/>
                  </a:ext>
                </a:extLst>
              </a:tr>
              <a:tr h="728473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Online Video Reserve Buy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120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187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Higher investments on high SOV  properties (YT select packs) compared to Google/CTV Masthead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7606984"/>
                  </a:ext>
                </a:extLst>
              </a:tr>
              <a:tr h="364236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Reserve Buy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135%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Inclusion of DOOH &amp; premium placments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8833"/>
                  </a:ext>
                </a:extLst>
              </a:tr>
              <a:tr h="188622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49%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4750" marR="4750" marT="47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3149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47017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191C1C"/>
                </a:solidFill>
                <a:effectLst/>
                <a:uLnTx/>
                <a:uFillTx/>
                <a:latin typeface="Century Gothic"/>
                <a:sym typeface="Century Gothic"/>
              </a:rPr>
              <a:t>X Fold3 Tentative QV Trend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6A215F1F-43AE-A632-AE92-E18D85D6D8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3942581"/>
              </p:ext>
            </p:extLst>
          </p:nvPr>
        </p:nvGraphicFramePr>
        <p:xfrm>
          <a:off x="429768" y="1929384"/>
          <a:ext cx="11137392" cy="42089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17EBDE-9B57-1D63-23B4-0549FE5628F5}"/>
              </a:ext>
            </a:extLst>
          </p:cNvPr>
          <p:cNvSpPr txBox="1"/>
          <p:nvPr/>
        </p:nvSpPr>
        <p:spPr>
          <a:xfrm>
            <a:off x="4844273" y="1082564"/>
            <a:ext cx="1052658" cy="430887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100" b="1"/>
              <a:t>X Fold 3 Launch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830622C-E5C3-B073-678D-CBA2F4EC8E17}"/>
              </a:ext>
            </a:extLst>
          </p:cNvPr>
          <p:cNvCxnSpPr>
            <a:cxnSpLocks/>
          </p:cNvCxnSpPr>
          <p:nvPr/>
        </p:nvCxnSpPr>
        <p:spPr>
          <a:xfrm>
            <a:off x="1309286" y="1631321"/>
            <a:ext cx="9368583" cy="22564"/>
          </a:xfrm>
          <a:prstGeom prst="straightConnector1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4C9B595-952A-B400-DB3F-0918ECC54142}"/>
              </a:ext>
            </a:extLst>
          </p:cNvPr>
          <p:cNvSpPr/>
          <p:nvPr/>
        </p:nvSpPr>
        <p:spPr>
          <a:xfrm>
            <a:off x="5287471" y="1483020"/>
            <a:ext cx="125690" cy="94268"/>
          </a:xfrm>
          <a:prstGeom prst="ellipse">
            <a:avLst/>
          </a:prstGeom>
          <a:solidFill>
            <a:srgbClr val="4A4AFF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426941-0001-132A-7E34-D74F133E9F48}"/>
              </a:ext>
            </a:extLst>
          </p:cNvPr>
          <p:cNvSpPr/>
          <p:nvPr/>
        </p:nvSpPr>
        <p:spPr>
          <a:xfrm>
            <a:off x="6741197" y="1514443"/>
            <a:ext cx="125690" cy="94268"/>
          </a:xfrm>
          <a:prstGeom prst="ellipse">
            <a:avLst/>
          </a:prstGeom>
          <a:solidFill>
            <a:srgbClr val="4A4AFF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465959-4BEA-74C7-0FA3-E706BE32F0C1}"/>
              </a:ext>
            </a:extLst>
          </p:cNvPr>
          <p:cNvSpPr txBox="1"/>
          <p:nvPr/>
        </p:nvSpPr>
        <p:spPr>
          <a:xfrm>
            <a:off x="6293424" y="1077240"/>
            <a:ext cx="1021236" cy="430887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100" b="1"/>
              <a:t>X Fold 3</a:t>
            </a:r>
          </a:p>
          <a:p>
            <a:pPr algn="ctr"/>
            <a:r>
              <a:rPr lang="en-US" sz="1100" b="1"/>
              <a:t>Superday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7AECE3-13C0-2328-D0BA-15F83284896D}"/>
              </a:ext>
            </a:extLst>
          </p:cNvPr>
          <p:cNvSpPr txBox="1"/>
          <p:nvPr/>
        </p:nvSpPr>
        <p:spPr>
          <a:xfrm>
            <a:off x="7598930" y="1252833"/>
            <a:ext cx="1791092" cy="26161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100" b="1"/>
              <a:t>Sustenance phase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500E6D-40A2-87B1-0FEC-D67381106177}"/>
              </a:ext>
            </a:extLst>
          </p:cNvPr>
          <p:cNvSpPr txBox="1"/>
          <p:nvPr/>
        </p:nvSpPr>
        <p:spPr>
          <a:xfrm>
            <a:off x="2331121" y="1281242"/>
            <a:ext cx="895546" cy="26161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100" b="1"/>
              <a:t>Prebuzz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26BC29-5CC2-8DD4-44FF-EE71A1798DFF}"/>
              </a:ext>
            </a:extLst>
          </p:cNvPr>
          <p:cNvCxnSpPr>
            <a:cxnSpLocks/>
          </p:cNvCxnSpPr>
          <p:nvPr/>
        </p:nvCxnSpPr>
        <p:spPr>
          <a:xfrm>
            <a:off x="1082093" y="1636643"/>
            <a:ext cx="10224180" cy="15889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8881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2800" b="1" kern="0">
                <a:solidFill>
                  <a:srgbClr val="000000"/>
                </a:solidFill>
                <a:latin typeface="Century Gothic" panose="020B0502020202020204" pitchFamily="34" charset="0"/>
                <a:cs typeface="Arial"/>
                <a:sym typeface="Arial"/>
              </a:rPr>
              <a:t>Search</a:t>
            </a:r>
            <a:br>
              <a:rPr lang="en-US" sz="2800" b="1" kern="0">
                <a:solidFill>
                  <a:srgbClr val="000000"/>
                </a:solidFill>
                <a:latin typeface="Century Gothic" panose="020B0502020202020204" pitchFamily="34" charset="0"/>
                <a:cs typeface="Arial"/>
                <a:sym typeface="Arial"/>
              </a:rPr>
            </a:br>
            <a:r>
              <a:rPr lang="en-US" sz="2000" kern="0">
                <a:solidFill>
                  <a:srgbClr val="000000"/>
                </a:solidFill>
                <a:latin typeface="Century Gothic" panose="020B0502020202020204" pitchFamily="34" charset="0"/>
                <a:cs typeface="Arial"/>
                <a:sym typeface="Arial"/>
              </a:rPr>
              <a:t>Prioritize targeting competition to capture existing searches</a:t>
            </a:r>
            <a:endParaRPr kumimoji="0" lang="en-US" sz="20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FFAD67DA-8961-8752-C03A-33024360A5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1738893"/>
              </p:ext>
            </p:extLst>
          </p:nvPr>
        </p:nvGraphicFramePr>
        <p:xfrm>
          <a:off x="609344" y="1751683"/>
          <a:ext cx="10935941" cy="3635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A1B505-8D4D-4020-B3FD-A300844F3BE5}"/>
              </a:ext>
            </a:extLst>
          </p:cNvPr>
          <p:cNvSpPr txBox="1"/>
          <p:nvPr/>
        </p:nvSpPr>
        <p:spPr>
          <a:xfrm>
            <a:off x="396240" y="5872480"/>
            <a:ext cx="51815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*Competition- Samsung, OP, iPhone</a:t>
            </a:r>
          </a:p>
          <a:p>
            <a:r>
              <a:rPr lang="en-US"/>
              <a:t>*Generic- All foldables and ASP 70K+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2309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80B89-1BAE-3210-6814-5795028B976F}"/>
              </a:ext>
            </a:extLst>
          </p:cNvPr>
          <p:cNvCxnSpPr>
            <a:cxnSpLocks/>
          </p:cNvCxnSpPr>
          <p:nvPr/>
        </p:nvCxnSpPr>
        <p:spPr>
          <a:xfrm>
            <a:off x="609344" y="-13252"/>
            <a:ext cx="0" cy="6493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5FC2410F-5ECA-BD0B-4AA4-E1AF79E56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515" y="112475"/>
            <a:ext cx="10935941" cy="1255950"/>
          </a:xfrm>
          <a:solidFill>
            <a:schemeClr val="bg1"/>
          </a:solidFill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2800" b="1" kern="0">
                <a:solidFill>
                  <a:srgbClr val="000000"/>
                </a:solidFill>
                <a:latin typeface="Century Gothic" panose="020B0502020202020204" pitchFamily="34" charset="0"/>
                <a:cs typeface="Arial"/>
                <a:sym typeface="Arial"/>
              </a:rPr>
              <a:t>Display &amp; Video Auction Approach</a:t>
            </a: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Gothic" panose="020B0502020202020204" pitchFamily="34" charset="0"/>
              <a:cs typeface="Arial"/>
              <a:sym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4C404C-E6ED-D5EE-893E-DA6D048F0DD2}"/>
              </a:ext>
            </a:extLst>
          </p:cNvPr>
          <p:cNvSpPr/>
          <p:nvPr/>
        </p:nvSpPr>
        <p:spPr>
          <a:xfrm>
            <a:off x="1322431" y="2118961"/>
            <a:ext cx="2910348" cy="7528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Video Auction</a:t>
            </a:r>
            <a:br>
              <a:rPr lang="en-US" sz="1200" b="1">
                <a:solidFill>
                  <a:schemeClr val="bg1"/>
                </a:solidFill>
              </a:rPr>
            </a:br>
            <a:r>
              <a:rPr lang="en-US" sz="1200" b="1">
                <a:solidFill>
                  <a:schemeClr val="bg1"/>
                </a:solidFill>
              </a:rPr>
              <a:t>(55%)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891930-C610-E0CC-36AF-85E928F00C6C}"/>
              </a:ext>
            </a:extLst>
          </p:cNvPr>
          <p:cNvSpPr/>
          <p:nvPr/>
        </p:nvSpPr>
        <p:spPr>
          <a:xfrm>
            <a:off x="4640826" y="2129075"/>
            <a:ext cx="2910348" cy="7528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Display Auction</a:t>
            </a:r>
            <a:br>
              <a:rPr lang="en-US" sz="1200" b="1">
                <a:solidFill>
                  <a:schemeClr val="bg1"/>
                </a:solidFill>
              </a:rPr>
            </a:br>
            <a:r>
              <a:rPr lang="en-US" sz="1200" b="1">
                <a:solidFill>
                  <a:schemeClr val="bg1"/>
                </a:solidFill>
              </a:rPr>
              <a:t>(20%)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CD3383-C6B3-856E-3F7A-AC2AD7C7BEBF}"/>
              </a:ext>
            </a:extLst>
          </p:cNvPr>
          <p:cNvSpPr/>
          <p:nvPr/>
        </p:nvSpPr>
        <p:spPr>
          <a:xfrm>
            <a:off x="7959209" y="2118959"/>
            <a:ext cx="2910348" cy="75284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Remarketing</a:t>
            </a:r>
            <a:br>
              <a:rPr lang="en-US" sz="1200" b="1">
                <a:solidFill>
                  <a:schemeClr val="bg1"/>
                </a:solidFill>
              </a:rPr>
            </a:br>
            <a:r>
              <a:rPr lang="en-US" sz="1200" b="1">
                <a:solidFill>
                  <a:schemeClr val="bg1"/>
                </a:solidFill>
              </a:rPr>
              <a:t>(25%)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5AA04C-1B2E-82A8-2B0A-2F7DE344B574}"/>
              </a:ext>
            </a:extLst>
          </p:cNvPr>
          <p:cNvSpPr/>
          <p:nvPr/>
        </p:nvSpPr>
        <p:spPr>
          <a:xfrm>
            <a:off x="1322427" y="2945768"/>
            <a:ext cx="1371222" cy="752848"/>
          </a:xfrm>
          <a:prstGeom prst="rect">
            <a:avLst/>
          </a:prstGeom>
          <a:solidFill>
            <a:srgbClr val="944F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YouTube</a:t>
            </a:r>
            <a:br>
              <a:rPr lang="en-US" sz="1200" b="1">
                <a:solidFill>
                  <a:schemeClr val="bg1"/>
                </a:solidFill>
              </a:rPr>
            </a:br>
            <a:r>
              <a:rPr lang="en-US" sz="1200" b="1">
                <a:solidFill>
                  <a:schemeClr val="bg1"/>
                </a:solidFill>
              </a:rPr>
              <a:t>(Audience)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endParaRPr lang="en-US" sz="1200" b="1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B7B424-CDC5-F828-B50A-8336C93C9108}"/>
              </a:ext>
            </a:extLst>
          </p:cNvPr>
          <p:cNvSpPr/>
          <p:nvPr/>
        </p:nvSpPr>
        <p:spPr>
          <a:xfrm>
            <a:off x="2861552" y="2955598"/>
            <a:ext cx="1371222" cy="7528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CTV</a:t>
            </a:r>
            <a:br>
              <a:rPr lang="en-US" sz="1200" b="1">
                <a:solidFill>
                  <a:schemeClr val="bg1"/>
                </a:solidFill>
              </a:rPr>
            </a:br>
            <a:r>
              <a:rPr lang="en-US" sz="1200" b="1">
                <a:solidFill>
                  <a:schemeClr val="bg1"/>
                </a:solidFill>
              </a:rPr>
              <a:t>(Placement)</a:t>
            </a:r>
            <a:br>
              <a:rPr lang="en-US" sz="1200" b="1">
                <a:solidFill>
                  <a:schemeClr val="bg1"/>
                </a:solidFill>
              </a:rPr>
            </a:br>
            <a:endParaRPr lang="en-US" sz="1200" b="1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C9AE20-1169-9E8C-28E6-5DF7FE7CA257}"/>
              </a:ext>
            </a:extLst>
          </p:cNvPr>
          <p:cNvSpPr/>
          <p:nvPr/>
        </p:nvSpPr>
        <p:spPr>
          <a:xfrm>
            <a:off x="4640821" y="2965715"/>
            <a:ext cx="1371222" cy="7528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Audience</a:t>
            </a:r>
            <a:br>
              <a:rPr lang="en-US" sz="1200" b="1">
                <a:solidFill>
                  <a:schemeClr val="bg1"/>
                </a:solidFill>
              </a:rPr>
            </a:br>
            <a:endParaRPr lang="en-US" sz="1200" b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C63C7F-79DA-F5C2-4C0A-8B32ECA055DA}"/>
              </a:ext>
            </a:extLst>
          </p:cNvPr>
          <p:cNvSpPr/>
          <p:nvPr/>
        </p:nvSpPr>
        <p:spPr>
          <a:xfrm>
            <a:off x="6179948" y="2955883"/>
            <a:ext cx="1371222" cy="75284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Placement</a:t>
            </a:r>
            <a:br>
              <a:rPr lang="en-US" sz="1200" b="1">
                <a:solidFill>
                  <a:schemeClr val="bg1"/>
                </a:solidFill>
              </a:rPr>
            </a:br>
            <a:endParaRPr lang="en-US" sz="1200" b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75E374-5D8D-F98E-8BD3-F3FFEA4D06D8}"/>
              </a:ext>
            </a:extLst>
          </p:cNvPr>
          <p:cNvSpPr/>
          <p:nvPr/>
        </p:nvSpPr>
        <p:spPr>
          <a:xfrm>
            <a:off x="7959204" y="2965432"/>
            <a:ext cx="1371222" cy="75284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Display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94C60-9D80-BCA2-73C0-1D4C5122A305}"/>
              </a:ext>
            </a:extLst>
          </p:cNvPr>
          <p:cNvSpPr/>
          <p:nvPr/>
        </p:nvSpPr>
        <p:spPr>
          <a:xfrm>
            <a:off x="9498331" y="2955598"/>
            <a:ext cx="1371222" cy="75284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YouTube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9645E0-B016-DA2B-AE10-FD8B49461577}"/>
              </a:ext>
            </a:extLst>
          </p:cNvPr>
          <p:cNvSpPr/>
          <p:nvPr/>
        </p:nvSpPr>
        <p:spPr>
          <a:xfrm>
            <a:off x="1322426" y="3811905"/>
            <a:ext cx="1371222" cy="752848"/>
          </a:xfrm>
          <a:prstGeom prst="rect">
            <a:avLst/>
          </a:prstGeom>
          <a:solidFill>
            <a:srgbClr val="944F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YT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E09AD1-EDB9-D0F4-E0AC-5241041BCC17}"/>
              </a:ext>
            </a:extLst>
          </p:cNvPr>
          <p:cNvSpPr/>
          <p:nvPr/>
        </p:nvSpPr>
        <p:spPr>
          <a:xfrm>
            <a:off x="2861551" y="3821735"/>
            <a:ext cx="1371222" cy="7528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YT + OTT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03F01F-EDD3-90E5-10F3-ED4F61CD187A}"/>
              </a:ext>
            </a:extLst>
          </p:cNvPr>
          <p:cNvSpPr/>
          <p:nvPr/>
        </p:nvSpPr>
        <p:spPr>
          <a:xfrm>
            <a:off x="1322431" y="1543862"/>
            <a:ext cx="9547122" cy="5125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600" b="1">
                <a:solidFill>
                  <a:schemeClr val="bg1"/>
                </a:solidFill>
              </a:rPr>
              <a:t>TARGETING STRUCTURE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B41A6D-1EB2-7BF7-0FF4-4ED93BFD3594}"/>
              </a:ext>
            </a:extLst>
          </p:cNvPr>
          <p:cNvSpPr/>
          <p:nvPr/>
        </p:nvSpPr>
        <p:spPr>
          <a:xfrm>
            <a:off x="4640821" y="3822022"/>
            <a:ext cx="1371222" cy="752848"/>
          </a:xfrm>
          <a:prstGeom prst="rect">
            <a:avLst/>
          </a:prstGeom>
          <a:solidFill>
            <a:srgbClr val="944F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Standard Banners</a:t>
            </a:r>
            <a:br>
              <a:rPr lang="en-US" sz="1200" b="1">
                <a:solidFill>
                  <a:schemeClr val="bg1"/>
                </a:solidFill>
              </a:rPr>
            </a:br>
            <a:endParaRPr lang="en-US" sz="1200" b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7B3335-FD72-A8B2-746D-416F42CE32AC}"/>
              </a:ext>
            </a:extLst>
          </p:cNvPr>
          <p:cNvSpPr/>
          <p:nvPr/>
        </p:nvSpPr>
        <p:spPr>
          <a:xfrm>
            <a:off x="6179948" y="3822021"/>
            <a:ext cx="1371222" cy="7528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Rich media Banners</a:t>
            </a:r>
            <a:br>
              <a:rPr lang="en-US" sz="1200" b="1">
                <a:solidFill>
                  <a:schemeClr val="bg1"/>
                </a:solidFill>
              </a:rPr>
            </a:br>
            <a:endParaRPr lang="en-US" sz="1200" b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B95CEA-2603-F9B7-544F-A12E1495F897}"/>
              </a:ext>
            </a:extLst>
          </p:cNvPr>
          <p:cNvSpPr/>
          <p:nvPr/>
        </p:nvSpPr>
        <p:spPr>
          <a:xfrm>
            <a:off x="1322431" y="4942142"/>
            <a:ext cx="2910347" cy="3036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Reach Builder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F86A42E-0255-20B2-DF8D-15CFD3C577CF}"/>
              </a:ext>
            </a:extLst>
          </p:cNvPr>
          <p:cNvSpPr/>
          <p:nvPr/>
        </p:nvSpPr>
        <p:spPr>
          <a:xfrm>
            <a:off x="1322431" y="5297387"/>
            <a:ext cx="2910347" cy="30363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lang="en-US" sz="1200" b="1">
                <a:solidFill>
                  <a:schemeClr val="bg1"/>
                </a:solidFill>
              </a:rPr>
              <a:t>Frequency Builder</a:t>
            </a:r>
          </a:p>
        </p:txBody>
      </p:sp>
    </p:spTree>
    <p:extLst>
      <p:ext uri="{BB962C8B-B14F-4D97-AF65-F5344CB8AC3E}">
        <p14:creationId xmlns:p14="http://schemas.microsoft.com/office/powerpoint/2010/main" val="2122679975"/>
      </p:ext>
    </p:extLst>
  </p:cSld>
  <p:clrMapOvr>
    <a:masterClrMapping/>
  </p:clrMapOvr>
</p:sld>
</file>

<file path=ppt/theme/theme1.xml><?xml version="1.0" encoding="utf-8"?>
<a:theme xmlns:a="http://schemas.openxmlformats.org/drawingml/2006/main" name="emTemplate // Jan 2023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M 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72000" rIns="72000" rtlCol="0" anchor="ctr"/>
      <a:lstStyle>
        <a:defPPr algn="ctr">
          <a:lnSpc>
            <a:spcPct val="110000"/>
          </a:lnSpc>
          <a:spcAft>
            <a:spcPts val="600"/>
          </a:spcAft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custClrLst>
    <a:custClr name="blank">
      <a:srgbClr val="FFFFFF"/>
    </a:custClr>
    <a:custClr name="Black Tint 1">
      <a:srgbClr val="3B3F3D"/>
    </a:custClr>
    <a:custClr name="Light Clay">
      <a:srgbClr val="CEC3C1"/>
    </a:custClr>
    <a:custClr name="Pink Tint 1">
      <a:srgbClr val="FD4D8B"/>
    </a:custClr>
    <a:custClr name="Turpuoise Tint 1">
      <a:srgbClr val="82E7E7"/>
    </a:custClr>
    <a:custClr name="Cerulean Tint 1">
      <a:srgbClr val="5F78DB"/>
    </a:custClr>
    <a:custClr name="Tangerine Tint 1">
      <a:srgbClr val="FBBC46"/>
    </a:custClr>
    <a:custClr name="Merlot Tint 1">
      <a:srgbClr val="944F7A"/>
    </a:custClr>
    <a:custClr name="Periwinkle Tint 1">
      <a:srgbClr val="C6C6FF"/>
    </a:custClr>
    <a:custClr name="Clay Tint 1">
      <a:srgbClr val="D8CFCE"/>
    </a:custClr>
    <a:custClr name="blank">
      <a:srgbClr val="FFFFFF"/>
    </a:custClr>
    <a:custClr name="Black Tint 2">
      <a:srgbClr val="6C6F6E"/>
    </a:custClr>
    <a:custClr name="Light Clay Tint 2">
      <a:srgbClr val="D8CFCE"/>
    </a:custClr>
    <a:custClr name="Pink Tint 2">
      <a:srgbClr val="FD6896"/>
    </a:custClr>
    <a:custClr name="Turpuoise Tint 2">
      <a:srgbClr val="A4EEEE"/>
    </a:custClr>
    <a:custClr name="Cerulean Tint 2">
      <a:srgbClr val="8B9DE5"/>
    </a:custClr>
    <a:custClr name="Tangerine Tint 2">
      <a:srgbClr val="FCCE79"/>
    </a:custClr>
    <a:custClr name="Merlot Tint 2">
      <a:srgbClr val="AF7B9B"/>
    </a:custClr>
    <a:custClr name="Periwinkle Tint 2">
      <a:srgbClr val="D4D4FF"/>
    </a:custClr>
    <a:custClr name="Clay Tint 2">
      <a:srgbClr val="E3DCDB"/>
    </a:custClr>
    <a:custClr name="blank">
      <a:srgbClr val="FFFFFF"/>
    </a:custClr>
    <a:custClr name="Black Tint 3">
      <a:srgbClr val="9D9F9E"/>
    </a:custClr>
    <a:custClr name="Light Clay Tint 3">
      <a:srgbClr val="EDE9E9"/>
    </a:custClr>
    <a:custClr name="Pink Tint 3">
      <a:srgbClr val="FE84AE"/>
    </a:custClr>
    <a:custClr name="Turpuoise Tint 3">
      <a:srgbClr val="C6F4F4"/>
    </a:custClr>
    <a:custClr name="Cerulean Tint 3">
      <a:srgbClr val="B6C2EE"/>
    </a:custClr>
    <a:custClr name="Tangerine Tint 3">
      <a:srgbClr val="FDE1AB"/>
    </a:custClr>
    <a:custClr name="Merlot Tint 3">
      <a:srgbClr val="C9A7BD"/>
    </a:custClr>
    <a:custClr name="Periwinkle Tint 3">
      <a:srgbClr val="E3E3FF"/>
    </a:custClr>
    <a:custClr name="Clay Tint 3">
      <a:srgbClr val="EDE9E9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3113</Words>
  <Application>Microsoft Office PowerPoint</Application>
  <PresentationFormat>Widescreen</PresentationFormat>
  <Paragraphs>776</Paragraphs>
  <Slides>25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Wingdings</vt:lpstr>
      <vt:lpstr>Montserrat SemiBold</vt:lpstr>
      <vt:lpstr>Arial</vt:lpstr>
      <vt:lpstr>vivo Office</vt:lpstr>
      <vt:lpstr>Calibri</vt:lpstr>
      <vt:lpstr>Century Gothic</vt:lpstr>
      <vt:lpstr>System Font Regular</vt:lpstr>
      <vt:lpstr>Courier New</vt:lpstr>
      <vt:lpstr>emTemplate // Jan 2023</vt:lpstr>
      <vt:lpstr>PowerPoint Presentation</vt:lpstr>
      <vt:lpstr>PowerPoint Presentation</vt:lpstr>
      <vt:lpstr>PowerPoint Presentation</vt:lpstr>
      <vt:lpstr>1. Key takeaways from X Fold3 Brief</vt:lpstr>
      <vt:lpstr>Audience input derived from the brief </vt:lpstr>
      <vt:lpstr>Audience planning process for X Fold3</vt:lpstr>
      <vt:lpstr>Key Traits of X Series Purchase intenders</vt:lpstr>
      <vt:lpstr>Architect defines our TG as Millennials with almost equal gender split..</vt:lpstr>
      <vt:lpstr>..career focused, at a life stage to get married and invest in high ticket item purchases</vt:lpstr>
      <vt:lpstr>“Millennials” clearly define our core TG with Females contributing towards a substantial share</vt:lpstr>
      <vt:lpstr>Our TG is invested in emerging tech &amp; high-ticket items</vt:lpstr>
      <vt:lpstr>is tech friendly, with higher use of voice assistant tech</vt:lpstr>
      <vt:lpstr>Addressing the requirements</vt:lpstr>
      <vt:lpstr>Key TG takeaways &amp; recommendations for vivo X Fold3</vt:lpstr>
      <vt:lpstr>Our Core TG is highly Digitally Active, but they also spend a fair share of time on TV and Print</vt:lpstr>
      <vt:lpstr>with high Affinity Index, towards Gaming, Print, TV &amp; Online Video Ads</vt:lpstr>
      <vt:lpstr>Sizing the Potential of our TG – Option 3 – Targeting only Core</vt:lpstr>
      <vt:lpstr>Budget Distribution across channels – Option 3 – Targeting only Core</vt:lpstr>
      <vt:lpstr>Channel Split Comparison - X100 TG vs Option 3 TG</vt:lpstr>
      <vt:lpstr>Reach &amp; Frequency dispersion - Option 3 (8 Cr) Forecasting 5+ Unique Reach of 36Mn+ for X Fold3</vt:lpstr>
      <vt:lpstr>Budget Phasing - Option 3 8Cr (8 Cr)</vt:lpstr>
      <vt:lpstr>X Fold3 Tentative KPIs</vt:lpstr>
      <vt:lpstr>X Fold3 Tentative QV Trend</vt:lpstr>
      <vt:lpstr>Search Prioritize targeting competition to capture existing searches</vt:lpstr>
      <vt:lpstr>Display &amp; Video Auction Approach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revision>3</cp:revision>
  <dcterms:created xsi:type="dcterms:W3CDTF">2023-11-08T12:29:34Z</dcterms:created>
  <dcterms:modified xsi:type="dcterms:W3CDTF">2025-04-22T09:19:30Z</dcterms:modified>
</cp:coreProperties>
</file>