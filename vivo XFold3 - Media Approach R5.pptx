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7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1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charts/chart18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charts/chart2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2.xml" ContentType="application/vnd.openxmlformats-officedocument.themeOverride+xml"/>
  <Override PartName="/ppt/charts/chart2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3.xml" ContentType="application/vnd.openxmlformats-officedocument.themeOverr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4.xml" ContentType="application/vnd.openxmlformats-officedocument.themeOverr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2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5.xml" ContentType="application/vnd.openxmlformats-officedocument.themeOverride+xml"/>
  <Override PartName="/ppt/notesSlides/notesSlide30.xml" ContentType="application/vnd.openxmlformats-officedocument.presentationml.notesSlide+xml"/>
  <Override PartName="/ppt/charts/chart2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6.xml" ContentType="application/vnd.openxmlformats-officedocument.themeOverride+xml"/>
  <Override PartName="/ppt/charts/chart3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7.xml" ContentType="application/vnd.openxmlformats-officedocument.themeOverride+xml"/>
  <Override PartName="/ppt/charts/chart3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8.xml" ContentType="application/vnd.openxmlformats-officedocument.themeOverr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717" r:id="rId1"/>
  </p:sldMasterIdLst>
  <p:notesMasterIdLst>
    <p:notesMasterId r:id="rId51"/>
  </p:notesMasterIdLst>
  <p:handoutMasterIdLst>
    <p:handoutMasterId r:id="rId52"/>
  </p:handoutMasterIdLst>
  <p:sldIdLst>
    <p:sldId id="2147476102" r:id="rId2"/>
    <p:sldId id="260" r:id="rId3"/>
    <p:sldId id="2147476177" r:id="rId4"/>
    <p:sldId id="2147476158" r:id="rId5"/>
    <p:sldId id="2147476183" r:id="rId6"/>
    <p:sldId id="2147476118" r:id="rId7"/>
    <p:sldId id="2147476184" r:id="rId8"/>
    <p:sldId id="2147476114" r:id="rId9"/>
    <p:sldId id="2147476115" r:id="rId10"/>
    <p:sldId id="2147476117" r:id="rId11"/>
    <p:sldId id="2147476186" r:id="rId12"/>
    <p:sldId id="2147476187" r:id="rId13"/>
    <p:sldId id="2147476111" r:id="rId14"/>
    <p:sldId id="2147476192" r:id="rId15"/>
    <p:sldId id="2147476190" r:id="rId16"/>
    <p:sldId id="2147476191" r:id="rId17"/>
    <p:sldId id="2147476193" r:id="rId18"/>
    <p:sldId id="2147476124" r:id="rId19"/>
    <p:sldId id="2147476130" r:id="rId20"/>
    <p:sldId id="2147476132" r:id="rId21"/>
    <p:sldId id="2147476139" r:id="rId22"/>
    <p:sldId id="2147476149" r:id="rId23"/>
    <p:sldId id="2147476150" r:id="rId24"/>
    <p:sldId id="410" r:id="rId25"/>
    <p:sldId id="2147476134" r:id="rId26"/>
    <p:sldId id="2147476152" r:id="rId27"/>
    <p:sldId id="2147476229" r:id="rId28"/>
    <p:sldId id="2147476234" r:id="rId29"/>
    <p:sldId id="2147476242" r:id="rId30"/>
    <p:sldId id="2147476237" r:id="rId31"/>
    <p:sldId id="2147476236" r:id="rId32"/>
    <p:sldId id="2147476243" r:id="rId33"/>
    <p:sldId id="2147476240" r:id="rId34"/>
    <p:sldId id="2147476140" r:id="rId35"/>
    <p:sldId id="2147476147" r:id="rId36"/>
    <p:sldId id="2147476154" r:id="rId37"/>
    <p:sldId id="2147476206" r:id="rId38"/>
    <p:sldId id="2147476223" r:id="rId39"/>
    <p:sldId id="2147476205" r:id="rId40"/>
    <p:sldId id="2147476164" r:id="rId41"/>
    <p:sldId id="2147476170" r:id="rId42"/>
    <p:sldId id="2147476172" r:id="rId43"/>
    <p:sldId id="2147476195" r:id="rId44"/>
    <p:sldId id="2147476241" r:id="rId45"/>
    <p:sldId id="2147476145" r:id="rId46"/>
    <p:sldId id="2147476232" r:id="rId47"/>
    <p:sldId id="2147476231" r:id="rId48"/>
    <p:sldId id="2147476233" r:id="rId49"/>
    <p:sldId id="2147476235" r:id="rId50"/>
  </p:sldIdLst>
  <p:sldSz cx="12192000" cy="6858000"/>
  <p:notesSz cx="6858000" cy="9144000"/>
  <p:embeddedFontLst>
    <p:embeddedFont>
      <p:font typeface="Aptos" panose="020B0004020202020204" pitchFamily="34" charset="0"/>
      <p:regular r:id="rId53"/>
      <p:bold r:id="rId54"/>
    </p:embeddedFon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Century Gothic" panose="020B0502020202020204" pitchFamily="34" charset="0"/>
      <p:regular r:id="rId59"/>
      <p:bold r:id="rId60"/>
      <p:italic r:id="rId61"/>
      <p:boldItalic r:id="rId62"/>
    </p:embeddedFont>
    <p:embeddedFont>
      <p:font typeface="vivo Office" panose="020B0604020202020204" charset="0"/>
      <p:regular r:id="rId63"/>
      <p:bold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40" userDrawn="1">
          <p15:clr>
            <a:srgbClr val="A4A3A4"/>
          </p15:clr>
        </p15:guide>
        <p15:guide id="2" orient="horz" pos="3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45" roundtripDataSignature="AMtx7mjLreMVb6Kkm6Wz+jpIsvZbD0y+F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1C8"/>
    <a:srgbClr val="D9D9D9"/>
    <a:srgbClr val="68B26A"/>
    <a:srgbClr val="FF0000"/>
    <a:srgbClr val="008291"/>
    <a:srgbClr val="E7334A"/>
    <a:srgbClr val="4A66AC"/>
    <a:srgbClr val="E5E9EE"/>
    <a:srgbClr val="6C6F8B"/>
    <a:srgbClr val="B7C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2D5D0-110E-4652-9957-FA4A55FEC9F2}" v="4" dt="2024-07-23T09:08:22.402"/>
    <p1510:client id="{4755DFCF-00E3-4C43-9078-FB9C89F6D3DA}" v="2" dt="2024-07-24T07:36:01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76"/>
      </p:cViewPr>
      <p:guideLst>
        <p:guide pos="6040"/>
        <p:guide orient="horz" pos="3456"/>
        <p:guide pos="3840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15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4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148" Type="http://schemas.openxmlformats.org/officeDocument/2006/relationships/theme" Target="theme/theme1.xml"/><Relationship Id="rId15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146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package" Target="../embeddings/Microsoft_Excel_Worksheet3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171242022306341"/>
          <c:y val="0.18391379383945505"/>
          <c:w val="0.76730770423789829"/>
          <c:h val="0.566885306742239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 bracket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557-4324-A86B-FFD450C03FD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557-4324-A86B-FFD450C03FD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557-4324-A86B-FFD450C03FD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557-4324-A86B-FFD450C03FD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557-4324-A86B-FFD450C03F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25-30</c:v>
                </c:pt>
                <c:pt idx="2">
                  <c:v>31-34</c:v>
                </c:pt>
                <c:pt idx="3">
                  <c:v>35-40</c:v>
                </c:pt>
                <c:pt idx="4">
                  <c:v>&gt;40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7.5999999999999998E-2</c:v>
                </c:pt>
                <c:pt idx="1">
                  <c:v>0.4</c:v>
                </c:pt>
                <c:pt idx="2">
                  <c:v>0.253</c:v>
                </c:pt>
                <c:pt idx="3">
                  <c:v>0.14099999999999999</c:v>
                </c:pt>
                <c:pt idx="4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557-4324-A86B-FFD450C03F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02676032"/>
        <c:axId val="602660224"/>
      </c:barChart>
      <c:catAx>
        <c:axId val="602676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660224"/>
        <c:crosses val="autoZero"/>
        <c:auto val="1"/>
        <c:lblAlgn val="ctr"/>
        <c:lblOffset val="100"/>
        <c:noMultiLvlLbl val="0"/>
      </c:catAx>
      <c:valAx>
        <c:axId val="602660224"/>
        <c:scaling>
          <c:orientation val="minMax"/>
        </c:scaling>
        <c:delete val="0"/>
        <c:axPos val="l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676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D8-492A-A6ED-460F68DCD0C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D8-492A-A6ED-460F68DCD0C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D8-492A-A6ED-460F68DCD0C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FD8-492A-A6ED-460F68DCD0C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FD8-492A-A6ED-460F68DCD0CC}"/>
              </c:ext>
            </c:extLst>
          </c:dPt>
          <c:dLbls>
            <c:dLbl>
              <c:idx val="0"/>
              <c:layout>
                <c:manualLayout>
                  <c:x val="-0.16302575961656712"/>
                  <c:y val="-2.740159236417903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D8-492A-A6ED-460F68DCD0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0.60599999999999998</c:v>
                </c:pt>
                <c:pt idx="1">
                  <c:v>0.39400000000000002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D8-492A-A6ED-460F68DCD0C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19613093033346"/>
          <c:y val="0.20641014136827626"/>
          <c:w val="0.75047850652684733"/>
          <c:h val="0.49477633435141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bracket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9D0-4EDA-BD03-20E598F7E10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9D0-4EDA-BD03-20E598F7E10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9D0-4EDA-BD03-20E598F7E10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9D0-4EDA-BD03-20E598F7E10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9D0-4EDA-BD03-20E598F7E1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5 - 10 Lacs</c:v>
                </c:pt>
                <c:pt idx="1">
                  <c:v>10 - 20 Lacs</c:v>
                </c:pt>
                <c:pt idx="2">
                  <c:v>20 - 30 Lacs</c:v>
                </c:pt>
                <c:pt idx="3">
                  <c:v>30 - 40 Lacs</c:v>
                </c:pt>
                <c:pt idx="4">
                  <c:v>above 40 Lacs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0.53500000000000003</c:v>
                </c:pt>
                <c:pt idx="1">
                  <c:v>0.27600000000000002</c:v>
                </c:pt>
                <c:pt idx="2">
                  <c:v>9.4E-2</c:v>
                </c:pt>
                <c:pt idx="3">
                  <c:v>4.2999999999999997E-2</c:v>
                </c:pt>
                <c:pt idx="4">
                  <c:v>6.2E-2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9D0-4EDA-BD03-20E598F7E1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011373343"/>
        <c:axId val="1011367935"/>
      </c:barChart>
      <c:catAx>
        <c:axId val="10113733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367935"/>
        <c:crosses val="autoZero"/>
        <c:auto val="1"/>
        <c:lblAlgn val="ctr"/>
        <c:lblOffset val="100"/>
        <c:noMultiLvlLbl val="0"/>
      </c:catAx>
      <c:valAx>
        <c:axId val="1011367935"/>
        <c:scaling>
          <c:orientation val="minMax"/>
        </c:scaling>
        <c:delete val="0"/>
        <c:axPos val="l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373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baseline="0">
                <a:effectLst/>
              </a:rPr>
              <a:t>Are you or h</a:t>
            </a:r>
            <a:r>
              <a:rPr lang="en-US" sz="1200"/>
              <a:t>ave you ever been</a:t>
            </a:r>
            <a:r>
              <a:rPr lang="en-US" sz="1200" baseline="0"/>
              <a:t> </a:t>
            </a:r>
            <a:r>
              <a:rPr lang="en-US" sz="1200"/>
              <a:t>interested in buying a foldable smartphone?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Maybe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0.2</c:v>
                </c:pt>
                <c:pt idx="1">
                  <c:v>0.3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97-49CD-B776-902A2CB597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00798944"/>
        <c:axId val="300780224"/>
      </c:barChart>
      <c:catAx>
        <c:axId val="300798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780224"/>
        <c:crosses val="autoZero"/>
        <c:auto val="1"/>
        <c:lblAlgn val="ctr"/>
        <c:lblOffset val="100"/>
        <c:noMultiLvlLbl val="0"/>
      </c:catAx>
      <c:valAx>
        <c:axId val="30078022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300798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Are you comfortable buying a foldable smartphone online?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0.54700000000000004</c:v>
                </c:pt>
                <c:pt idx="1">
                  <c:v>0.45300000000000001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97-49CD-B776-902A2CB597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00798944"/>
        <c:axId val="300780224"/>
      </c:barChart>
      <c:catAx>
        <c:axId val="300798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780224"/>
        <c:crosses val="autoZero"/>
        <c:auto val="1"/>
        <c:lblAlgn val="ctr"/>
        <c:lblOffset val="100"/>
        <c:noMultiLvlLbl val="0"/>
      </c:catAx>
      <c:valAx>
        <c:axId val="30078022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30079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Which brand would you prefer to buy</a:t>
            </a:r>
            <a:r>
              <a:rPr lang="en-US" baseline="0"/>
              <a:t> foldable smartphones from?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Google</c:v>
                </c:pt>
                <c:pt idx="1">
                  <c:v>oppo</c:v>
                </c:pt>
                <c:pt idx="2">
                  <c:v>vivo</c:v>
                </c:pt>
                <c:pt idx="3">
                  <c:v>OnePlus</c:v>
                </c:pt>
                <c:pt idx="4">
                  <c:v>Samsung</c:v>
                </c:pt>
                <c:pt idx="5">
                  <c:v>Apple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9.4E-2</c:v>
                </c:pt>
                <c:pt idx="1">
                  <c:v>7.0000000000000001E-3</c:v>
                </c:pt>
                <c:pt idx="2">
                  <c:v>2.3E-2</c:v>
                </c:pt>
                <c:pt idx="3">
                  <c:v>8.7999999999999995E-2</c:v>
                </c:pt>
                <c:pt idx="4">
                  <c:v>0.54100000000000004</c:v>
                </c:pt>
                <c:pt idx="5">
                  <c:v>0.247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8-4123-A98C-AC148C6D2F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300798944"/>
        <c:axId val="300780224"/>
      </c:barChart>
      <c:catAx>
        <c:axId val="300798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780224"/>
        <c:crosses val="autoZero"/>
        <c:auto val="1"/>
        <c:lblAlgn val="ctr"/>
        <c:lblOffset val="100"/>
        <c:noMultiLvlLbl val="0"/>
      </c:catAx>
      <c:valAx>
        <c:axId val="300780224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30079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60"/>
              <a:t>In your view how much should a good quality foldable smartphone cost?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80k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0.53500000000000003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1-42C2-9E59-5F8FA5856A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80k - 100k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31-42C2-9E59-5F8FA5856A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100k - 120k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31-42C2-9E59-5F8FA5856AD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120k-150k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531-42C2-9E59-5F8FA5856A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0814752"/>
        <c:axId val="300815584"/>
      </c:barChart>
      <c:catAx>
        <c:axId val="300814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0815584"/>
        <c:crosses val="autoZero"/>
        <c:auto val="1"/>
        <c:lblAlgn val="ctr"/>
        <c:lblOffset val="100"/>
        <c:noMultiLvlLbl val="0"/>
      </c:catAx>
      <c:valAx>
        <c:axId val="3008155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0814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50"/>
            </a:pPr>
            <a:r>
              <a:rPr lang="en-US" sz="1050"/>
              <a:t>Gender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82-4CD9-876A-EF2B5047B6DE}"/>
              </c:ext>
            </c:extLst>
          </c:dPt>
          <c:dPt>
            <c:idx val="1"/>
            <c:bubble3D val="0"/>
            <c:spPr>
              <a:solidFill>
                <a:srgbClr val="0082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82-4CD9-876A-EF2B5047B6DE}"/>
              </c:ext>
            </c:extLst>
          </c:dPt>
          <c:dLbls>
            <c:dLbl>
              <c:idx val="0"/>
              <c:layout>
                <c:manualLayout>
                  <c:x val="0.11325703385789222"/>
                  <c:y val="-0.13089005235602097"/>
                </c:manualLayout>
              </c:layout>
              <c:numFmt formatCode="#0\%" sourceLinked="0"/>
              <c:spPr/>
              <c:txPr>
                <a:bodyPr wrap="square" lIns="91440" anchor="b" anchorCtr="1"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382-4CD9-876A-EF2B5047B6DE}"/>
                </c:ext>
              </c:extLst>
            </c:dLbl>
            <c:dLbl>
              <c:idx val="1"/>
              <c:layout>
                <c:manualLayout>
                  <c:x val="-0.10729613733905581"/>
                  <c:y val="-0.15270506108202447"/>
                </c:manualLayout>
              </c:layout>
              <c:numFmt formatCode="#0\%" sourceLinked="0"/>
              <c:spPr/>
              <c:txPr>
                <a:bodyPr wrap="square" lIns="91440" anchor="b" anchorCtr="1"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82-4CD9-876A-EF2B5047B6DE}"/>
                </c:ext>
              </c:extLst>
            </c:dLbl>
            <c:numFmt formatCode="#0\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53.74</c:v>
                </c:pt>
                <c:pt idx="1">
                  <c:v>46.26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82-4CD9-876A-EF2B5047B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Age</a:t>
            </a:r>
            <a:r>
              <a:rPr lang="en-US" sz="1000" baseline="0"/>
              <a:t> Share</a:t>
            </a:r>
            <a:endParaRPr lang="en-US" sz="1000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B9B-40E6-AB61-5B775B7E091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B9B-40E6-AB61-5B775B7E091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B9B-40E6-AB61-5B775B7E091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CB9B-40E6-AB61-5B775B7E091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CB9B-40E6-AB61-5B775B7E091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CB9B-40E6-AB61-5B775B7E091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B9B-40E6-AB61-5B775B7E091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B9B-40E6-AB61-5B775B7E091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B9B-40E6-AB61-5B775B7E091F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B9B-40E6-AB61-5B775B7E091F}"/>
              </c:ext>
            </c:extLst>
          </c:dPt>
          <c:dLbls>
            <c:numFmt formatCode="#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&gt;54</c:v>
                </c:pt>
                <c:pt idx="1">
                  <c:v>50-54</c:v>
                </c:pt>
                <c:pt idx="2">
                  <c:v>45-49</c:v>
                </c:pt>
                <c:pt idx="3">
                  <c:v>40-44</c:v>
                </c:pt>
                <c:pt idx="4">
                  <c:v>35-39</c:v>
                </c:pt>
                <c:pt idx="5">
                  <c:v>30-34</c:v>
                </c:pt>
                <c:pt idx="6">
                  <c:v>25-29</c:v>
                </c:pt>
                <c:pt idx="7">
                  <c:v>18-24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7.49</c:v>
                </c:pt>
                <c:pt idx="2">
                  <c:v>20.05</c:v>
                </c:pt>
                <c:pt idx="3">
                  <c:v>14.81</c:v>
                </c:pt>
                <c:pt idx="4">
                  <c:v>21.41</c:v>
                </c:pt>
                <c:pt idx="5">
                  <c:v>17.399999999999999</c:v>
                </c:pt>
                <c:pt idx="6">
                  <c:v>12.37</c:v>
                </c:pt>
                <c:pt idx="7">
                  <c:v>6.47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B9B-40E6-AB61-5B775B7E09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Edu. Level</a:t>
            </a:r>
            <a:r>
              <a:rPr lang="en-US" sz="1000" baseline="0"/>
              <a:t> Share</a:t>
            </a:r>
            <a:endParaRPr lang="en-US" sz="1000"/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B1-4F9F-BAF6-1AD94A98AC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B1-4F9F-BAF6-1AD94A98AC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B1-4F9F-BAF6-1AD94A98AC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B1-4F9F-BAF6-1AD94A98ACA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B1-4F9F-BAF6-1AD94A98ACA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FB1-4F9F-BAF6-1AD94A98ACAD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FB1-4F9F-BAF6-1AD94A98ACAD}"/>
              </c:ext>
            </c:extLst>
          </c:dPt>
          <c:dPt>
            <c:idx val="7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FB1-4F9F-BAF6-1AD94A98ACAD}"/>
              </c:ext>
            </c:extLst>
          </c:dPt>
          <c:dLbls>
            <c:dLbl>
              <c:idx val="0"/>
              <c:layout>
                <c:manualLayout>
                  <c:x val="0.10835225481757091"/>
                  <c:y val="-2.1367528557617792E-2"/>
                </c:manualLayout>
              </c:layout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B1-4F9F-BAF6-1AD94A98ACAD}"/>
                </c:ext>
              </c:extLst>
            </c:dLbl>
            <c:dLbl>
              <c:idx val="1"/>
              <c:layout>
                <c:manualLayout>
                  <c:x val="-9.0781618901208061E-2"/>
                  <c:y val="-4.7008562826759144E-2"/>
                </c:manualLayout>
              </c:layout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B1-4F9F-BAF6-1AD94A98ACAD}"/>
                </c:ext>
              </c:extLst>
            </c:dLbl>
            <c:dLbl>
              <c:idx val="2"/>
              <c:layout>
                <c:manualLayout>
                  <c:x val="-6.408215635194664E-2"/>
                  <c:y val="-7.1214048120509882E-2"/>
                </c:manualLayout>
              </c:layout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B1-4F9F-BAF6-1AD94A98ACAD}"/>
                </c:ext>
              </c:extLst>
            </c:dLbl>
            <c:dLbl>
              <c:idx val="3"/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B1-4F9F-BAF6-1AD94A98ACAD}"/>
                </c:ext>
              </c:extLst>
            </c:dLbl>
            <c:dLbl>
              <c:idx val="4"/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FB1-4F9F-BAF6-1AD94A98ACAD}"/>
                </c:ext>
              </c:extLst>
            </c:dLbl>
            <c:dLbl>
              <c:idx val="5"/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FB1-4F9F-BAF6-1AD94A98ACAD}"/>
                </c:ext>
              </c:extLst>
            </c:dLbl>
            <c:dLbl>
              <c:idx val="6"/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FB1-4F9F-BAF6-1AD94A98ACAD}"/>
                </c:ext>
              </c:extLst>
            </c:dLbl>
            <c:dLbl>
              <c:idx val="7"/>
              <c:numFmt formatCode="#0\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tx1"/>
                      </a:solidFill>
                      <a:latin typeface="Helvetica Neue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FB1-4F9F-BAF6-1AD94A98ACAD}"/>
                </c:ext>
              </c:extLst>
            </c:dLbl>
            <c:numFmt formatCode="#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Grad/Post Grad (Professional)</c:v>
                </c:pt>
                <c:pt idx="1">
                  <c:v>Grad/Post Grad (General)</c:v>
                </c:pt>
                <c:pt idx="2">
                  <c:v>Undergraduate &amp; below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51.74</c:v>
                </c:pt>
                <c:pt idx="1">
                  <c:v>41.21</c:v>
                </c:pt>
                <c:pt idx="2">
                  <c:v>7.04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FB1-4F9F-BAF6-1AD94A98A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50" b="1"/>
            </a:pPr>
            <a:r>
              <a:rPr lang="en-US" sz="1050" b="1"/>
              <a:t>Gender Affinity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82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2DA0-45BF-8369-AD79F6D2CE7E}"/>
              </c:ext>
            </c:extLst>
          </c:dPt>
          <c:dPt>
            <c:idx val="1"/>
            <c:invertIfNegative val="0"/>
            <c:bubble3D val="0"/>
            <c:spPr>
              <a:solidFill>
                <a:srgbClr val="4A66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DA0-45BF-8369-AD79F6D2CE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108.74140024281667</c:v>
                </c:pt>
                <c:pt idx="1">
                  <c:v>91.459074733096074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A0-45BF-8369-AD79F6D2CE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Edu. Level</a:t>
            </a:r>
            <a:r>
              <a:rPr lang="en-US" sz="1000" baseline="0"/>
              <a:t> Affinity</a:t>
            </a:r>
            <a:endParaRPr lang="en-US" sz="1000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D5B-4093-835D-3565E1E6913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D5B-4093-835D-3565E1E6913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D5B-4093-835D-3565E1E6913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DD5B-4093-835D-3565E1E6913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DD5B-4093-835D-3565E1E6913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DD5B-4093-835D-3565E1E691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D5B-4093-835D-3565E1E6913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5B-4093-835D-3565E1E691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Other/Don't know</c:v>
                </c:pt>
                <c:pt idx="1">
                  <c:v>Grad/Post Grad (Professional)</c:v>
                </c:pt>
                <c:pt idx="2">
                  <c:v>Grad/Post Grad (General)</c:v>
                </c:pt>
                <c:pt idx="3">
                  <c:v>Some College (including Diploma) but not Graduate</c:v>
                </c:pt>
                <c:pt idx="4">
                  <c:v>SSC/HSC</c:v>
                </c:pt>
                <c:pt idx="5">
                  <c:v>School 5-9 years</c:v>
                </c:pt>
                <c:pt idx="6">
                  <c:v>Literate, but no formal school /up to class 4)</c:v>
                </c:pt>
                <c:pt idx="7">
                  <c:v>Illiterate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6.7484662576687118</c:v>
                </c:pt>
                <c:pt idx="1">
                  <c:v>166.74186271350305</c:v>
                </c:pt>
                <c:pt idx="2">
                  <c:v>94.866482504604051</c:v>
                </c:pt>
                <c:pt idx="3">
                  <c:v>26.475279106858057</c:v>
                </c:pt>
                <c:pt idx="4">
                  <c:v>20.8</c:v>
                </c:pt>
                <c:pt idx="5">
                  <c:v>60.427807486631004</c:v>
                </c:pt>
                <c:pt idx="6">
                  <c:v>13.461538461538463</c:v>
                </c:pt>
                <c:pt idx="7">
                  <c:v>57.823129251700678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5B-4093-835D-3565E1E691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Age Affinity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822-4957-8E41-B81738EC260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822-4957-8E41-B81738EC260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822-4957-8E41-B81738EC260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822-4957-8E41-B81738EC260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822-4957-8E41-B81738EC260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8822-4957-8E41-B81738EC260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822-4957-8E41-B81738EC260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822-4957-8E41-B81738EC260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822-4957-8E41-B81738EC260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822-4957-8E41-B81738EC26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&gt;54</c:v>
                </c:pt>
                <c:pt idx="1">
                  <c:v>50-54</c:v>
                </c:pt>
                <c:pt idx="2">
                  <c:v>45-49</c:v>
                </c:pt>
                <c:pt idx="3">
                  <c:v>40-44</c:v>
                </c:pt>
                <c:pt idx="4">
                  <c:v>35-39</c:v>
                </c:pt>
                <c:pt idx="5">
                  <c:v>30-34</c:v>
                </c:pt>
                <c:pt idx="6">
                  <c:v>25-29</c:v>
                </c:pt>
                <c:pt idx="7">
                  <c:v>18-24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125.67114093959732</c:v>
                </c:pt>
                <c:pt idx="2">
                  <c:v>162.34817813765184</c:v>
                </c:pt>
                <c:pt idx="3">
                  <c:v>139.06103286384976</c:v>
                </c:pt>
                <c:pt idx="4">
                  <c:v>152.49287749287751</c:v>
                </c:pt>
                <c:pt idx="5">
                  <c:v>114.4736842105263</c:v>
                </c:pt>
                <c:pt idx="6">
                  <c:v>70.605022831050221</c:v>
                </c:pt>
                <c:pt idx="7">
                  <c:v>26.647446457990114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822-4957-8E41-B81738EC26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Life Event Audience Share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37D-4F51-8E20-82DFD947B2D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37D-4F51-8E20-82DFD947B2D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B37D-4F51-8E20-82DFD947B2D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B37D-4F51-8E20-82DFD947B2D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B37D-4F51-8E20-82DFD947B2D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B37D-4F51-8E20-82DFD947B2D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37D-4F51-8E20-82DFD947B2D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37D-4F51-8E20-82DFD947B2D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37D-4F51-8E20-82DFD947B2DA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37D-4F51-8E20-82DFD947B2DA}"/>
              </c:ext>
            </c:extLst>
          </c:dPt>
          <c:dLbls>
            <c:numFmt formatCode="#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Purchased first home/ new house</c:v>
                </c:pt>
                <c:pt idx="1">
                  <c:v>Got promoted</c:v>
                </c:pt>
                <c:pt idx="2">
                  <c:v>Started a new business</c:v>
                </c:pt>
                <c:pt idx="3">
                  <c:v>Retirement</c:v>
                </c:pt>
                <c:pt idx="4">
                  <c:v>Got married</c:v>
                </c:pt>
                <c:pt idx="5">
                  <c:v>Started a new job</c:v>
                </c:pt>
                <c:pt idx="6">
                  <c:v>Moved home</c:v>
                </c:pt>
                <c:pt idx="7">
                  <c:v>Bought a car</c:v>
                </c:pt>
                <c:pt idx="8">
                  <c:v>Birth of your second or subsequent child</c:v>
                </c:pt>
                <c:pt idx="9">
                  <c:v>Birth of your first child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15.76</c:v>
                </c:pt>
                <c:pt idx="1">
                  <c:v>27.09</c:v>
                </c:pt>
                <c:pt idx="2">
                  <c:v>20.29</c:v>
                </c:pt>
                <c:pt idx="3">
                  <c:v>0</c:v>
                </c:pt>
                <c:pt idx="4">
                  <c:v>13.12</c:v>
                </c:pt>
                <c:pt idx="5">
                  <c:v>19.14</c:v>
                </c:pt>
                <c:pt idx="6">
                  <c:v>15.62</c:v>
                </c:pt>
                <c:pt idx="7">
                  <c:v>37.35</c:v>
                </c:pt>
                <c:pt idx="8">
                  <c:v>0.86</c:v>
                </c:pt>
                <c:pt idx="9">
                  <c:v>2.0699999999999998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37D-4F51-8E20-82DFD947B2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Life</a:t>
            </a:r>
            <a:r>
              <a:rPr lang="en-US" sz="1400" baseline="0"/>
              <a:t> Event Affinity Index</a:t>
            </a:r>
            <a:endParaRPr lang="en-US" sz="1400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4AB-4DA1-B4B5-9A335632B1F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4AB-4DA1-B4B5-9A335632B1F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4AB-4DA1-B4B5-9A335632B1F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54AB-4DA1-B4B5-9A335632B1F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54AB-4DA1-B4B5-9A335632B1F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54AB-4DA1-B4B5-9A335632B1F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4AB-4DA1-B4B5-9A335632B1F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4AB-4DA1-B4B5-9A335632B1F7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4AB-4DA1-B4B5-9A335632B1F7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4AB-4DA1-B4B5-9A335632B1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tx1"/>
                    </a:solidFill>
                    <a:latin typeface="Helvetica Neu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Purchased first home/ new house</c:v>
                </c:pt>
                <c:pt idx="1">
                  <c:v>Got promoted</c:v>
                </c:pt>
                <c:pt idx="2">
                  <c:v>Started a new business</c:v>
                </c:pt>
                <c:pt idx="3">
                  <c:v>Retirement</c:v>
                </c:pt>
                <c:pt idx="4">
                  <c:v>Got married</c:v>
                </c:pt>
                <c:pt idx="5">
                  <c:v>Started a new job</c:v>
                </c:pt>
                <c:pt idx="6">
                  <c:v>Moved home</c:v>
                </c:pt>
                <c:pt idx="7">
                  <c:v>Bought a car</c:v>
                </c:pt>
                <c:pt idx="8">
                  <c:v>Birth of your second or subsequent child</c:v>
                </c:pt>
                <c:pt idx="9">
                  <c:v>Birth of your first child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194.32799013563502</c:v>
                </c:pt>
                <c:pt idx="1">
                  <c:v>207.26855394032134</c:v>
                </c:pt>
                <c:pt idx="2">
                  <c:v>153.1320754716981</c:v>
                </c:pt>
                <c:pt idx="4">
                  <c:v>170.16861219195849</c:v>
                </c:pt>
                <c:pt idx="5">
                  <c:v>103.01399354144243</c:v>
                </c:pt>
                <c:pt idx="6">
                  <c:v>107.79848171152517</c:v>
                </c:pt>
                <c:pt idx="7">
                  <c:v>230.27127003699141</c:v>
                </c:pt>
                <c:pt idx="8">
                  <c:v>74.137931034482762</c:v>
                </c:pt>
                <c:pt idx="9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4AB-4DA1-B4B5-9A335632B1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/>
              <a:t>Major Purchases last</a:t>
            </a:r>
            <a:r>
              <a:rPr lang="en-US" sz="1100" baseline="0"/>
              <a:t> year</a:t>
            </a:r>
            <a:endParaRPr lang="en-US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41610670334506E-2"/>
          <c:y val="0.10303135278424698"/>
          <c:w val="0.86055624758047311"/>
          <c:h val="0.362986109593630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Samsung Z Fold Share</c:v>
                </c:pt>
              </c:strCache>
            </c:strRef>
          </c:tx>
          <c:spPr>
            <a:solidFill>
              <a:srgbClr val="00829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Travel tickets (e.g. a flight)</c:v>
                </c:pt>
                <c:pt idx="1">
                  <c:v>Jewelry</c:v>
                </c:pt>
                <c:pt idx="2">
                  <c:v>Vacation (domestic)</c:v>
                </c:pt>
                <c:pt idx="3">
                  <c:v>Motorcycle</c:v>
                </c:pt>
                <c:pt idx="4">
                  <c:v>Purse / wallet</c:v>
                </c:pt>
                <c:pt idx="5">
                  <c:v>Wristwatch</c:v>
                </c:pt>
                <c:pt idx="6">
                  <c:v>Life insurance</c:v>
                </c:pt>
                <c:pt idx="7">
                  <c:v>Smart TV</c:v>
                </c:pt>
                <c:pt idx="8">
                  <c:v>Car / automobile</c:v>
                </c:pt>
                <c:pt idx="9">
                  <c:v>Health insurance</c:v>
                </c:pt>
                <c:pt idx="10">
                  <c:v>Glasses / spectacles</c:v>
                </c:pt>
                <c:pt idx="11">
                  <c:v>Handbag / bag</c:v>
                </c:pt>
                <c:pt idx="12">
                  <c:v>Headphones / earphones</c:v>
                </c:pt>
                <c:pt idx="13">
                  <c:v>Laptop</c:v>
                </c:pt>
                <c:pt idx="14">
                  <c:v>Bicycle</c:v>
                </c:pt>
                <c:pt idx="15">
                  <c:v>Experience (e.g. spa trip, day out)</c:v>
                </c:pt>
                <c:pt idx="16">
                  <c:v>Bed</c:v>
                </c:pt>
                <c:pt idx="17">
                  <c:v>Concert tickets</c:v>
                </c:pt>
                <c:pt idx="18">
                  <c:v>Electric-powered scooter</c:v>
                </c:pt>
                <c:pt idx="19">
                  <c:v>Electric trimmers / shavers</c:v>
                </c:pt>
                <c:pt idx="20">
                  <c:v>Car / automotive insurance</c:v>
                </c:pt>
                <c:pt idx="21">
                  <c:v>Refrigerator</c:v>
                </c:pt>
                <c:pt idx="22">
                  <c:v>Hair styling tools</c:v>
                </c:pt>
                <c:pt idx="23">
                  <c:v>Smart wearable device</c:v>
                </c:pt>
                <c:pt idx="24">
                  <c:v>Vacation (abroad)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55.8</c:v>
                </c:pt>
                <c:pt idx="1">
                  <c:v>57</c:v>
                </c:pt>
                <c:pt idx="2">
                  <c:v>66.3</c:v>
                </c:pt>
                <c:pt idx="3">
                  <c:v>56.2</c:v>
                </c:pt>
                <c:pt idx="4">
                  <c:v>50.7</c:v>
                </c:pt>
                <c:pt idx="5">
                  <c:v>54.7</c:v>
                </c:pt>
                <c:pt idx="6">
                  <c:v>52.8</c:v>
                </c:pt>
                <c:pt idx="7">
                  <c:v>53.4</c:v>
                </c:pt>
                <c:pt idx="8">
                  <c:v>58</c:v>
                </c:pt>
                <c:pt idx="9">
                  <c:v>45.9</c:v>
                </c:pt>
                <c:pt idx="10">
                  <c:v>52.5</c:v>
                </c:pt>
                <c:pt idx="11">
                  <c:v>52.3</c:v>
                </c:pt>
                <c:pt idx="12">
                  <c:v>43.4</c:v>
                </c:pt>
                <c:pt idx="13">
                  <c:v>49.9</c:v>
                </c:pt>
                <c:pt idx="14">
                  <c:v>52</c:v>
                </c:pt>
                <c:pt idx="15">
                  <c:v>37.700000000000003</c:v>
                </c:pt>
                <c:pt idx="16">
                  <c:v>41.2</c:v>
                </c:pt>
                <c:pt idx="17">
                  <c:v>40.9</c:v>
                </c:pt>
                <c:pt idx="18">
                  <c:v>44.4</c:v>
                </c:pt>
                <c:pt idx="19">
                  <c:v>46.3</c:v>
                </c:pt>
                <c:pt idx="20">
                  <c:v>40</c:v>
                </c:pt>
                <c:pt idx="21">
                  <c:v>40.1</c:v>
                </c:pt>
                <c:pt idx="22">
                  <c:v>46.6</c:v>
                </c:pt>
                <c:pt idx="23">
                  <c:v>40.6</c:v>
                </c:pt>
                <c:pt idx="24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9-4D50-B4D7-A81729A99C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 series Share</c:v>
                </c:pt>
              </c:strCache>
            </c:strRef>
          </c:tx>
          <c:spPr>
            <a:solidFill>
              <a:srgbClr val="5461C8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Travel tickets (e.g. a flight)</c:v>
                </c:pt>
                <c:pt idx="1">
                  <c:v>Jewelry</c:v>
                </c:pt>
                <c:pt idx="2">
                  <c:v>Vacation (domestic)</c:v>
                </c:pt>
                <c:pt idx="3">
                  <c:v>Motorcycle</c:v>
                </c:pt>
                <c:pt idx="4">
                  <c:v>Purse / wallet</c:v>
                </c:pt>
                <c:pt idx="5">
                  <c:v>Wristwatch</c:v>
                </c:pt>
                <c:pt idx="6">
                  <c:v>Life insurance</c:v>
                </c:pt>
                <c:pt idx="7">
                  <c:v>Smart TV</c:v>
                </c:pt>
                <c:pt idx="8">
                  <c:v>Car / automobile</c:v>
                </c:pt>
                <c:pt idx="9">
                  <c:v>Health insurance</c:v>
                </c:pt>
                <c:pt idx="10">
                  <c:v>Glasses / spectacles</c:v>
                </c:pt>
                <c:pt idx="11">
                  <c:v>Handbag / bag</c:v>
                </c:pt>
                <c:pt idx="12">
                  <c:v>Headphones / earphones</c:v>
                </c:pt>
                <c:pt idx="13">
                  <c:v>Laptop</c:v>
                </c:pt>
                <c:pt idx="14">
                  <c:v>Bicycle</c:v>
                </c:pt>
                <c:pt idx="15">
                  <c:v>Experience (e.g. spa trip, day out)</c:v>
                </c:pt>
                <c:pt idx="16">
                  <c:v>Bed</c:v>
                </c:pt>
                <c:pt idx="17">
                  <c:v>Concert tickets</c:v>
                </c:pt>
                <c:pt idx="18">
                  <c:v>Electric-powered scooter</c:v>
                </c:pt>
                <c:pt idx="19">
                  <c:v>Electric trimmers / shavers</c:v>
                </c:pt>
                <c:pt idx="20">
                  <c:v>Car / automotive insurance</c:v>
                </c:pt>
                <c:pt idx="21">
                  <c:v>Refrigerator</c:v>
                </c:pt>
                <c:pt idx="22">
                  <c:v>Hair styling tools</c:v>
                </c:pt>
                <c:pt idx="23">
                  <c:v>Smart wearable device</c:v>
                </c:pt>
                <c:pt idx="24">
                  <c:v>Vacation (abroad)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51.1</c:v>
                </c:pt>
                <c:pt idx="1">
                  <c:v>50.1</c:v>
                </c:pt>
                <c:pt idx="2">
                  <c:v>48.9</c:v>
                </c:pt>
                <c:pt idx="3">
                  <c:v>47.4</c:v>
                </c:pt>
                <c:pt idx="4">
                  <c:v>46.2</c:v>
                </c:pt>
                <c:pt idx="5">
                  <c:v>44.6</c:v>
                </c:pt>
                <c:pt idx="6">
                  <c:v>44.2</c:v>
                </c:pt>
                <c:pt idx="7">
                  <c:v>44</c:v>
                </c:pt>
                <c:pt idx="8">
                  <c:v>43.7</c:v>
                </c:pt>
                <c:pt idx="9">
                  <c:v>43.3</c:v>
                </c:pt>
                <c:pt idx="10">
                  <c:v>43.2</c:v>
                </c:pt>
                <c:pt idx="11">
                  <c:v>43</c:v>
                </c:pt>
                <c:pt idx="12">
                  <c:v>42.3</c:v>
                </c:pt>
                <c:pt idx="13">
                  <c:v>41.6</c:v>
                </c:pt>
                <c:pt idx="14">
                  <c:v>40.1</c:v>
                </c:pt>
                <c:pt idx="15">
                  <c:v>38.200000000000003</c:v>
                </c:pt>
                <c:pt idx="16">
                  <c:v>36.5</c:v>
                </c:pt>
                <c:pt idx="17">
                  <c:v>36.4</c:v>
                </c:pt>
                <c:pt idx="18">
                  <c:v>33.6</c:v>
                </c:pt>
                <c:pt idx="19">
                  <c:v>33.6</c:v>
                </c:pt>
                <c:pt idx="20">
                  <c:v>33.299999999999997</c:v>
                </c:pt>
                <c:pt idx="21">
                  <c:v>32.799999999999997</c:v>
                </c:pt>
                <c:pt idx="22">
                  <c:v>32.5</c:v>
                </c:pt>
                <c:pt idx="23">
                  <c:v>32</c:v>
                </c:pt>
                <c:pt idx="24">
                  <c:v>30.9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9-4D50-B4D7-A81729A99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2"/>
        <c:axId val="1459620655"/>
        <c:axId val="145962606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Samsung Z Fold Index</c:v>
                </c:pt>
              </c:strCache>
            </c:strRef>
          </c:tx>
          <c:spPr>
            <a:ln w="19050" cap="rnd">
              <a:solidFill>
                <a:srgbClr val="00829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Travel tickets (e.g. a flight)</c:v>
                </c:pt>
                <c:pt idx="1">
                  <c:v>Jewelry</c:v>
                </c:pt>
                <c:pt idx="2">
                  <c:v>Vacation (domestic)</c:v>
                </c:pt>
                <c:pt idx="3">
                  <c:v>Motorcycle</c:v>
                </c:pt>
                <c:pt idx="4">
                  <c:v>Purse / wallet</c:v>
                </c:pt>
                <c:pt idx="5">
                  <c:v>Wristwatch</c:v>
                </c:pt>
                <c:pt idx="6">
                  <c:v>Life insurance</c:v>
                </c:pt>
                <c:pt idx="7">
                  <c:v>Smart TV</c:v>
                </c:pt>
                <c:pt idx="8">
                  <c:v>Car / automobile</c:v>
                </c:pt>
                <c:pt idx="9">
                  <c:v>Health insurance</c:v>
                </c:pt>
                <c:pt idx="10">
                  <c:v>Glasses / spectacles</c:v>
                </c:pt>
                <c:pt idx="11">
                  <c:v>Handbag / bag</c:v>
                </c:pt>
                <c:pt idx="12">
                  <c:v>Headphones / earphones</c:v>
                </c:pt>
                <c:pt idx="13">
                  <c:v>Laptop</c:v>
                </c:pt>
                <c:pt idx="14">
                  <c:v>Bicycle</c:v>
                </c:pt>
                <c:pt idx="15">
                  <c:v>Experience (e.g. spa trip, day out)</c:v>
                </c:pt>
                <c:pt idx="16">
                  <c:v>Bed</c:v>
                </c:pt>
                <c:pt idx="17">
                  <c:v>Concert tickets</c:v>
                </c:pt>
                <c:pt idx="18">
                  <c:v>Electric-powered scooter</c:v>
                </c:pt>
                <c:pt idx="19">
                  <c:v>Electric trimmers / shavers</c:v>
                </c:pt>
                <c:pt idx="20">
                  <c:v>Car / automotive insurance</c:v>
                </c:pt>
                <c:pt idx="21">
                  <c:v>Refrigerator</c:v>
                </c:pt>
                <c:pt idx="22">
                  <c:v>Hair styling tools</c:v>
                </c:pt>
                <c:pt idx="23">
                  <c:v>Smart wearable device</c:v>
                </c:pt>
                <c:pt idx="24">
                  <c:v>Vacation (abroad)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204.1</c:v>
                </c:pt>
                <c:pt idx="1">
                  <c:v>206.6</c:v>
                </c:pt>
                <c:pt idx="2">
                  <c:v>187.4</c:v>
                </c:pt>
                <c:pt idx="3">
                  <c:v>289.39999999999998</c:v>
                </c:pt>
                <c:pt idx="4">
                  <c:v>181</c:v>
                </c:pt>
                <c:pt idx="5">
                  <c:v>195.6</c:v>
                </c:pt>
                <c:pt idx="6">
                  <c:v>246.7</c:v>
                </c:pt>
                <c:pt idx="7">
                  <c:v>193.6</c:v>
                </c:pt>
                <c:pt idx="8">
                  <c:v>222.3</c:v>
                </c:pt>
                <c:pt idx="9">
                  <c:v>201.4</c:v>
                </c:pt>
                <c:pt idx="10">
                  <c:v>156</c:v>
                </c:pt>
                <c:pt idx="11">
                  <c:v>173.8</c:v>
                </c:pt>
                <c:pt idx="12">
                  <c:v>127.9</c:v>
                </c:pt>
                <c:pt idx="13">
                  <c:v>182.5</c:v>
                </c:pt>
                <c:pt idx="14">
                  <c:v>241.5</c:v>
                </c:pt>
                <c:pt idx="15">
                  <c:v>170.6</c:v>
                </c:pt>
                <c:pt idx="16">
                  <c:v>189</c:v>
                </c:pt>
                <c:pt idx="17">
                  <c:v>172.9</c:v>
                </c:pt>
                <c:pt idx="18">
                  <c:v>340.9</c:v>
                </c:pt>
                <c:pt idx="19">
                  <c:v>251.9</c:v>
                </c:pt>
                <c:pt idx="20">
                  <c:v>179.6</c:v>
                </c:pt>
                <c:pt idx="21">
                  <c:v>180.8</c:v>
                </c:pt>
                <c:pt idx="22">
                  <c:v>259.2</c:v>
                </c:pt>
                <c:pt idx="23">
                  <c:v>250.9</c:v>
                </c:pt>
                <c:pt idx="24">
                  <c:v>242.1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0A9-4D50-B4D7-A81729A99C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 series Index</c:v>
                </c:pt>
              </c:strCache>
            </c:strRef>
          </c:tx>
          <c:spPr>
            <a:ln w="19050" cap="rnd">
              <a:solidFill>
                <a:srgbClr val="5461C8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Travel tickets (e.g. a flight)</c:v>
                </c:pt>
                <c:pt idx="1">
                  <c:v>Jewelry</c:v>
                </c:pt>
                <c:pt idx="2">
                  <c:v>Vacation (domestic)</c:v>
                </c:pt>
                <c:pt idx="3">
                  <c:v>Motorcycle</c:v>
                </c:pt>
                <c:pt idx="4">
                  <c:v>Purse / wallet</c:v>
                </c:pt>
                <c:pt idx="5">
                  <c:v>Wristwatch</c:v>
                </c:pt>
                <c:pt idx="6">
                  <c:v>Life insurance</c:v>
                </c:pt>
                <c:pt idx="7">
                  <c:v>Smart TV</c:v>
                </c:pt>
                <c:pt idx="8">
                  <c:v>Car / automobile</c:v>
                </c:pt>
                <c:pt idx="9">
                  <c:v>Health insurance</c:v>
                </c:pt>
                <c:pt idx="10">
                  <c:v>Glasses / spectacles</c:v>
                </c:pt>
                <c:pt idx="11">
                  <c:v>Handbag / bag</c:v>
                </c:pt>
                <c:pt idx="12">
                  <c:v>Headphones / earphones</c:v>
                </c:pt>
                <c:pt idx="13">
                  <c:v>Laptop</c:v>
                </c:pt>
                <c:pt idx="14">
                  <c:v>Bicycle</c:v>
                </c:pt>
                <c:pt idx="15">
                  <c:v>Experience (e.g. spa trip, day out)</c:v>
                </c:pt>
                <c:pt idx="16">
                  <c:v>Bed</c:v>
                </c:pt>
                <c:pt idx="17">
                  <c:v>Concert tickets</c:v>
                </c:pt>
                <c:pt idx="18">
                  <c:v>Electric-powered scooter</c:v>
                </c:pt>
                <c:pt idx="19">
                  <c:v>Electric trimmers / shavers</c:v>
                </c:pt>
                <c:pt idx="20">
                  <c:v>Car / automotive insurance</c:v>
                </c:pt>
                <c:pt idx="21">
                  <c:v>Refrigerator</c:v>
                </c:pt>
                <c:pt idx="22">
                  <c:v>Hair styling tools</c:v>
                </c:pt>
                <c:pt idx="23">
                  <c:v>Smart wearable device</c:v>
                </c:pt>
                <c:pt idx="24">
                  <c:v>Vacation (abroad)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186.7</c:v>
                </c:pt>
                <c:pt idx="1">
                  <c:v>181.7</c:v>
                </c:pt>
                <c:pt idx="2">
                  <c:v>138.1</c:v>
                </c:pt>
                <c:pt idx="3">
                  <c:v>243.9</c:v>
                </c:pt>
                <c:pt idx="4">
                  <c:v>164.9</c:v>
                </c:pt>
                <c:pt idx="5">
                  <c:v>159.4</c:v>
                </c:pt>
                <c:pt idx="6">
                  <c:v>206.6</c:v>
                </c:pt>
                <c:pt idx="7">
                  <c:v>159.4</c:v>
                </c:pt>
                <c:pt idx="8">
                  <c:v>167.5</c:v>
                </c:pt>
                <c:pt idx="9">
                  <c:v>190</c:v>
                </c:pt>
                <c:pt idx="10">
                  <c:v>128.4</c:v>
                </c:pt>
                <c:pt idx="11">
                  <c:v>142.9</c:v>
                </c:pt>
                <c:pt idx="12">
                  <c:v>124.7</c:v>
                </c:pt>
                <c:pt idx="13">
                  <c:v>152.1</c:v>
                </c:pt>
                <c:pt idx="14">
                  <c:v>186.1</c:v>
                </c:pt>
                <c:pt idx="15">
                  <c:v>172.5</c:v>
                </c:pt>
                <c:pt idx="16">
                  <c:v>167.2</c:v>
                </c:pt>
                <c:pt idx="17">
                  <c:v>153.69999999999999</c:v>
                </c:pt>
                <c:pt idx="18">
                  <c:v>257.60000000000002</c:v>
                </c:pt>
                <c:pt idx="19">
                  <c:v>182.5</c:v>
                </c:pt>
                <c:pt idx="20">
                  <c:v>149.6</c:v>
                </c:pt>
                <c:pt idx="21">
                  <c:v>147.9</c:v>
                </c:pt>
                <c:pt idx="22">
                  <c:v>181.1</c:v>
                </c:pt>
                <c:pt idx="23">
                  <c:v>197.7</c:v>
                </c:pt>
                <c:pt idx="24">
                  <c:v>168.7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0A9-4D50-B4D7-A81729A99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1380415"/>
        <c:axId val="1011387903"/>
      </c:lineChart>
      <c:catAx>
        <c:axId val="145962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626063"/>
        <c:crosses val="autoZero"/>
        <c:auto val="1"/>
        <c:lblAlgn val="ctr"/>
        <c:lblOffset val="100"/>
        <c:noMultiLvlLbl val="0"/>
      </c:catAx>
      <c:valAx>
        <c:axId val="1459626063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620655"/>
        <c:crosses val="autoZero"/>
        <c:crossBetween val="between"/>
      </c:valAx>
      <c:valAx>
        <c:axId val="101138790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380415"/>
        <c:crosses val="max"/>
        <c:crossBetween val="between"/>
      </c:valAx>
      <c:catAx>
        <c:axId val="10113804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13879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/>
              <a:t>Online Activities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73057014116682"/>
          <c:y val="0.10303124366195597"/>
          <c:w val="0.86055624758047311"/>
          <c:h val="0.362986109593630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Samsung Z Fold Share</c:v>
                </c:pt>
              </c:strCache>
            </c:strRef>
          </c:tx>
          <c:spPr>
            <a:solidFill>
              <a:srgbClr val="00829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Watched any video</c:v>
                </c:pt>
                <c:pt idx="1">
                  <c:v>Purchased any new or secondhand product and / or service</c:v>
                </c:pt>
                <c:pt idx="2">
                  <c:v>Watched a music video</c:v>
                </c:pt>
                <c:pt idx="3">
                  <c:v>Used a voice assistant</c:v>
                </c:pt>
                <c:pt idx="4">
                  <c:v>Listened to a music-streaming service</c:v>
                </c:pt>
                <c:pt idx="5">
                  <c:v>Watched other short video (Under 10 mins)</c:v>
                </c:pt>
                <c:pt idx="6">
                  <c:v>None of these</c:v>
                </c:pt>
                <c:pt idx="7">
                  <c:v>Shopped / browsed for products online</c:v>
                </c:pt>
                <c:pt idx="8">
                  <c:v>Watched a comedy / meme / viral video</c:v>
                </c:pt>
                <c:pt idx="9">
                  <c:v>Ordered groceries</c:v>
                </c:pt>
                <c:pt idx="10">
                  <c:v>Purchased a product / service</c:v>
                </c:pt>
                <c:pt idx="11">
                  <c:v>Read / watched food recipes</c:v>
                </c:pt>
                <c:pt idx="12">
                  <c:v>Watched sports highlights / clips</c:v>
                </c:pt>
                <c:pt idx="13">
                  <c:v>Watched a sports match / commentary</c:v>
                </c:pt>
                <c:pt idx="14">
                  <c:v>Watched other long video (10 mins+)</c:v>
                </c:pt>
                <c:pt idx="15">
                  <c:v>Watched an educational video</c:v>
                </c:pt>
                <c:pt idx="16">
                  <c:v>Attended a conference / video call</c:v>
                </c:pt>
                <c:pt idx="17">
                  <c:v>Written a review of a product / service</c:v>
                </c:pt>
                <c:pt idx="18">
                  <c:v>Used a voice assistant (e.g. Siri, Alexa) to find information</c:v>
                </c:pt>
                <c:pt idx="19">
                  <c:v>Watched a product review video</c:v>
                </c:pt>
                <c:pt idx="20">
                  <c:v>Watched a live video stream</c:v>
                </c:pt>
                <c:pt idx="21">
                  <c:v>Translated text into a different language</c:v>
                </c:pt>
                <c:pt idx="22">
                  <c:v>Watched a vlog / influencer video</c:v>
                </c:pt>
                <c:pt idx="23">
                  <c:v>Used a voice assistant to complete an action (e.g. play a song)</c:v>
                </c:pt>
                <c:pt idx="24">
                  <c:v>Shared your own blog post or video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98.1</c:v>
                </c:pt>
                <c:pt idx="1">
                  <c:v>71</c:v>
                </c:pt>
                <c:pt idx="2">
                  <c:v>59.2</c:v>
                </c:pt>
                <c:pt idx="3">
                  <c:v>55.7</c:v>
                </c:pt>
                <c:pt idx="4">
                  <c:v>55.1</c:v>
                </c:pt>
                <c:pt idx="5">
                  <c:v>52.6</c:v>
                </c:pt>
                <c:pt idx="6">
                  <c:v>36</c:v>
                </c:pt>
                <c:pt idx="7">
                  <c:v>39.1</c:v>
                </c:pt>
                <c:pt idx="8">
                  <c:v>42.9</c:v>
                </c:pt>
                <c:pt idx="9">
                  <c:v>42.8</c:v>
                </c:pt>
                <c:pt idx="10">
                  <c:v>40.4</c:v>
                </c:pt>
                <c:pt idx="11">
                  <c:v>43.4</c:v>
                </c:pt>
                <c:pt idx="12">
                  <c:v>44.1</c:v>
                </c:pt>
                <c:pt idx="13">
                  <c:v>39</c:v>
                </c:pt>
                <c:pt idx="14">
                  <c:v>48.5</c:v>
                </c:pt>
                <c:pt idx="15">
                  <c:v>41.7</c:v>
                </c:pt>
                <c:pt idx="16">
                  <c:v>43</c:v>
                </c:pt>
                <c:pt idx="17">
                  <c:v>38.200000000000003</c:v>
                </c:pt>
                <c:pt idx="18">
                  <c:v>39.9</c:v>
                </c:pt>
                <c:pt idx="19">
                  <c:v>39.799999999999997</c:v>
                </c:pt>
                <c:pt idx="20">
                  <c:v>39.6</c:v>
                </c:pt>
                <c:pt idx="21">
                  <c:v>37.299999999999997</c:v>
                </c:pt>
                <c:pt idx="22">
                  <c:v>34.299999999999997</c:v>
                </c:pt>
                <c:pt idx="23">
                  <c:v>38.6</c:v>
                </c:pt>
                <c:pt idx="24">
                  <c:v>34.4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AF-43FE-9BC7-D0D8DBBB4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vivo X Series Share</c:v>
                </c:pt>
              </c:strCache>
            </c:strRef>
          </c:tx>
          <c:spPr>
            <a:solidFill>
              <a:srgbClr val="5461C8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Watched any video</c:v>
                </c:pt>
                <c:pt idx="1">
                  <c:v>Purchased any new or secondhand product and / or service</c:v>
                </c:pt>
                <c:pt idx="2">
                  <c:v>Watched a music video</c:v>
                </c:pt>
                <c:pt idx="3">
                  <c:v>Used a voice assistant</c:v>
                </c:pt>
                <c:pt idx="4">
                  <c:v>Listened to a music-streaming service</c:v>
                </c:pt>
                <c:pt idx="5">
                  <c:v>Watched other short video (Under 10 mins)</c:v>
                </c:pt>
                <c:pt idx="6">
                  <c:v>None of these</c:v>
                </c:pt>
                <c:pt idx="7">
                  <c:v>Shopped / browsed for products online</c:v>
                </c:pt>
                <c:pt idx="8">
                  <c:v>Watched a comedy / meme / viral video</c:v>
                </c:pt>
                <c:pt idx="9">
                  <c:v>Ordered groceries</c:v>
                </c:pt>
                <c:pt idx="10">
                  <c:v>Purchased a product / service</c:v>
                </c:pt>
                <c:pt idx="11">
                  <c:v>Read / watched food recipes</c:v>
                </c:pt>
                <c:pt idx="12">
                  <c:v>Watched sports highlights / clips</c:v>
                </c:pt>
                <c:pt idx="13">
                  <c:v>Watched a sports match / commentary</c:v>
                </c:pt>
                <c:pt idx="14">
                  <c:v>Watched other long video (10 mins+)</c:v>
                </c:pt>
                <c:pt idx="15">
                  <c:v>Watched an educational video</c:v>
                </c:pt>
                <c:pt idx="16">
                  <c:v>Attended a conference / video call</c:v>
                </c:pt>
                <c:pt idx="17">
                  <c:v>Written a review of a product / service</c:v>
                </c:pt>
                <c:pt idx="18">
                  <c:v>Used a voice assistant (e.g. Siri, Alexa) to find information</c:v>
                </c:pt>
                <c:pt idx="19">
                  <c:v>Watched a product review video</c:v>
                </c:pt>
                <c:pt idx="20">
                  <c:v>Watched a live video stream</c:v>
                </c:pt>
                <c:pt idx="21">
                  <c:v>Translated text into a different language</c:v>
                </c:pt>
                <c:pt idx="22">
                  <c:v>Watched a vlog / influencer video</c:v>
                </c:pt>
                <c:pt idx="23">
                  <c:v>Used a voice assistant to complete an action (e.g. play a song)</c:v>
                </c:pt>
                <c:pt idx="24">
                  <c:v>Shared your own blog post or video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96</c:v>
                </c:pt>
                <c:pt idx="1">
                  <c:v>64.8</c:v>
                </c:pt>
                <c:pt idx="2">
                  <c:v>55.2</c:v>
                </c:pt>
                <c:pt idx="3">
                  <c:v>48</c:v>
                </c:pt>
                <c:pt idx="4">
                  <c:v>45.2</c:v>
                </c:pt>
                <c:pt idx="5">
                  <c:v>44.9</c:v>
                </c:pt>
                <c:pt idx="6">
                  <c:v>44.4</c:v>
                </c:pt>
                <c:pt idx="7">
                  <c:v>43.7</c:v>
                </c:pt>
                <c:pt idx="8">
                  <c:v>42.9</c:v>
                </c:pt>
                <c:pt idx="9">
                  <c:v>40.299999999999997</c:v>
                </c:pt>
                <c:pt idx="10">
                  <c:v>40</c:v>
                </c:pt>
                <c:pt idx="11">
                  <c:v>39.5</c:v>
                </c:pt>
                <c:pt idx="12">
                  <c:v>37.799999999999997</c:v>
                </c:pt>
                <c:pt idx="13">
                  <c:v>37.5</c:v>
                </c:pt>
                <c:pt idx="14">
                  <c:v>36.799999999999997</c:v>
                </c:pt>
                <c:pt idx="15">
                  <c:v>36.5</c:v>
                </c:pt>
                <c:pt idx="16">
                  <c:v>36.4</c:v>
                </c:pt>
                <c:pt idx="17">
                  <c:v>33.9</c:v>
                </c:pt>
                <c:pt idx="18">
                  <c:v>33.4</c:v>
                </c:pt>
                <c:pt idx="19">
                  <c:v>33.4</c:v>
                </c:pt>
                <c:pt idx="20">
                  <c:v>32.9</c:v>
                </c:pt>
                <c:pt idx="21">
                  <c:v>30.9</c:v>
                </c:pt>
                <c:pt idx="22">
                  <c:v>30.9</c:v>
                </c:pt>
                <c:pt idx="23">
                  <c:v>30.4</c:v>
                </c:pt>
                <c:pt idx="24">
                  <c:v>29.6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AF-43FE-9BC7-D0D8DBBB4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2"/>
        <c:axId val="1459620655"/>
        <c:axId val="145962606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Samsung Z Fold Index</c:v>
                </c:pt>
              </c:strCache>
            </c:strRef>
          </c:tx>
          <c:spPr>
            <a:ln w="19050" cap="rnd">
              <a:solidFill>
                <a:srgbClr val="00829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Watched any video</c:v>
                </c:pt>
                <c:pt idx="1">
                  <c:v>Purchased any new or secondhand product and / or service</c:v>
                </c:pt>
                <c:pt idx="2">
                  <c:v>Watched a music video</c:v>
                </c:pt>
                <c:pt idx="3">
                  <c:v>Used a voice assistant</c:v>
                </c:pt>
                <c:pt idx="4">
                  <c:v>Listened to a music-streaming service</c:v>
                </c:pt>
                <c:pt idx="5">
                  <c:v>Watched other short video (Under 10 mins)</c:v>
                </c:pt>
                <c:pt idx="6">
                  <c:v>None of these</c:v>
                </c:pt>
                <c:pt idx="7">
                  <c:v>Shopped / browsed for products online</c:v>
                </c:pt>
                <c:pt idx="8">
                  <c:v>Watched a comedy / meme / viral video</c:v>
                </c:pt>
                <c:pt idx="9">
                  <c:v>Ordered groceries</c:v>
                </c:pt>
                <c:pt idx="10">
                  <c:v>Purchased a product / service</c:v>
                </c:pt>
                <c:pt idx="11">
                  <c:v>Read / watched food recipes</c:v>
                </c:pt>
                <c:pt idx="12">
                  <c:v>Watched sports highlights / clips</c:v>
                </c:pt>
                <c:pt idx="13">
                  <c:v>Watched a sports match / commentary</c:v>
                </c:pt>
                <c:pt idx="14">
                  <c:v>Watched other long video (10 mins+)</c:v>
                </c:pt>
                <c:pt idx="15">
                  <c:v>Watched an educational video</c:v>
                </c:pt>
                <c:pt idx="16">
                  <c:v>Attended a conference / video call</c:v>
                </c:pt>
                <c:pt idx="17">
                  <c:v>Written a review of a product / service</c:v>
                </c:pt>
                <c:pt idx="18">
                  <c:v>Used a voice assistant (e.g. Siri, Alexa) to find information</c:v>
                </c:pt>
                <c:pt idx="19">
                  <c:v>Watched a product review video</c:v>
                </c:pt>
                <c:pt idx="20">
                  <c:v>Watched a live video stream</c:v>
                </c:pt>
                <c:pt idx="21">
                  <c:v>Translated text into a different language</c:v>
                </c:pt>
                <c:pt idx="22">
                  <c:v>Watched a vlog / influencer video</c:v>
                </c:pt>
                <c:pt idx="23">
                  <c:v>Used a voice assistant to complete an action (e.g. play a song)</c:v>
                </c:pt>
                <c:pt idx="24">
                  <c:v>Shared your own blog post or video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105.9</c:v>
                </c:pt>
                <c:pt idx="1">
                  <c:v>125.1</c:v>
                </c:pt>
                <c:pt idx="2">
                  <c:v>122.8</c:v>
                </c:pt>
                <c:pt idx="3">
                  <c:v>183.4</c:v>
                </c:pt>
                <c:pt idx="4">
                  <c:v>141</c:v>
                </c:pt>
                <c:pt idx="5">
                  <c:v>103.8</c:v>
                </c:pt>
                <c:pt idx="6">
                  <c:v>87.2</c:v>
                </c:pt>
                <c:pt idx="7">
                  <c:v>77.3</c:v>
                </c:pt>
                <c:pt idx="8">
                  <c:v>124.2</c:v>
                </c:pt>
                <c:pt idx="9">
                  <c:v>153.6</c:v>
                </c:pt>
                <c:pt idx="10">
                  <c:v>103.1</c:v>
                </c:pt>
                <c:pt idx="11">
                  <c:v>110.8</c:v>
                </c:pt>
                <c:pt idx="12">
                  <c:v>177.1</c:v>
                </c:pt>
                <c:pt idx="13">
                  <c:v>165</c:v>
                </c:pt>
                <c:pt idx="14">
                  <c:v>131.9</c:v>
                </c:pt>
                <c:pt idx="15">
                  <c:v>159.6</c:v>
                </c:pt>
                <c:pt idx="16">
                  <c:v>166.5</c:v>
                </c:pt>
                <c:pt idx="17">
                  <c:v>165.8</c:v>
                </c:pt>
                <c:pt idx="18">
                  <c:v>201.6</c:v>
                </c:pt>
                <c:pt idx="19">
                  <c:v>157.9</c:v>
                </c:pt>
                <c:pt idx="20">
                  <c:v>148.1</c:v>
                </c:pt>
                <c:pt idx="21">
                  <c:v>129.69999999999999</c:v>
                </c:pt>
                <c:pt idx="22">
                  <c:v>146.6</c:v>
                </c:pt>
                <c:pt idx="23">
                  <c:v>201.5</c:v>
                </c:pt>
                <c:pt idx="24">
                  <c:v>179.5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AF-43FE-9BC7-D0D8DBBB48C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vivo X Series Index</c:v>
                </c:pt>
              </c:strCache>
            </c:strRef>
          </c:tx>
          <c:spPr>
            <a:ln w="19050" cap="rnd">
              <a:solidFill>
                <a:srgbClr val="5461C8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Watched any video</c:v>
                </c:pt>
                <c:pt idx="1">
                  <c:v>Purchased any new or secondhand product and / or service</c:v>
                </c:pt>
                <c:pt idx="2">
                  <c:v>Watched a music video</c:v>
                </c:pt>
                <c:pt idx="3">
                  <c:v>Used a voice assistant</c:v>
                </c:pt>
                <c:pt idx="4">
                  <c:v>Listened to a music-streaming service</c:v>
                </c:pt>
                <c:pt idx="5">
                  <c:v>Watched other short video (Under 10 mins)</c:v>
                </c:pt>
                <c:pt idx="6">
                  <c:v>None of these</c:v>
                </c:pt>
                <c:pt idx="7">
                  <c:v>Shopped / browsed for products online</c:v>
                </c:pt>
                <c:pt idx="8">
                  <c:v>Watched a comedy / meme / viral video</c:v>
                </c:pt>
                <c:pt idx="9">
                  <c:v>Ordered groceries</c:v>
                </c:pt>
                <c:pt idx="10">
                  <c:v>Purchased a product / service</c:v>
                </c:pt>
                <c:pt idx="11">
                  <c:v>Read / watched food recipes</c:v>
                </c:pt>
                <c:pt idx="12">
                  <c:v>Watched sports highlights / clips</c:v>
                </c:pt>
                <c:pt idx="13">
                  <c:v>Watched a sports match / commentary</c:v>
                </c:pt>
                <c:pt idx="14">
                  <c:v>Watched other long video (10 mins+)</c:v>
                </c:pt>
                <c:pt idx="15">
                  <c:v>Watched an educational video</c:v>
                </c:pt>
                <c:pt idx="16">
                  <c:v>Attended a conference / video call</c:v>
                </c:pt>
                <c:pt idx="17">
                  <c:v>Written a review of a product / service</c:v>
                </c:pt>
                <c:pt idx="18">
                  <c:v>Used a voice assistant (e.g. Siri, Alexa) to find information</c:v>
                </c:pt>
                <c:pt idx="19">
                  <c:v>Watched a product review video</c:v>
                </c:pt>
                <c:pt idx="20">
                  <c:v>Watched a live video stream</c:v>
                </c:pt>
                <c:pt idx="21">
                  <c:v>Translated text into a different language</c:v>
                </c:pt>
                <c:pt idx="22">
                  <c:v>Watched a vlog / influencer video</c:v>
                </c:pt>
                <c:pt idx="23">
                  <c:v>Used a voice assistant to complete an action (e.g. play a song)</c:v>
                </c:pt>
                <c:pt idx="24">
                  <c:v>Shared your own blog post or video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104.3</c:v>
                </c:pt>
                <c:pt idx="1">
                  <c:v>115.7</c:v>
                </c:pt>
                <c:pt idx="2">
                  <c:v>112.3</c:v>
                </c:pt>
                <c:pt idx="3">
                  <c:v>159.80000000000001</c:v>
                </c:pt>
                <c:pt idx="4">
                  <c:v>117.2</c:v>
                </c:pt>
                <c:pt idx="5">
                  <c:v>86.9</c:v>
                </c:pt>
                <c:pt idx="6">
                  <c:v>107.9</c:v>
                </c:pt>
                <c:pt idx="7">
                  <c:v>86.5</c:v>
                </c:pt>
                <c:pt idx="8">
                  <c:v>122.3</c:v>
                </c:pt>
                <c:pt idx="9">
                  <c:v>145.9</c:v>
                </c:pt>
                <c:pt idx="10">
                  <c:v>102.7</c:v>
                </c:pt>
                <c:pt idx="11">
                  <c:v>101</c:v>
                </c:pt>
                <c:pt idx="12">
                  <c:v>148</c:v>
                </c:pt>
                <c:pt idx="13">
                  <c:v>154.80000000000001</c:v>
                </c:pt>
                <c:pt idx="14">
                  <c:v>99.5</c:v>
                </c:pt>
                <c:pt idx="15">
                  <c:v>141.80000000000001</c:v>
                </c:pt>
                <c:pt idx="16">
                  <c:v>137.80000000000001</c:v>
                </c:pt>
                <c:pt idx="17">
                  <c:v>149</c:v>
                </c:pt>
                <c:pt idx="18">
                  <c:v>169.2</c:v>
                </c:pt>
                <c:pt idx="19">
                  <c:v>133.5</c:v>
                </c:pt>
                <c:pt idx="20">
                  <c:v>118.5</c:v>
                </c:pt>
                <c:pt idx="21">
                  <c:v>110.1</c:v>
                </c:pt>
                <c:pt idx="22">
                  <c:v>131.19999999999999</c:v>
                </c:pt>
                <c:pt idx="23">
                  <c:v>160.1</c:v>
                </c:pt>
                <c:pt idx="24">
                  <c:v>154.30000000000001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AF-43FE-9BC7-D0D8DBBB4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1380415"/>
        <c:axId val="1011387903"/>
      </c:lineChart>
      <c:catAx>
        <c:axId val="145962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626063"/>
        <c:crosses val="autoZero"/>
        <c:auto val="1"/>
        <c:lblAlgn val="ctr"/>
        <c:lblOffset val="100"/>
        <c:noMultiLvlLbl val="0"/>
      </c:catAx>
      <c:valAx>
        <c:axId val="1459626063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620655"/>
        <c:crosses val="autoZero"/>
        <c:crossBetween val="between"/>
      </c:valAx>
      <c:valAx>
        <c:axId val="101138790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380415"/>
        <c:crosses val="max"/>
        <c:crossBetween val="between"/>
      </c:valAx>
      <c:catAx>
        <c:axId val="10113804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13879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/>
              <a:t>Attitudes: Top 15 'Describes me' statements (with Index &gt;142%)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004070847815691"/>
          <c:y val="0.24227454024344985"/>
          <c:w val="0.49237018801583415"/>
          <c:h val="0.6474051166811185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Samsung Z Fold Share</c:v>
                </c:pt>
              </c:strCache>
            </c:strRef>
          </c:tx>
          <c:spPr>
            <a:ln w="28575" cap="rnd">
              <a:solidFill>
                <a:srgbClr val="00829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I buy new tech products as soon as they are available</c:v>
                </c:pt>
                <c:pt idx="1">
                  <c:v>I buy products / services to access the community built around them</c:v>
                </c:pt>
                <c:pt idx="2">
                  <c:v>I tend to buy the premium version of products</c:v>
                </c:pt>
                <c:pt idx="3">
                  <c:v>I feel represented in the advertising I see</c:v>
                </c:pt>
                <c:pt idx="4">
                  <c:v>I consider myself an opinion leader</c:v>
                </c:pt>
                <c:pt idx="5">
                  <c:v>Affluent</c:v>
                </c:pt>
                <c:pt idx="6">
                  <c:v>I think immigration is good for my country</c:v>
                </c:pt>
                <c:pt idx="7">
                  <c:v>I feel in control of my personal data online</c:v>
                </c:pt>
                <c:pt idx="8">
                  <c:v>I prefer thinking about the past, rather than the future</c:v>
                </c:pt>
                <c:pt idx="9">
                  <c:v>I take risks</c:v>
                </c:pt>
                <c:pt idx="10">
                  <c:v>I feel using social media causes me anxiety</c:v>
                </c:pt>
                <c:pt idx="11">
                  <c:v>I tend to buy brands I have seen advertised</c:v>
                </c:pt>
                <c:pt idx="12">
                  <c:v>I am comfortable with my apps tracking my activity (e.g. walking, sleeping)</c:v>
                </c:pt>
                <c:pt idx="13">
                  <c:v>I trust new technology to improve my health</c:v>
                </c:pt>
                <c:pt idx="14">
                  <c:v>I like to be the first to try new things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46.3</c:v>
                </c:pt>
                <c:pt idx="1">
                  <c:v>41.4</c:v>
                </c:pt>
                <c:pt idx="2">
                  <c:v>37.4</c:v>
                </c:pt>
                <c:pt idx="3">
                  <c:v>31</c:v>
                </c:pt>
                <c:pt idx="4">
                  <c:v>45.6</c:v>
                </c:pt>
                <c:pt idx="5">
                  <c:v>23</c:v>
                </c:pt>
                <c:pt idx="6">
                  <c:v>25.9</c:v>
                </c:pt>
                <c:pt idx="7">
                  <c:v>48.9</c:v>
                </c:pt>
                <c:pt idx="8">
                  <c:v>24.9</c:v>
                </c:pt>
                <c:pt idx="9">
                  <c:v>45.1</c:v>
                </c:pt>
                <c:pt idx="10">
                  <c:v>32.5</c:v>
                </c:pt>
                <c:pt idx="11">
                  <c:v>42.6</c:v>
                </c:pt>
                <c:pt idx="12">
                  <c:v>45</c:v>
                </c:pt>
                <c:pt idx="13">
                  <c:v>54.9</c:v>
                </c:pt>
                <c:pt idx="14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F8-420B-A235-D0B37F024B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vivo X Fold3 Share</c:v>
                </c:pt>
              </c:strCache>
            </c:strRef>
          </c:tx>
          <c:spPr>
            <a:ln w="28575" cap="rnd">
              <a:solidFill>
                <a:srgbClr val="5461C8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I buy new tech products as soon as they are available</c:v>
                </c:pt>
                <c:pt idx="1">
                  <c:v>I buy products / services to access the community built around them</c:v>
                </c:pt>
                <c:pt idx="2">
                  <c:v>I tend to buy the premium version of products</c:v>
                </c:pt>
                <c:pt idx="3">
                  <c:v>I feel represented in the advertising I see</c:v>
                </c:pt>
                <c:pt idx="4">
                  <c:v>I consider myself an opinion leader</c:v>
                </c:pt>
                <c:pt idx="5">
                  <c:v>Affluent</c:v>
                </c:pt>
                <c:pt idx="6">
                  <c:v>I think immigration is good for my country</c:v>
                </c:pt>
                <c:pt idx="7">
                  <c:v>I feel in control of my personal data online</c:v>
                </c:pt>
                <c:pt idx="8">
                  <c:v>I prefer thinking about the past, rather than the future</c:v>
                </c:pt>
                <c:pt idx="9">
                  <c:v>I take risks</c:v>
                </c:pt>
                <c:pt idx="10">
                  <c:v>I feel using social media causes me anxiety</c:v>
                </c:pt>
                <c:pt idx="11">
                  <c:v>I tend to buy brands I have seen advertised</c:v>
                </c:pt>
                <c:pt idx="12">
                  <c:v>I am comfortable with my apps tracking my activity (e.g. walking, sleeping)</c:v>
                </c:pt>
                <c:pt idx="13">
                  <c:v>I trust new technology to improve my health</c:v>
                </c:pt>
                <c:pt idx="14">
                  <c:v>I like to be the first to try new things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38.5</c:v>
                </c:pt>
                <c:pt idx="1">
                  <c:v>29.8</c:v>
                </c:pt>
                <c:pt idx="2">
                  <c:v>36.200000000000003</c:v>
                </c:pt>
                <c:pt idx="3">
                  <c:v>27.5</c:v>
                </c:pt>
                <c:pt idx="4">
                  <c:v>35.9</c:v>
                </c:pt>
                <c:pt idx="5">
                  <c:v>22.5</c:v>
                </c:pt>
                <c:pt idx="6">
                  <c:v>24.5</c:v>
                </c:pt>
                <c:pt idx="7">
                  <c:v>40.1</c:v>
                </c:pt>
                <c:pt idx="8">
                  <c:v>19.8</c:v>
                </c:pt>
                <c:pt idx="9">
                  <c:v>40</c:v>
                </c:pt>
                <c:pt idx="10">
                  <c:v>22.7</c:v>
                </c:pt>
                <c:pt idx="11">
                  <c:v>35.700000000000003</c:v>
                </c:pt>
                <c:pt idx="12">
                  <c:v>38.1</c:v>
                </c:pt>
                <c:pt idx="13">
                  <c:v>46</c:v>
                </c:pt>
                <c:pt idx="14">
                  <c:v>45.7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F8-420B-A235-D0B37F024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9598720"/>
        <c:axId val="749587488"/>
      </c:radarChart>
      <c:catAx>
        <c:axId val="74959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749587488"/>
        <c:crosses val="autoZero"/>
        <c:auto val="1"/>
        <c:lblAlgn val="ctr"/>
        <c:lblOffset val="100"/>
        <c:noMultiLvlLbl val="0"/>
      </c:catAx>
      <c:valAx>
        <c:axId val="749587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9D9F9E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598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Share (in 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Samsung Z Fold Share</c:v>
                </c:pt>
              </c:strCache>
            </c:strRef>
          </c:tx>
          <c:spPr>
            <a:solidFill>
              <a:srgbClr val="008291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Ads seen on TV</c:v>
                </c:pt>
                <c:pt idx="1">
                  <c:v>Search engines</c:v>
                </c:pt>
                <c:pt idx="2">
                  <c:v>Online retail websites</c:v>
                </c:pt>
                <c:pt idx="3">
                  <c:v>TV shows / films</c:v>
                </c:pt>
                <c:pt idx="4">
                  <c:v>Ads seen on social media</c:v>
                </c:pt>
                <c:pt idx="5">
                  <c:v>Brand / product websites</c:v>
                </c:pt>
                <c:pt idx="6">
                  <c:v>Ads seen on websites</c:v>
                </c:pt>
                <c:pt idx="7">
                  <c:v>Ads seen on mobile or tablet apps</c:v>
                </c:pt>
                <c:pt idx="8">
                  <c:v>Consumer review sites</c:v>
                </c:pt>
                <c:pt idx="9">
                  <c:v>Ads seen before online videos or TV play</c:v>
                </c:pt>
                <c:pt idx="10">
                  <c:v>Word-of-mouth recommendations from friend or family members</c:v>
                </c:pt>
                <c:pt idx="11">
                  <c:v>Product comparison websites</c:v>
                </c:pt>
                <c:pt idx="12">
                  <c:v>Ads in magazines or newspapers</c:v>
                </c:pt>
                <c:pt idx="13">
                  <c:v>Ads seen in video / mobile games</c:v>
                </c:pt>
                <c:pt idx="14">
                  <c:v>Recommendations / comments on social media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40.200000000000003</c:v>
                </c:pt>
                <c:pt idx="1">
                  <c:v>28</c:v>
                </c:pt>
                <c:pt idx="2">
                  <c:v>27.5</c:v>
                </c:pt>
                <c:pt idx="3">
                  <c:v>32</c:v>
                </c:pt>
                <c:pt idx="4">
                  <c:v>32.700000000000003</c:v>
                </c:pt>
                <c:pt idx="5">
                  <c:v>26.4</c:v>
                </c:pt>
                <c:pt idx="6">
                  <c:v>20.7</c:v>
                </c:pt>
                <c:pt idx="7">
                  <c:v>21.2</c:v>
                </c:pt>
                <c:pt idx="8">
                  <c:v>21</c:v>
                </c:pt>
                <c:pt idx="9">
                  <c:v>24.9</c:v>
                </c:pt>
                <c:pt idx="10">
                  <c:v>27.1</c:v>
                </c:pt>
                <c:pt idx="11">
                  <c:v>20.100000000000001</c:v>
                </c:pt>
                <c:pt idx="12">
                  <c:v>23.9</c:v>
                </c:pt>
                <c:pt idx="13">
                  <c:v>23.6</c:v>
                </c:pt>
                <c:pt idx="14">
                  <c:v>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E-4A9B-9EFE-F523D6C291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vivo X Fold3 Share</c:v>
                </c:pt>
              </c:strCache>
            </c:strRef>
          </c:tx>
          <c:spPr>
            <a:solidFill>
              <a:srgbClr val="5461C8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Ads seen on TV</c:v>
                </c:pt>
                <c:pt idx="1">
                  <c:v>Search engines</c:v>
                </c:pt>
                <c:pt idx="2">
                  <c:v>Online retail websites</c:v>
                </c:pt>
                <c:pt idx="3">
                  <c:v>TV shows / films</c:v>
                </c:pt>
                <c:pt idx="4">
                  <c:v>Ads seen on social media</c:v>
                </c:pt>
                <c:pt idx="5">
                  <c:v>Brand / product websites</c:v>
                </c:pt>
                <c:pt idx="6">
                  <c:v>Ads seen on websites</c:v>
                </c:pt>
                <c:pt idx="7">
                  <c:v>Ads seen on mobile or tablet apps</c:v>
                </c:pt>
                <c:pt idx="8">
                  <c:v>Consumer review sites</c:v>
                </c:pt>
                <c:pt idx="9">
                  <c:v>Ads seen before online videos or TV play</c:v>
                </c:pt>
                <c:pt idx="10">
                  <c:v>Word-of-mouth recommendations from friend or family members</c:v>
                </c:pt>
                <c:pt idx="11">
                  <c:v>Product comparison websites</c:v>
                </c:pt>
                <c:pt idx="12">
                  <c:v>Ads in magazines or newspapers</c:v>
                </c:pt>
                <c:pt idx="13">
                  <c:v>Ads seen in video / mobile games</c:v>
                </c:pt>
                <c:pt idx="14">
                  <c:v>Recommendations / comments on social media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32.5</c:v>
                </c:pt>
                <c:pt idx="1">
                  <c:v>30.2</c:v>
                </c:pt>
                <c:pt idx="2">
                  <c:v>29.9</c:v>
                </c:pt>
                <c:pt idx="3">
                  <c:v>29.5</c:v>
                </c:pt>
                <c:pt idx="4">
                  <c:v>29.1</c:v>
                </c:pt>
                <c:pt idx="5">
                  <c:v>26.4</c:v>
                </c:pt>
                <c:pt idx="6">
                  <c:v>24.8</c:v>
                </c:pt>
                <c:pt idx="7">
                  <c:v>24.7</c:v>
                </c:pt>
                <c:pt idx="8">
                  <c:v>23.1</c:v>
                </c:pt>
                <c:pt idx="9">
                  <c:v>22.3</c:v>
                </c:pt>
                <c:pt idx="10">
                  <c:v>22.3</c:v>
                </c:pt>
                <c:pt idx="11">
                  <c:v>22</c:v>
                </c:pt>
                <c:pt idx="12">
                  <c:v>21.5</c:v>
                </c:pt>
                <c:pt idx="13">
                  <c:v>21.4</c:v>
                </c:pt>
                <c:pt idx="14">
                  <c:v>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4E-4A9B-9EFE-F523D6C291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7"/>
        <c:overlap val="-50"/>
        <c:axId val="1351668591"/>
        <c:axId val="1351656111"/>
      </c:barChart>
      <c:catAx>
        <c:axId val="13516685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656111"/>
        <c:crosses val="autoZero"/>
        <c:auto val="1"/>
        <c:lblAlgn val="ctr"/>
        <c:lblOffset val="100"/>
        <c:noMultiLvlLbl val="0"/>
      </c:catAx>
      <c:valAx>
        <c:axId val="1351656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66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Index (in 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Samsung Z Fold Index</c:v>
                </c:pt>
              </c:strCache>
            </c:strRef>
          </c:tx>
          <c:spPr>
            <a:solidFill>
              <a:srgbClr val="008291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Ads seen on TV</c:v>
                </c:pt>
                <c:pt idx="1">
                  <c:v>Search engines</c:v>
                </c:pt>
                <c:pt idx="2">
                  <c:v>Online retail websites</c:v>
                </c:pt>
                <c:pt idx="3">
                  <c:v>TV shows / films</c:v>
                </c:pt>
                <c:pt idx="4">
                  <c:v>Ads seen on social media</c:v>
                </c:pt>
                <c:pt idx="5">
                  <c:v>Brand / product websites</c:v>
                </c:pt>
                <c:pt idx="6">
                  <c:v>Ads seen on websites</c:v>
                </c:pt>
                <c:pt idx="7">
                  <c:v>Ads seen on mobile or tablet apps</c:v>
                </c:pt>
                <c:pt idx="8">
                  <c:v>Consumer review sites</c:v>
                </c:pt>
                <c:pt idx="9">
                  <c:v>Ads seen before online videos or TV shows start to play</c:v>
                </c:pt>
                <c:pt idx="10">
                  <c:v>Word-of-mouth recommendations from friend or family members</c:v>
                </c:pt>
                <c:pt idx="11">
                  <c:v>Product comparison websites</c:v>
                </c:pt>
                <c:pt idx="12">
                  <c:v>Ads in magazines or newspapers</c:v>
                </c:pt>
                <c:pt idx="13">
                  <c:v>Ads seen in video / mobile games</c:v>
                </c:pt>
                <c:pt idx="14">
                  <c:v>Recommendations / comments on social media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145.69999999999999</c:v>
                </c:pt>
                <c:pt idx="1">
                  <c:v>91.2</c:v>
                </c:pt>
                <c:pt idx="2">
                  <c:v>131.19999999999999</c:v>
                </c:pt>
                <c:pt idx="3">
                  <c:v>154</c:v>
                </c:pt>
                <c:pt idx="4">
                  <c:v>127.2</c:v>
                </c:pt>
                <c:pt idx="5">
                  <c:v>134.6</c:v>
                </c:pt>
                <c:pt idx="6">
                  <c:v>99.4</c:v>
                </c:pt>
                <c:pt idx="7">
                  <c:v>110.9</c:v>
                </c:pt>
                <c:pt idx="8">
                  <c:v>125.8</c:v>
                </c:pt>
                <c:pt idx="9">
                  <c:v>163.80000000000001</c:v>
                </c:pt>
                <c:pt idx="10">
                  <c:v>105.2</c:v>
                </c:pt>
                <c:pt idx="11">
                  <c:v>132.5</c:v>
                </c:pt>
                <c:pt idx="12">
                  <c:v>236.4</c:v>
                </c:pt>
                <c:pt idx="13">
                  <c:v>221.5</c:v>
                </c:pt>
                <c:pt idx="14">
                  <c:v>110.4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96-4677-ADAC-B490B9A82B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vivo X Fold3 Index</c:v>
                </c:pt>
              </c:strCache>
            </c:strRef>
          </c:tx>
          <c:spPr>
            <a:solidFill>
              <a:srgbClr val="5461C8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Ads seen on TV</c:v>
                </c:pt>
                <c:pt idx="1">
                  <c:v>Search engines</c:v>
                </c:pt>
                <c:pt idx="2">
                  <c:v>Online retail websites</c:v>
                </c:pt>
                <c:pt idx="3">
                  <c:v>TV shows / films</c:v>
                </c:pt>
                <c:pt idx="4">
                  <c:v>Ads seen on social media</c:v>
                </c:pt>
                <c:pt idx="5">
                  <c:v>Brand / product websites</c:v>
                </c:pt>
                <c:pt idx="6">
                  <c:v>Ads seen on websites</c:v>
                </c:pt>
                <c:pt idx="7">
                  <c:v>Ads seen on mobile or tablet apps</c:v>
                </c:pt>
                <c:pt idx="8">
                  <c:v>Consumer review sites</c:v>
                </c:pt>
                <c:pt idx="9">
                  <c:v>Ads seen before online videos or TV shows start to play</c:v>
                </c:pt>
                <c:pt idx="10">
                  <c:v>Word-of-mouth recommendations from friend or family members</c:v>
                </c:pt>
                <c:pt idx="11">
                  <c:v>Product comparison websites</c:v>
                </c:pt>
                <c:pt idx="12">
                  <c:v>Ads in magazines or newspapers</c:v>
                </c:pt>
                <c:pt idx="13">
                  <c:v>Ads seen in video / mobile games</c:v>
                </c:pt>
                <c:pt idx="14">
                  <c:v>Recommendations / comments on social media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105.7</c:v>
                </c:pt>
                <c:pt idx="1">
                  <c:v>95.2</c:v>
                </c:pt>
                <c:pt idx="2">
                  <c:v>132.80000000000001</c:v>
                </c:pt>
                <c:pt idx="3">
                  <c:v>127.6</c:v>
                </c:pt>
                <c:pt idx="4">
                  <c:v>102.4</c:v>
                </c:pt>
                <c:pt idx="5">
                  <c:v>105.5</c:v>
                </c:pt>
                <c:pt idx="6">
                  <c:v>109.2</c:v>
                </c:pt>
                <c:pt idx="7">
                  <c:v>117.6</c:v>
                </c:pt>
                <c:pt idx="8">
                  <c:v>106.5</c:v>
                </c:pt>
                <c:pt idx="9">
                  <c:v>131.69999999999999</c:v>
                </c:pt>
                <c:pt idx="10">
                  <c:v>79.5</c:v>
                </c:pt>
                <c:pt idx="11">
                  <c:v>119.5</c:v>
                </c:pt>
                <c:pt idx="12">
                  <c:v>167.3</c:v>
                </c:pt>
                <c:pt idx="13">
                  <c:v>159</c:v>
                </c:pt>
                <c:pt idx="14">
                  <c:v>93.8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96-4677-ADAC-B490B9A82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7"/>
        <c:overlap val="-50"/>
        <c:axId val="1351668591"/>
        <c:axId val="1351656111"/>
      </c:barChart>
      <c:catAx>
        <c:axId val="13516685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1656111"/>
        <c:crosses val="autoZero"/>
        <c:auto val="1"/>
        <c:lblAlgn val="ctr"/>
        <c:lblOffset val="100"/>
        <c:noMultiLvlLbl val="0"/>
      </c:catAx>
      <c:valAx>
        <c:axId val="1351656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166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3 - 8 Cr</a:t>
            </a:r>
          </a:p>
          <a:p>
            <a:pPr>
              <a:defRPr/>
            </a:pPr>
            <a:r>
              <a:rPr lang="en-US"/>
              <a:t>(Core Only)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'ChannelSplit basis RF-CPM-Cost'!$B$37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4B-4E86-BBE2-794B3F4F3F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4B-4E86-BBE2-794B3F4F3F7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4B-4E86-BBE2-794B3F4F3F7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74B-4E86-BBE2-794B3F4F3F7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74B-4E86-BBE2-794B3F4F3F7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74B-4E86-BBE2-794B3F4F3F7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74B-4E86-BBE2-794B3F4F3F7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74B-4E86-BBE2-794B3F4F3F7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RF-CPM-Cost'!$A$38:$A$45</c:f>
              <c:strCache>
                <c:ptCount val="8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  <c:pt idx="6">
                  <c:v>Concurrency &amp; Webcasting</c:v>
                </c:pt>
                <c:pt idx="7">
                  <c:v>Ad Serving &amp; Agency Fees</c:v>
                </c:pt>
              </c:strCache>
            </c:strRef>
          </c:cat>
          <c:val>
            <c:numRef>
              <c:f>'ChannelSplit basis RF-CPM-Cost'!$B$38:$B$45</c:f>
              <c:numCache>
                <c:formatCode>#,##0</c:formatCode>
                <c:ptCount val="8"/>
                <c:pt idx="0">
                  <c:v>15000000</c:v>
                </c:pt>
                <c:pt idx="1">
                  <c:v>14100000</c:v>
                </c:pt>
                <c:pt idx="2">
                  <c:v>19000000</c:v>
                </c:pt>
                <c:pt idx="3">
                  <c:v>4500000</c:v>
                </c:pt>
                <c:pt idx="4">
                  <c:v>5500000</c:v>
                </c:pt>
                <c:pt idx="5">
                  <c:v>18000000</c:v>
                </c:pt>
                <c:pt idx="6">
                  <c:v>1620000</c:v>
                </c:pt>
                <c:pt idx="7">
                  <c:v>2280000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74B-4E86-BBE2-794B3F4F3F7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929305448175676E-2"/>
          <c:y val="0.81782581866905879"/>
          <c:w val="0.98307069455182428"/>
          <c:h val="0.162655683712223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X Fold3 Channel Split</a:t>
            </a:r>
          </a:p>
          <a:p>
            <a:pPr>
              <a:defRPr/>
            </a:pPr>
            <a:r>
              <a:rPr lang="en-US"/>
              <a:t>Budget – 8 Cr</a:t>
            </a:r>
          </a:p>
        </c:rich>
      </c:tx>
      <c:layout>
        <c:manualLayout>
          <c:xMode val="edge"/>
          <c:yMode val="edge"/>
          <c:x val="0.72985565874956404"/>
          <c:y val="0.368972753292116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3375042432604507"/>
          <c:y val="0.14024201956344173"/>
          <c:w val="0.28601706846627839"/>
          <c:h val="0.60707805122620151"/>
        </c:manualLayout>
      </c:layout>
      <c:pieChart>
        <c:varyColors val="1"/>
        <c:ser>
          <c:idx val="0"/>
          <c:order val="0"/>
          <c:tx>
            <c:strRef>
              <c:f>'ChannelSplit basis RnF-CPM-Cost'!$C$30</c:f>
              <c:strCache>
                <c:ptCount val="1"/>
                <c:pt idx="0">
                  <c:v>Share</c:v>
                </c:pt>
              </c:strCache>
            </c:strRef>
          </c:tx>
          <c:explosion val="5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F8-48BB-8212-F225EF9F35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F8-48BB-8212-F225EF9F35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F8-48BB-8212-F225EF9F358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BF8-48BB-8212-F225EF9F358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BF8-48BB-8212-F225EF9F358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BF8-48BB-8212-F225EF9F358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D02-4129-A644-89E926B18D6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DD02-4129-A644-89E926B18D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RnF-CPM-Cost'!$A$31:$A$38</c:f>
              <c:strCache>
                <c:ptCount val="8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  <c:pt idx="6">
                  <c:v>Concurrency &amp; Webcasting</c:v>
                </c:pt>
                <c:pt idx="7">
                  <c:v>Ad Serving &amp; Agency Fees</c:v>
                </c:pt>
              </c:strCache>
            </c:strRef>
          </c:cat>
          <c:val>
            <c:numRef>
              <c:f>'ChannelSplit basis RnF-CPM-Cost'!$C$31:$C$38</c:f>
              <c:numCache>
                <c:formatCode>0%</c:formatCode>
                <c:ptCount val="8"/>
                <c:pt idx="0">
                  <c:v>0.1875</c:v>
                </c:pt>
                <c:pt idx="1">
                  <c:v>0.17624999999999999</c:v>
                </c:pt>
                <c:pt idx="2">
                  <c:v>0.23749999999999999</c:v>
                </c:pt>
                <c:pt idx="3">
                  <c:v>5.6250000000000001E-2</c:v>
                </c:pt>
                <c:pt idx="4">
                  <c:v>6.8750000000000006E-2</c:v>
                </c:pt>
                <c:pt idx="5">
                  <c:v>0.22500000000000001</c:v>
                </c:pt>
                <c:pt idx="6">
                  <c:v>2.0250000000000001E-2</c:v>
                </c:pt>
                <c:pt idx="7">
                  <c:v>2.8500000000000001E-2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BF8-48BB-8212-F225EF9F358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3218636243466622E-4"/>
          <c:y val="0.77950370881948639"/>
          <c:w val="0.99725224443057403"/>
          <c:h val="0.18887005518404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900"/>
      </a:pPr>
      <a:endParaRPr lang="en-US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/>
              <a:t>X100 Channel Split</a:t>
            </a:r>
          </a:p>
          <a:p>
            <a:pPr>
              <a:defRPr sz="1100"/>
            </a:pPr>
            <a:r>
              <a:rPr lang="en-US" sz="1100"/>
              <a:t>Budget – 14.7 Cr</a:t>
            </a:r>
          </a:p>
        </c:rich>
      </c:tx>
      <c:layout>
        <c:manualLayout>
          <c:xMode val="edge"/>
          <c:yMode val="edge"/>
          <c:x val="0.69155153156281834"/>
          <c:y val="0.342617556628394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996531867863699"/>
          <c:y val="0.13109738888483069"/>
          <c:w val="0.28046836991532254"/>
          <c:h val="0.59530080617848813"/>
        </c:manualLayout>
      </c:layout>
      <c:pieChart>
        <c:varyColors val="1"/>
        <c:ser>
          <c:idx val="0"/>
          <c:order val="0"/>
          <c:tx>
            <c:strRef>
              <c:f>'ChannelSplit basis RF-CPM-Cost'!$C$74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00-44C4-9C1C-E6E72BCDFC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200-44C4-9C1C-E6E72BCDFC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200-44C4-9C1C-E6E72BCDFCB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200-44C4-9C1C-E6E72BCDFCB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200-44C4-9C1C-E6E72BCDFCB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200-44C4-9C1C-E6E72BCDFCB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200-44C4-9C1C-E6E72BCDFCB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200-44C4-9C1C-E6E72BCDFC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RF-CPM-Cost'!$A$75:$A$82</c:f>
              <c:strCache>
                <c:ptCount val="8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  <c:pt idx="6">
                  <c:v>Concurrency &amp; Webcasting</c:v>
                </c:pt>
                <c:pt idx="7">
                  <c:v>Ad Serving &amp; Agency Fees</c:v>
                </c:pt>
              </c:strCache>
            </c:strRef>
          </c:cat>
          <c:val>
            <c:numRef>
              <c:f>'ChannelSplit basis RF-CPM-Cost'!$C$75:$C$82</c:f>
              <c:numCache>
                <c:formatCode>0%</c:formatCode>
                <c:ptCount val="8"/>
                <c:pt idx="0">
                  <c:v>0.20493890221491504</c:v>
                </c:pt>
                <c:pt idx="1">
                  <c:v>0.24057664980879542</c:v>
                </c:pt>
                <c:pt idx="2">
                  <c:v>0.2270373440863438</c:v>
                </c:pt>
                <c:pt idx="3">
                  <c:v>5.7021735097891497E-2</c:v>
                </c:pt>
                <c:pt idx="4">
                  <c:v>9.4045388706678223E-2</c:v>
                </c:pt>
                <c:pt idx="5">
                  <c:v>0.13540275836228241</c:v>
                </c:pt>
                <c:pt idx="6">
                  <c:v>1.1021344214381825E-2</c:v>
                </c:pt>
                <c:pt idx="7">
                  <c:v>2.9955877508711846E-2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200-44C4-9C1C-E6E72BCDFCB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7268456108429029"/>
          <c:w val="0.99711771156466411"/>
          <c:h val="0.195689202919242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Reach dispersion</a:t>
            </a:r>
            <a:r>
              <a:rPr lang="en-US" baseline="0"/>
              <a:t> across X &amp; V Series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1+ Unique Reach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118851020</c:v>
                </c:pt>
                <c:pt idx="1">
                  <c:v>185763306</c:v>
                </c:pt>
                <c:pt idx="2">
                  <c:v>217709191</c:v>
                </c:pt>
                <c:pt idx="3">
                  <c:v>79200000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7-4541-8E90-C0A9F8F7E7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3+ Unique Reach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70451501</c:v>
                </c:pt>
                <c:pt idx="1">
                  <c:v>111665299</c:v>
                </c:pt>
                <c:pt idx="2">
                  <c:v>151044749</c:v>
                </c:pt>
                <c:pt idx="3">
                  <c:v>47500000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B7-4541-8E90-C0A9F8F7E7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5_+ Unique Reach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42141525</c:v>
                </c:pt>
                <c:pt idx="1">
                  <c:v>79975728</c:v>
                </c:pt>
                <c:pt idx="2">
                  <c:v>115319753</c:v>
                </c:pt>
                <c:pt idx="3">
                  <c:v>36000000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B7-4541-8E90-C0A9F8F7E7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7+ Unique Reach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28041049</c:v>
                </c:pt>
                <c:pt idx="1">
                  <c:v>61829975</c:v>
                </c:pt>
                <c:pt idx="2">
                  <c:v>94724560</c:v>
                </c:pt>
                <c:pt idx="3">
                  <c:v>28000000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B7-4541-8E90-C0A9F8F7E7B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10+ Unique Reach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Sheet1!$F$2:$F$5</c:f>
              <c:numCache>
                <c:formatCode>#,##0</c:formatCode>
                <c:ptCount val="4"/>
                <c:pt idx="0">
                  <c:v>15968425</c:v>
                </c:pt>
                <c:pt idx="1">
                  <c:v>44356286</c:v>
                </c:pt>
                <c:pt idx="2">
                  <c:v>74102706</c:v>
                </c:pt>
                <c:pt idx="3">
                  <c:v>20000000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B7-4541-8E90-C0A9F8F7E7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1665743"/>
        <c:axId val="541642863"/>
      </c:barChart>
      <c:catAx>
        <c:axId val="54166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642863"/>
        <c:crosses val="autoZero"/>
        <c:auto val="1"/>
        <c:lblAlgn val="ctr"/>
        <c:lblOffset val="100"/>
        <c:noMultiLvlLbl val="0"/>
      </c:catAx>
      <c:valAx>
        <c:axId val="541642863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665743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2"/>
      </a:solidFill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Reach dispersion pattern across X &amp; V Series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1+ Unique Reach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30-4C72-83DE-61388938A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3+ Unique Reach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0.59277153027378304</c:v>
                </c:pt>
                <c:pt idx="1">
                  <c:v>0.60111601911305346</c:v>
                </c:pt>
                <c:pt idx="2">
                  <c:v>0.69379132918646502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30-4C72-83DE-61388938AB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5_+ Unique Reach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0.35457436545348958</c:v>
                </c:pt>
                <c:pt idx="1">
                  <c:v>0.43052489602009991</c:v>
                </c:pt>
                <c:pt idx="2">
                  <c:v>0.52969630023566616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30-4C72-83DE-61388938ABC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7+ Unique Reach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0.23593444128624222</c:v>
                </c:pt>
                <c:pt idx="1">
                  <c:v>0.33284277897164471</c:v>
                </c:pt>
                <c:pt idx="2">
                  <c:v>0.43509674334327941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430-4C72-83DE-61388938ABC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10+ Unique Reach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X90</c:v>
                </c:pt>
                <c:pt idx="1">
                  <c:v>X100</c:v>
                </c:pt>
                <c:pt idx="2">
                  <c:v>V30</c:v>
                </c:pt>
                <c:pt idx="3">
                  <c:v>X Fold3</c:v>
                </c:pt>
              </c:strCache>
            </c:strRef>
          </c:cat>
          <c:val>
            <c:numRef>
              <c:f>Sheet1!$F$2:$F$5</c:f>
              <c:numCache>
                <c:formatCode>0%</c:formatCode>
                <c:ptCount val="4"/>
                <c:pt idx="0">
                  <c:v>0.13435665087266394</c:v>
                </c:pt>
                <c:pt idx="1">
                  <c:v>0.23877851312573001</c:v>
                </c:pt>
                <c:pt idx="2">
                  <c:v>0.34037472492376308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30-4C72-83DE-61388938AB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41665743"/>
        <c:axId val="541642863"/>
      </c:barChart>
      <c:catAx>
        <c:axId val="54166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642863"/>
        <c:crosses val="autoZero"/>
        <c:auto val="1"/>
        <c:lblAlgn val="ctr"/>
        <c:lblOffset val="100"/>
        <c:noMultiLvlLbl val="0"/>
      </c:catAx>
      <c:valAx>
        <c:axId val="54164286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4166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2"/>
      </a:solidFill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QV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Sheet1!$A$2:$A$43</c:f>
              <c:numCache>
                <c:formatCode>d\-mmm\-yy</c:formatCode>
                <c:ptCount val="42"/>
                <c:pt idx="0">
                  <c:v>45432</c:v>
                </c:pt>
                <c:pt idx="1">
                  <c:v>45433</c:v>
                </c:pt>
                <c:pt idx="2">
                  <c:v>45434</c:v>
                </c:pt>
                <c:pt idx="3">
                  <c:v>45435</c:v>
                </c:pt>
                <c:pt idx="4">
                  <c:v>45436</c:v>
                </c:pt>
                <c:pt idx="5">
                  <c:v>45437</c:v>
                </c:pt>
                <c:pt idx="6">
                  <c:v>45438</c:v>
                </c:pt>
                <c:pt idx="7">
                  <c:v>45439</c:v>
                </c:pt>
                <c:pt idx="8">
                  <c:v>45440</c:v>
                </c:pt>
                <c:pt idx="9">
                  <c:v>45441</c:v>
                </c:pt>
                <c:pt idx="10">
                  <c:v>45442</c:v>
                </c:pt>
                <c:pt idx="11">
                  <c:v>45443</c:v>
                </c:pt>
                <c:pt idx="12">
                  <c:v>45444</c:v>
                </c:pt>
                <c:pt idx="13">
                  <c:v>45445</c:v>
                </c:pt>
                <c:pt idx="14">
                  <c:v>45446</c:v>
                </c:pt>
                <c:pt idx="15">
                  <c:v>45447</c:v>
                </c:pt>
                <c:pt idx="16">
                  <c:v>45448</c:v>
                </c:pt>
                <c:pt idx="17">
                  <c:v>45449</c:v>
                </c:pt>
                <c:pt idx="18">
                  <c:v>45450</c:v>
                </c:pt>
                <c:pt idx="19">
                  <c:v>45451</c:v>
                </c:pt>
                <c:pt idx="20">
                  <c:v>45452</c:v>
                </c:pt>
                <c:pt idx="21">
                  <c:v>45453</c:v>
                </c:pt>
                <c:pt idx="22">
                  <c:v>45454</c:v>
                </c:pt>
                <c:pt idx="23">
                  <c:v>45455</c:v>
                </c:pt>
                <c:pt idx="24">
                  <c:v>45456</c:v>
                </c:pt>
                <c:pt idx="25">
                  <c:v>45457</c:v>
                </c:pt>
                <c:pt idx="26">
                  <c:v>45458</c:v>
                </c:pt>
                <c:pt idx="27">
                  <c:v>45459</c:v>
                </c:pt>
                <c:pt idx="28">
                  <c:v>45460</c:v>
                </c:pt>
                <c:pt idx="29">
                  <c:v>45461</c:v>
                </c:pt>
                <c:pt idx="30">
                  <c:v>45462</c:v>
                </c:pt>
                <c:pt idx="31">
                  <c:v>45463</c:v>
                </c:pt>
                <c:pt idx="32">
                  <c:v>45464</c:v>
                </c:pt>
                <c:pt idx="33">
                  <c:v>45465</c:v>
                </c:pt>
                <c:pt idx="34">
                  <c:v>45466</c:v>
                </c:pt>
                <c:pt idx="35">
                  <c:v>45467</c:v>
                </c:pt>
                <c:pt idx="36">
                  <c:v>45468</c:v>
                </c:pt>
                <c:pt idx="37">
                  <c:v>45469</c:v>
                </c:pt>
                <c:pt idx="38">
                  <c:v>45470</c:v>
                </c:pt>
                <c:pt idx="39">
                  <c:v>45471</c:v>
                </c:pt>
                <c:pt idx="40">
                  <c:v>45472</c:v>
                </c:pt>
                <c:pt idx="41">
                  <c:v>45473</c:v>
                </c:pt>
              </c:numCache>
            </c:num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12195</c:v>
                </c:pt>
                <c:pt idx="1">
                  <c:v>26450</c:v>
                </c:pt>
                <c:pt idx="2">
                  <c:v>31050</c:v>
                </c:pt>
                <c:pt idx="3">
                  <c:v>35650</c:v>
                </c:pt>
                <c:pt idx="4">
                  <c:v>32200</c:v>
                </c:pt>
                <c:pt idx="5">
                  <c:v>33350</c:v>
                </c:pt>
                <c:pt idx="6">
                  <c:v>40250</c:v>
                </c:pt>
                <c:pt idx="7">
                  <c:v>39100</c:v>
                </c:pt>
                <c:pt idx="8">
                  <c:v>34500</c:v>
                </c:pt>
                <c:pt idx="9">
                  <c:v>34500</c:v>
                </c:pt>
                <c:pt idx="10">
                  <c:v>32200</c:v>
                </c:pt>
                <c:pt idx="11">
                  <c:v>34500</c:v>
                </c:pt>
                <c:pt idx="12">
                  <c:v>32200</c:v>
                </c:pt>
                <c:pt idx="13">
                  <c:v>34500</c:v>
                </c:pt>
                <c:pt idx="14">
                  <c:v>36800</c:v>
                </c:pt>
                <c:pt idx="15">
                  <c:v>44850</c:v>
                </c:pt>
                <c:pt idx="16">
                  <c:v>52900</c:v>
                </c:pt>
                <c:pt idx="17">
                  <c:v>104868</c:v>
                </c:pt>
                <c:pt idx="18">
                  <c:v>55000</c:v>
                </c:pt>
                <c:pt idx="19">
                  <c:v>45000</c:v>
                </c:pt>
                <c:pt idx="20">
                  <c:v>40000</c:v>
                </c:pt>
                <c:pt idx="21">
                  <c:v>41000</c:v>
                </c:pt>
                <c:pt idx="22">
                  <c:v>35000</c:v>
                </c:pt>
                <c:pt idx="23">
                  <c:v>35000</c:v>
                </c:pt>
                <c:pt idx="24">
                  <c:v>58978</c:v>
                </c:pt>
                <c:pt idx="25">
                  <c:v>35000</c:v>
                </c:pt>
                <c:pt idx="26">
                  <c:v>33000</c:v>
                </c:pt>
                <c:pt idx="27">
                  <c:v>25000</c:v>
                </c:pt>
                <c:pt idx="28">
                  <c:v>23180</c:v>
                </c:pt>
                <c:pt idx="29">
                  <c:v>22800</c:v>
                </c:pt>
                <c:pt idx="30">
                  <c:v>21280</c:v>
                </c:pt>
                <c:pt idx="31">
                  <c:v>22800</c:v>
                </c:pt>
                <c:pt idx="32">
                  <c:v>22040</c:v>
                </c:pt>
                <c:pt idx="33">
                  <c:v>20900</c:v>
                </c:pt>
                <c:pt idx="34">
                  <c:v>19000</c:v>
                </c:pt>
                <c:pt idx="35">
                  <c:v>17100</c:v>
                </c:pt>
                <c:pt idx="36">
                  <c:v>15960</c:v>
                </c:pt>
                <c:pt idx="37">
                  <c:v>15200</c:v>
                </c:pt>
                <c:pt idx="38">
                  <c:v>15960</c:v>
                </c:pt>
                <c:pt idx="39">
                  <c:v>15200</c:v>
                </c:pt>
                <c:pt idx="40">
                  <c:v>15580</c:v>
                </c:pt>
                <c:pt idx="41">
                  <c:v>15960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E4-4335-ACDC-45ED8320F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5716511"/>
        <c:axId val="1255722335"/>
      </c:lineChart>
      <c:dateAx>
        <c:axId val="1255716511"/>
        <c:scaling>
          <c:orientation val="minMax"/>
        </c:scaling>
        <c:delete val="0"/>
        <c:axPos val="b"/>
        <c:numFmt formatCode="d\-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722335"/>
        <c:crosses val="autoZero"/>
        <c:auto val="1"/>
        <c:lblOffset val="100"/>
        <c:baseTimeUnit val="days"/>
      </c:dateAx>
      <c:valAx>
        <c:axId val="12557223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71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1 - 14 Cr</a:t>
            </a:r>
          </a:p>
          <a:p>
            <a:pPr>
              <a:defRPr/>
            </a:pPr>
            <a:r>
              <a:rPr lang="en-US"/>
              <a:t>(Core + Cover)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0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7EF-402E-8D7C-6480741117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7EF-402E-8D7C-6480741117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7EF-402E-8D7C-6480741117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7EF-402E-8D7C-6480741117E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7EF-402E-8D7C-6480741117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7EF-402E-8D7C-648074111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bg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7EF-402E-8D7C-6480741117EC}"/>
            </c:ext>
          </c:extLst>
        </c:ser>
        <c:ser>
          <c:idx val="3"/>
          <c:order val="1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F7EF-402E-8D7C-6480741117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F7EF-402E-8D7C-6480741117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F7EF-402E-8D7C-6480741117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F7EF-402E-8D7C-6480741117E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F7EF-402E-8D7C-6480741117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F7EF-402E-8D7C-648074111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7EF-402E-8D7C-6480741117EC}"/>
            </c:ext>
          </c:extLst>
        </c:ser>
        <c:ser>
          <c:idx val="1"/>
          <c:order val="2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7EF-402E-8D7C-6480741117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7EF-402E-8D7C-6480741117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7EF-402E-8D7C-6480741117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7EF-402E-8D7C-6480741117E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7EF-402E-8D7C-6480741117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7EF-402E-8D7C-648074111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F7EF-402E-8D7C-6480741117EC}"/>
            </c:ext>
          </c:extLst>
        </c:ser>
        <c:ser>
          <c:idx val="0"/>
          <c:order val="3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F7EF-402E-8D7C-6480741117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F7EF-402E-8D7C-6480741117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F7EF-402E-8D7C-6480741117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F7EF-402E-8D7C-6480741117E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F7EF-402E-8D7C-6480741117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F7EF-402E-8D7C-6480741117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3-F7EF-402E-8D7C-6480741117E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2 - 6 Cr</a:t>
            </a:r>
          </a:p>
          <a:p>
            <a:pPr>
              <a:defRPr/>
            </a:pPr>
            <a:r>
              <a:rPr lang="en-US"/>
              <a:t>(Top 10% HHI)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'ChannelSplit basis RnF-CPM-Cost'!$C$20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46-47AE-BAAD-466C2B1D98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46-47AE-BAAD-466C2B1D98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46-47AE-BAAD-466C2B1D98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46-47AE-BAAD-466C2B1D983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246-47AE-BAAD-466C2B1D983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246-47AE-BAAD-466C2B1D98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bg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RnF-CPM-Cost'!$A$21:$A$26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RnF-CPM-Cost'!$C$21:$C$26</c:f>
              <c:numCache>
                <c:formatCode>#,##0</c:formatCode>
                <c:ptCount val="6"/>
                <c:pt idx="0">
                  <c:v>12000000</c:v>
                </c:pt>
                <c:pt idx="1">
                  <c:v>10000000</c:v>
                </c:pt>
                <c:pt idx="2">
                  <c:v>15000000</c:v>
                </c:pt>
                <c:pt idx="3">
                  <c:v>3000000</c:v>
                </c:pt>
                <c:pt idx="4">
                  <c:v>2500000</c:v>
                </c:pt>
                <c:pt idx="5">
                  <c:v>17500000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46-47AE-BAAD-466C2B1D98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2 - 6 Cr</a:t>
            </a:r>
          </a:p>
          <a:p>
            <a:pPr>
              <a:defRPr/>
            </a:pPr>
            <a:r>
              <a:rPr lang="en-US"/>
              <a:t>(Top 10% HHI)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'ChannelSplit basis RnF-CPM-Cost'!$C$20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8A9-42AF-8A02-06AD8AD57E7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8A9-42AF-8A02-06AD8AD57E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8A9-42AF-8A02-06AD8AD57E7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8A9-42AF-8A02-06AD8AD57E7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8A9-42AF-8A02-06AD8AD57E7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8A9-42AF-8A02-06AD8AD57E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RnF-CPM-Cost'!$A$21:$A$26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RnF-CPM-Cost'!$C$21:$C$26</c:f>
              <c:numCache>
                <c:formatCode>#,##0</c:formatCode>
                <c:ptCount val="6"/>
                <c:pt idx="0">
                  <c:v>12000000</c:v>
                </c:pt>
                <c:pt idx="1">
                  <c:v>10000000</c:v>
                </c:pt>
                <c:pt idx="2">
                  <c:v>15000000</c:v>
                </c:pt>
                <c:pt idx="3">
                  <c:v>3000000</c:v>
                </c:pt>
                <c:pt idx="4">
                  <c:v>2500000</c:v>
                </c:pt>
                <c:pt idx="5">
                  <c:v>17500000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A9-42AF-8A02-06AD8AD57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3 - 8 Cr</a:t>
            </a:r>
          </a:p>
          <a:p>
            <a:pPr>
              <a:defRPr/>
            </a:pPr>
            <a:r>
              <a:rPr lang="en-US"/>
              <a:t>(Core Only)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'ChannelSplit basis RnF-CPM-Cost'!$C$30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F8-48BB-8212-F225EF9F35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F8-48BB-8212-F225EF9F35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F8-48BB-8212-F225EF9F358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BF8-48BB-8212-F225EF9F358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BF8-48BB-8212-F225EF9F358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BF8-48BB-8212-F225EF9F35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RnF-CPM-Cost'!$A$31:$A$36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RnF-CPM-Cost'!$C$31:$C$36</c:f>
              <c:numCache>
                <c:formatCode>#,##0</c:formatCode>
                <c:ptCount val="6"/>
                <c:pt idx="0">
                  <c:v>15000000</c:v>
                </c:pt>
                <c:pt idx="1">
                  <c:v>15000000</c:v>
                </c:pt>
                <c:pt idx="2">
                  <c:v>20000000</c:v>
                </c:pt>
                <c:pt idx="3">
                  <c:v>4500000</c:v>
                </c:pt>
                <c:pt idx="4">
                  <c:v>5500000</c:v>
                </c:pt>
                <c:pt idx="5">
                  <c:v>20000000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BF8-48BB-8212-F225EF9F358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Option 1 - 14 Cr</a:t>
            </a:r>
          </a:p>
          <a:p>
            <a:pPr>
              <a:defRPr/>
            </a:pPr>
            <a:r>
              <a:rPr lang="en-US"/>
              <a:t>(Core + Cover)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0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43-45FA-B1AB-81B4573C5E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43-45FA-B1AB-81B4573C5E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43-45FA-B1AB-81B4573C5E3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43-45FA-B1AB-81B4573C5E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743-45FA-B1AB-81B4573C5E3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743-45FA-B1AB-81B4573C5E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743-45FA-B1AB-81B4573C5E3F}"/>
            </c:ext>
          </c:extLst>
        </c:ser>
        <c:ser>
          <c:idx val="3"/>
          <c:order val="1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743-45FA-B1AB-81B4573C5E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743-45FA-B1AB-81B4573C5E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4743-45FA-B1AB-81B4573C5E3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4743-45FA-B1AB-81B4573C5E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4743-45FA-B1AB-81B4573C5E3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4743-45FA-B1AB-81B4573C5E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4743-45FA-B1AB-81B4573C5E3F}"/>
            </c:ext>
          </c:extLst>
        </c:ser>
        <c:ser>
          <c:idx val="1"/>
          <c:order val="2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4743-45FA-B1AB-81B4573C5E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4743-45FA-B1AB-81B4573C5E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4743-45FA-B1AB-81B4573C5E3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4743-45FA-B1AB-81B4573C5E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4743-45FA-B1AB-81B4573C5E3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4743-45FA-B1AB-81B4573C5E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4743-45FA-B1AB-81B4573C5E3F}"/>
            </c:ext>
          </c:extLst>
        </c:ser>
        <c:ser>
          <c:idx val="0"/>
          <c:order val="3"/>
          <c:tx>
            <c:strRef>
              <c:f>'ChannelSplit basis RnF-CPM-Cost'!$B$10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4743-45FA-B1AB-81B4573C5E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4743-45FA-B1AB-81B4573C5E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4743-45FA-B1AB-81B4573C5E3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4743-45FA-B1AB-81B4573C5E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4743-45FA-B1AB-81B4573C5E3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4743-45FA-B1AB-81B4573C5E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'ChannelSplit basis RnF-CPM-Cost'!$A$11:$A$16</c:f>
              <c:strCache>
                <c:ptCount val="6"/>
                <c:pt idx="0">
                  <c:v>Online Search</c:v>
                </c:pt>
                <c:pt idx="1">
                  <c:v>Social Media </c:v>
                </c:pt>
                <c:pt idx="2">
                  <c:v>Online Video Auction</c:v>
                </c:pt>
                <c:pt idx="3">
                  <c:v>Display Auction</c:v>
                </c:pt>
                <c:pt idx="4">
                  <c:v>Online Video Reserve Buy</c:v>
                </c:pt>
                <c:pt idx="5">
                  <c:v>Display Reserve Buy</c:v>
                </c:pt>
              </c:strCache>
            </c:strRef>
          </c:cat>
          <c:val>
            <c:numRef>
              <c:f>'ChannelSplit basis RnF-CPM-Cost'!$B$11:$B$16</c:f>
              <c:numCache>
                <c:formatCode>#,##0</c:formatCode>
                <c:ptCount val="6"/>
                <c:pt idx="0">
                  <c:v>27500000</c:v>
                </c:pt>
                <c:pt idx="1">
                  <c:v>30000000</c:v>
                </c:pt>
                <c:pt idx="2">
                  <c:v>37000000</c:v>
                </c:pt>
                <c:pt idx="3">
                  <c:v>7500000</c:v>
                </c:pt>
                <c:pt idx="4">
                  <c:v>8000000</c:v>
                </c:pt>
                <c:pt idx="5">
                  <c:v>30000000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3-4743-45FA-B1AB-81B4573C5E3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000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5C9D0-7F96-47C2-AD28-BB4B4F9B86EA}" type="doc">
      <dgm:prSet loTypeId="urn:microsoft.com/office/officeart/2005/8/layout/target3" loCatId="list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504584F-0F85-414B-8807-C530CD9CBE1E}">
      <dgm:prSet phldrT="[Text]" custT="1"/>
      <dgm:spPr/>
      <dgm:t>
        <a:bodyPr/>
        <a:lstStyle/>
        <a:p>
          <a:r>
            <a:rPr lang="en-US" sz="2400"/>
            <a:t>*Competition</a:t>
          </a:r>
          <a:br>
            <a:rPr lang="en-US" sz="2400"/>
          </a:br>
          <a:r>
            <a:rPr lang="en-US" sz="2400" b="1" u="sng"/>
            <a:t>P1</a:t>
          </a:r>
        </a:p>
      </dgm:t>
    </dgm:pt>
    <dgm:pt modelId="{4107F957-9545-40BA-A674-0FE430F29040}" type="parTrans" cxnId="{6A1F1751-B8DC-4E49-A1AB-D923C48AD7CE}">
      <dgm:prSet/>
      <dgm:spPr/>
      <dgm:t>
        <a:bodyPr/>
        <a:lstStyle/>
        <a:p>
          <a:endParaRPr lang="en-US"/>
        </a:p>
      </dgm:t>
    </dgm:pt>
    <dgm:pt modelId="{FBEE68FD-3417-4B5A-8333-CF757C68E4E2}" type="sibTrans" cxnId="{6A1F1751-B8DC-4E49-A1AB-D923C48AD7CE}">
      <dgm:prSet/>
      <dgm:spPr/>
      <dgm:t>
        <a:bodyPr/>
        <a:lstStyle/>
        <a:p>
          <a:endParaRPr lang="en-US"/>
        </a:p>
      </dgm:t>
    </dgm:pt>
    <dgm:pt modelId="{8D55098E-5F71-411F-8797-C74A53E0BC51}">
      <dgm:prSet phldrT="[Text]" custT="1"/>
      <dgm:spPr/>
      <dgm:t>
        <a:bodyPr/>
        <a:lstStyle/>
        <a:p>
          <a:r>
            <a:rPr lang="en-US" sz="1600"/>
            <a:t>Capture Market Share</a:t>
          </a:r>
        </a:p>
      </dgm:t>
    </dgm:pt>
    <dgm:pt modelId="{B58BE43F-1F13-49C4-8108-345A2E59BEC6}" type="parTrans" cxnId="{4687B036-2A95-4ABD-A8EE-432EB28DA9AD}">
      <dgm:prSet/>
      <dgm:spPr/>
      <dgm:t>
        <a:bodyPr/>
        <a:lstStyle/>
        <a:p>
          <a:endParaRPr lang="en-US"/>
        </a:p>
      </dgm:t>
    </dgm:pt>
    <dgm:pt modelId="{5BB869F3-CE5E-4B9E-B695-C584F0397785}" type="sibTrans" cxnId="{4687B036-2A95-4ABD-A8EE-432EB28DA9AD}">
      <dgm:prSet/>
      <dgm:spPr/>
      <dgm:t>
        <a:bodyPr/>
        <a:lstStyle/>
        <a:p>
          <a:endParaRPr lang="en-US"/>
        </a:p>
      </dgm:t>
    </dgm:pt>
    <dgm:pt modelId="{815F3397-F0A9-41B6-B474-7C29114CF18E}">
      <dgm:prSet phldrT="[Text]" custT="1"/>
      <dgm:spPr/>
      <dgm:t>
        <a:bodyPr/>
        <a:lstStyle/>
        <a:p>
          <a:r>
            <a:rPr lang="en-US" sz="1600"/>
            <a:t>Drive Consideration</a:t>
          </a:r>
          <a:br>
            <a:rPr lang="en-US" sz="1600"/>
          </a:br>
          <a:endParaRPr lang="en-US" sz="1600" i="1" u="sng"/>
        </a:p>
      </dgm:t>
    </dgm:pt>
    <dgm:pt modelId="{404937AF-FCED-41FC-B041-3BBE41B609BE}" type="parTrans" cxnId="{387A43F3-F6DE-44FF-A83C-CF21A014A573}">
      <dgm:prSet/>
      <dgm:spPr/>
      <dgm:t>
        <a:bodyPr/>
        <a:lstStyle/>
        <a:p>
          <a:endParaRPr lang="en-US"/>
        </a:p>
      </dgm:t>
    </dgm:pt>
    <dgm:pt modelId="{1C0CFAD7-11B0-4F63-8050-C61D937D3859}" type="sibTrans" cxnId="{387A43F3-F6DE-44FF-A83C-CF21A014A573}">
      <dgm:prSet/>
      <dgm:spPr/>
      <dgm:t>
        <a:bodyPr/>
        <a:lstStyle/>
        <a:p>
          <a:endParaRPr lang="en-US"/>
        </a:p>
      </dgm:t>
    </dgm:pt>
    <dgm:pt modelId="{64F72A1F-11CB-43BE-8466-BCB30502EAC5}">
      <dgm:prSet phldrT="[Text]" custT="1"/>
      <dgm:spPr/>
      <dgm:t>
        <a:bodyPr/>
        <a:lstStyle/>
        <a:p>
          <a:r>
            <a:rPr lang="en-US" sz="2400"/>
            <a:t>Brand</a:t>
          </a:r>
          <a:br>
            <a:rPr lang="en-US" sz="2400"/>
          </a:br>
          <a:r>
            <a:rPr lang="en-US" sz="1400"/>
            <a:t>(incl. Brand Others)</a:t>
          </a:r>
          <a:br>
            <a:rPr lang="en-US" sz="2400"/>
          </a:br>
          <a:r>
            <a:rPr lang="en-US" sz="2400" b="1" u="sng"/>
            <a:t>P3</a:t>
          </a:r>
        </a:p>
      </dgm:t>
    </dgm:pt>
    <dgm:pt modelId="{CA1E4895-7A4D-4189-9CE0-9B4DEA0EFBC2}" type="parTrans" cxnId="{81815A7C-9146-40B6-8158-C37D3E422E70}">
      <dgm:prSet/>
      <dgm:spPr/>
      <dgm:t>
        <a:bodyPr/>
        <a:lstStyle/>
        <a:p>
          <a:endParaRPr lang="en-US"/>
        </a:p>
      </dgm:t>
    </dgm:pt>
    <dgm:pt modelId="{6E603279-21AF-44B6-A7F3-9E2C1BC7E580}" type="sibTrans" cxnId="{81815A7C-9146-40B6-8158-C37D3E422E70}">
      <dgm:prSet/>
      <dgm:spPr/>
      <dgm:t>
        <a:bodyPr/>
        <a:lstStyle/>
        <a:p>
          <a:endParaRPr lang="en-US"/>
        </a:p>
      </dgm:t>
    </dgm:pt>
    <dgm:pt modelId="{A50C9E98-6989-418F-9C78-27413E4C309B}">
      <dgm:prSet phldrT="[Text]" custT="1"/>
      <dgm:spPr/>
      <dgm:t>
        <a:bodyPr/>
        <a:lstStyle/>
        <a:p>
          <a:r>
            <a:rPr lang="en-US" sz="1600"/>
            <a:t>Protect Brand Real Estate</a:t>
          </a:r>
          <a:br>
            <a:rPr lang="en-US" sz="1600"/>
          </a:br>
          <a:endParaRPr lang="en-US" sz="1600" i="1" u="sng"/>
        </a:p>
      </dgm:t>
    </dgm:pt>
    <dgm:pt modelId="{279992A4-1BDF-4F99-BE82-839A95E55143}" type="parTrans" cxnId="{79A405C8-5284-448F-BB0D-0EC740A7D578}">
      <dgm:prSet/>
      <dgm:spPr/>
      <dgm:t>
        <a:bodyPr/>
        <a:lstStyle/>
        <a:p>
          <a:endParaRPr lang="en-US"/>
        </a:p>
      </dgm:t>
    </dgm:pt>
    <dgm:pt modelId="{CE80549B-0B32-48A6-BB54-34B988A32D4E}" type="sibTrans" cxnId="{79A405C8-5284-448F-BB0D-0EC740A7D578}">
      <dgm:prSet/>
      <dgm:spPr/>
      <dgm:t>
        <a:bodyPr/>
        <a:lstStyle/>
        <a:p>
          <a:endParaRPr lang="en-US"/>
        </a:p>
      </dgm:t>
    </dgm:pt>
    <dgm:pt modelId="{70719FD0-3446-4869-874E-B69EE455F6A9}">
      <dgm:prSet phldrT="[Text]" custT="1"/>
      <dgm:spPr/>
      <dgm:t>
        <a:bodyPr/>
        <a:lstStyle/>
        <a:p>
          <a:r>
            <a:rPr lang="en-US" sz="2400"/>
            <a:t>*Generic</a:t>
          </a:r>
          <a:br>
            <a:rPr lang="en-US" sz="2400"/>
          </a:br>
          <a:r>
            <a:rPr lang="en-US" sz="2400" b="1" u="sng"/>
            <a:t>P2</a:t>
          </a:r>
        </a:p>
      </dgm:t>
    </dgm:pt>
    <dgm:pt modelId="{80C0E347-9882-4774-B906-36EC9B98BE05}" type="parTrans" cxnId="{019B346D-8E7B-456B-9C90-3951D4288058}">
      <dgm:prSet/>
      <dgm:spPr/>
      <dgm:t>
        <a:bodyPr/>
        <a:lstStyle/>
        <a:p>
          <a:endParaRPr lang="en-US"/>
        </a:p>
      </dgm:t>
    </dgm:pt>
    <dgm:pt modelId="{D01B23E4-FD7A-4B28-A57E-DD22E1E5700C}" type="sibTrans" cxnId="{019B346D-8E7B-456B-9C90-3951D4288058}">
      <dgm:prSet/>
      <dgm:spPr/>
      <dgm:t>
        <a:bodyPr/>
        <a:lstStyle/>
        <a:p>
          <a:endParaRPr lang="en-US"/>
        </a:p>
      </dgm:t>
    </dgm:pt>
    <dgm:pt modelId="{EF16E76E-38D0-4CF6-92F9-28AEA694BBEE}">
      <dgm:prSet phldrT="[Text]" custT="1"/>
      <dgm:spPr/>
      <dgm:t>
        <a:bodyPr/>
        <a:lstStyle/>
        <a:p>
          <a:r>
            <a:rPr lang="en-US" sz="1600"/>
            <a:t>Improve Brand visibility</a:t>
          </a:r>
        </a:p>
      </dgm:t>
    </dgm:pt>
    <dgm:pt modelId="{77359906-0ABA-4D64-8466-1F228D14E8CF}" type="parTrans" cxnId="{53957A5C-1DAA-4A17-8EDC-4CB4B1934878}">
      <dgm:prSet/>
      <dgm:spPr/>
      <dgm:t>
        <a:bodyPr/>
        <a:lstStyle/>
        <a:p>
          <a:endParaRPr lang="en-US"/>
        </a:p>
      </dgm:t>
    </dgm:pt>
    <dgm:pt modelId="{F4065A5A-9EAC-43B4-98B9-317BCB7FA533}" type="sibTrans" cxnId="{53957A5C-1DAA-4A17-8EDC-4CB4B1934878}">
      <dgm:prSet/>
      <dgm:spPr/>
      <dgm:t>
        <a:bodyPr/>
        <a:lstStyle/>
        <a:p>
          <a:endParaRPr lang="en-US"/>
        </a:p>
      </dgm:t>
    </dgm:pt>
    <dgm:pt modelId="{431F5CCF-7AC6-4070-B05C-50FE6E471BD2}">
      <dgm:prSet phldrT="[Text]" custT="1"/>
      <dgm:spPr/>
      <dgm:t>
        <a:bodyPr/>
        <a:lstStyle/>
        <a:p>
          <a:r>
            <a:rPr lang="en-US" sz="1600"/>
            <a:t>Uplift Brand Core Searches</a:t>
          </a:r>
          <a:br>
            <a:rPr lang="en-US" sz="1600"/>
          </a:br>
          <a:endParaRPr lang="en-US" sz="1600" i="1" u="sng"/>
        </a:p>
      </dgm:t>
    </dgm:pt>
    <dgm:pt modelId="{3F55513E-C873-4B31-85F0-A95B4FB263A0}" type="parTrans" cxnId="{BB085FE0-E7DF-489E-AB42-A9D1C2A48089}">
      <dgm:prSet/>
      <dgm:spPr/>
      <dgm:t>
        <a:bodyPr/>
        <a:lstStyle/>
        <a:p>
          <a:endParaRPr lang="en-US"/>
        </a:p>
      </dgm:t>
    </dgm:pt>
    <dgm:pt modelId="{81F2007C-886E-4A55-8182-D15098DBCB77}" type="sibTrans" cxnId="{BB085FE0-E7DF-489E-AB42-A9D1C2A48089}">
      <dgm:prSet/>
      <dgm:spPr/>
      <dgm:t>
        <a:bodyPr/>
        <a:lstStyle/>
        <a:p>
          <a:endParaRPr lang="en-US"/>
        </a:p>
      </dgm:t>
    </dgm:pt>
    <dgm:pt modelId="{CBC90E90-D944-4E6C-B8BA-939E651B7772}" type="pres">
      <dgm:prSet presAssocID="{D0E5C9D0-7F96-47C2-AD28-BB4B4F9B86E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F6AC630-987D-4A7B-83C2-C7B6AA495A5E}" type="pres">
      <dgm:prSet presAssocID="{6504584F-0F85-414B-8807-C530CD9CBE1E}" presName="circle1" presStyleLbl="node1" presStyleIdx="0" presStyleCnt="3"/>
      <dgm:spPr/>
    </dgm:pt>
    <dgm:pt modelId="{17659117-7DDA-4F79-AB3C-E2361DF9F3C5}" type="pres">
      <dgm:prSet presAssocID="{6504584F-0F85-414B-8807-C530CD9CBE1E}" presName="space" presStyleCnt="0"/>
      <dgm:spPr/>
    </dgm:pt>
    <dgm:pt modelId="{CD3D8ABF-297F-4672-A468-E5A0E7934314}" type="pres">
      <dgm:prSet presAssocID="{6504584F-0F85-414B-8807-C530CD9CBE1E}" presName="rect1" presStyleLbl="alignAcc1" presStyleIdx="0" presStyleCnt="3"/>
      <dgm:spPr/>
    </dgm:pt>
    <dgm:pt modelId="{63BBC9D7-EF9B-496E-BFC2-DA43176FA169}" type="pres">
      <dgm:prSet presAssocID="{64F72A1F-11CB-43BE-8466-BCB30502EAC5}" presName="vertSpace2" presStyleLbl="node1" presStyleIdx="0" presStyleCnt="3"/>
      <dgm:spPr/>
    </dgm:pt>
    <dgm:pt modelId="{A626D086-8E0B-475E-ACAF-206AC57E0645}" type="pres">
      <dgm:prSet presAssocID="{64F72A1F-11CB-43BE-8466-BCB30502EAC5}" presName="circle2" presStyleLbl="node1" presStyleIdx="1" presStyleCnt="3"/>
      <dgm:spPr/>
    </dgm:pt>
    <dgm:pt modelId="{E16DA083-C81F-4AA0-911D-77AB22D95843}" type="pres">
      <dgm:prSet presAssocID="{64F72A1F-11CB-43BE-8466-BCB30502EAC5}" presName="rect2" presStyleLbl="alignAcc1" presStyleIdx="1" presStyleCnt="3"/>
      <dgm:spPr/>
    </dgm:pt>
    <dgm:pt modelId="{5B59413D-C1BC-4737-B365-66EC4BEE29AD}" type="pres">
      <dgm:prSet presAssocID="{70719FD0-3446-4869-874E-B69EE455F6A9}" presName="vertSpace3" presStyleLbl="node1" presStyleIdx="1" presStyleCnt="3"/>
      <dgm:spPr/>
    </dgm:pt>
    <dgm:pt modelId="{CF5D086F-7288-4EBA-879D-49BD6E35E5AB}" type="pres">
      <dgm:prSet presAssocID="{70719FD0-3446-4869-874E-B69EE455F6A9}" presName="circle3" presStyleLbl="node1" presStyleIdx="2" presStyleCnt="3"/>
      <dgm:spPr/>
    </dgm:pt>
    <dgm:pt modelId="{6D991FC8-D1AE-4E42-AB70-7594887C45DA}" type="pres">
      <dgm:prSet presAssocID="{70719FD0-3446-4869-874E-B69EE455F6A9}" presName="rect3" presStyleLbl="alignAcc1" presStyleIdx="2" presStyleCnt="3"/>
      <dgm:spPr/>
    </dgm:pt>
    <dgm:pt modelId="{90802DC4-3A15-406F-85AF-222DDB9742D9}" type="pres">
      <dgm:prSet presAssocID="{6504584F-0F85-414B-8807-C530CD9CBE1E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0A3BDCD5-0618-4087-9C81-5725C8D7E20A}" type="pres">
      <dgm:prSet presAssocID="{6504584F-0F85-414B-8807-C530CD9CBE1E}" presName="rect1ChTx" presStyleLbl="alignAcc1" presStyleIdx="2" presStyleCnt="3">
        <dgm:presLayoutVars>
          <dgm:bulletEnabled val="1"/>
        </dgm:presLayoutVars>
      </dgm:prSet>
      <dgm:spPr/>
    </dgm:pt>
    <dgm:pt modelId="{636E4718-0416-468D-AC3B-E8A5F0E525CE}" type="pres">
      <dgm:prSet presAssocID="{64F72A1F-11CB-43BE-8466-BCB30502EAC5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77056AEB-5296-465B-8B73-70A1CDBC794B}" type="pres">
      <dgm:prSet presAssocID="{64F72A1F-11CB-43BE-8466-BCB30502EAC5}" presName="rect2ChTx" presStyleLbl="alignAcc1" presStyleIdx="2" presStyleCnt="3">
        <dgm:presLayoutVars>
          <dgm:bulletEnabled val="1"/>
        </dgm:presLayoutVars>
      </dgm:prSet>
      <dgm:spPr/>
    </dgm:pt>
    <dgm:pt modelId="{46A65132-6CFC-4954-8AA0-22EDBA4EFF9C}" type="pres">
      <dgm:prSet presAssocID="{70719FD0-3446-4869-874E-B69EE455F6A9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25E3332A-2269-499E-ACA9-ABD674902C24}" type="pres">
      <dgm:prSet presAssocID="{70719FD0-3446-4869-874E-B69EE455F6A9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C5B7D704-808E-4AB3-9EC6-585FBA1B4379}" type="presOf" srcId="{70719FD0-3446-4869-874E-B69EE455F6A9}" destId="{46A65132-6CFC-4954-8AA0-22EDBA4EFF9C}" srcOrd="1" destOrd="0" presId="urn:microsoft.com/office/officeart/2005/8/layout/target3"/>
    <dgm:cxn modelId="{7069860C-DE1A-4971-8947-7739038308CA}" type="presOf" srcId="{431F5CCF-7AC6-4070-B05C-50FE6E471BD2}" destId="{25E3332A-2269-499E-ACA9-ABD674902C24}" srcOrd="0" destOrd="1" presId="urn:microsoft.com/office/officeart/2005/8/layout/target3"/>
    <dgm:cxn modelId="{90E80C24-584F-493D-9B7B-63A8A45201E8}" type="presOf" srcId="{6504584F-0F85-414B-8807-C530CD9CBE1E}" destId="{CD3D8ABF-297F-4672-A468-E5A0E7934314}" srcOrd="0" destOrd="0" presId="urn:microsoft.com/office/officeart/2005/8/layout/target3"/>
    <dgm:cxn modelId="{4687B036-2A95-4ABD-A8EE-432EB28DA9AD}" srcId="{6504584F-0F85-414B-8807-C530CD9CBE1E}" destId="{8D55098E-5F71-411F-8797-C74A53E0BC51}" srcOrd="0" destOrd="0" parTransId="{B58BE43F-1F13-49C4-8108-345A2E59BEC6}" sibTransId="{5BB869F3-CE5E-4B9E-B695-C584F0397785}"/>
    <dgm:cxn modelId="{BD96033A-409D-4BFA-AE6A-44C500935E9A}" type="presOf" srcId="{64F72A1F-11CB-43BE-8466-BCB30502EAC5}" destId="{E16DA083-C81F-4AA0-911D-77AB22D95843}" srcOrd="0" destOrd="0" presId="urn:microsoft.com/office/officeart/2005/8/layout/target3"/>
    <dgm:cxn modelId="{53957A5C-1DAA-4A17-8EDC-4CB4B1934878}" srcId="{70719FD0-3446-4869-874E-B69EE455F6A9}" destId="{EF16E76E-38D0-4CF6-92F9-28AEA694BBEE}" srcOrd="0" destOrd="0" parTransId="{77359906-0ABA-4D64-8466-1F228D14E8CF}" sibTransId="{F4065A5A-9EAC-43B4-98B9-317BCB7FA533}"/>
    <dgm:cxn modelId="{53CB6864-3131-4800-8AE3-E610787C163D}" type="presOf" srcId="{6504584F-0F85-414B-8807-C530CD9CBE1E}" destId="{90802DC4-3A15-406F-85AF-222DDB9742D9}" srcOrd="1" destOrd="0" presId="urn:microsoft.com/office/officeart/2005/8/layout/target3"/>
    <dgm:cxn modelId="{019B346D-8E7B-456B-9C90-3951D4288058}" srcId="{D0E5C9D0-7F96-47C2-AD28-BB4B4F9B86EA}" destId="{70719FD0-3446-4869-874E-B69EE455F6A9}" srcOrd="2" destOrd="0" parTransId="{80C0E347-9882-4774-B906-36EC9B98BE05}" sibTransId="{D01B23E4-FD7A-4B28-A57E-DD22E1E5700C}"/>
    <dgm:cxn modelId="{6A1F1751-B8DC-4E49-A1AB-D923C48AD7CE}" srcId="{D0E5C9D0-7F96-47C2-AD28-BB4B4F9B86EA}" destId="{6504584F-0F85-414B-8807-C530CD9CBE1E}" srcOrd="0" destOrd="0" parTransId="{4107F957-9545-40BA-A674-0FE430F29040}" sibTransId="{FBEE68FD-3417-4B5A-8333-CF757C68E4E2}"/>
    <dgm:cxn modelId="{81815A7C-9146-40B6-8158-C37D3E422E70}" srcId="{D0E5C9D0-7F96-47C2-AD28-BB4B4F9B86EA}" destId="{64F72A1F-11CB-43BE-8466-BCB30502EAC5}" srcOrd="1" destOrd="0" parTransId="{CA1E4895-7A4D-4189-9CE0-9B4DEA0EFBC2}" sibTransId="{6E603279-21AF-44B6-A7F3-9E2C1BC7E580}"/>
    <dgm:cxn modelId="{1FDFDE8A-0E51-426C-A1FC-D47318BCAB49}" type="presOf" srcId="{64F72A1F-11CB-43BE-8466-BCB30502EAC5}" destId="{636E4718-0416-468D-AC3B-E8A5F0E525CE}" srcOrd="1" destOrd="0" presId="urn:microsoft.com/office/officeart/2005/8/layout/target3"/>
    <dgm:cxn modelId="{C1F9C29F-084D-4FCB-8F6D-8E0A862E4789}" type="presOf" srcId="{815F3397-F0A9-41B6-B474-7C29114CF18E}" destId="{0A3BDCD5-0618-4087-9C81-5725C8D7E20A}" srcOrd="0" destOrd="1" presId="urn:microsoft.com/office/officeart/2005/8/layout/target3"/>
    <dgm:cxn modelId="{7481C6AA-E87A-4265-9846-A7D4EE0E0C9F}" type="presOf" srcId="{A50C9E98-6989-418F-9C78-27413E4C309B}" destId="{77056AEB-5296-465B-8B73-70A1CDBC794B}" srcOrd="0" destOrd="0" presId="urn:microsoft.com/office/officeart/2005/8/layout/target3"/>
    <dgm:cxn modelId="{5E5F1EBF-54F8-413B-B3E9-868F73C0F8A9}" type="presOf" srcId="{D0E5C9D0-7F96-47C2-AD28-BB4B4F9B86EA}" destId="{CBC90E90-D944-4E6C-B8BA-939E651B7772}" srcOrd="0" destOrd="0" presId="urn:microsoft.com/office/officeart/2005/8/layout/target3"/>
    <dgm:cxn modelId="{5B9198C4-EC00-411E-BF73-EC746169A6A9}" type="presOf" srcId="{70719FD0-3446-4869-874E-B69EE455F6A9}" destId="{6D991FC8-D1AE-4E42-AB70-7594887C45DA}" srcOrd="0" destOrd="0" presId="urn:microsoft.com/office/officeart/2005/8/layout/target3"/>
    <dgm:cxn modelId="{79A405C8-5284-448F-BB0D-0EC740A7D578}" srcId="{64F72A1F-11CB-43BE-8466-BCB30502EAC5}" destId="{A50C9E98-6989-418F-9C78-27413E4C309B}" srcOrd="0" destOrd="0" parTransId="{279992A4-1BDF-4F99-BE82-839A95E55143}" sibTransId="{CE80549B-0B32-48A6-BB54-34B988A32D4E}"/>
    <dgm:cxn modelId="{BB085FE0-E7DF-489E-AB42-A9D1C2A48089}" srcId="{70719FD0-3446-4869-874E-B69EE455F6A9}" destId="{431F5CCF-7AC6-4070-B05C-50FE6E471BD2}" srcOrd="1" destOrd="0" parTransId="{3F55513E-C873-4B31-85F0-A95B4FB263A0}" sibTransId="{81F2007C-886E-4A55-8182-D15098DBCB77}"/>
    <dgm:cxn modelId="{387A43F3-F6DE-44FF-A83C-CF21A014A573}" srcId="{6504584F-0F85-414B-8807-C530CD9CBE1E}" destId="{815F3397-F0A9-41B6-B474-7C29114CF18E}" srcOrd="1" destOrd="0" parTransId="{404937AF-FCED-41FC-B041-3BBE41B609BE}" sibTransId="{1C0CFAD7-11B0-4F63-8050-C61D937D3859}"/>
    <dgm:cxn modelId="{D740ABFD-2EB5-441A-AD3A-0F766E5FB129}" type="presOf" srcId="{8D55098E-5F71-411F-8797-C74A53E0BC51}" destId="{0A3BDCD5-0618-4087-9C81-5725C8D7E20A}" srcOrd="0" destOrd="0" presId="urn:microsoft.com/office/officeart/2005/8/layout/target3"/>
    <dgm:cxn modelId="{F05EBEFD-4291-4116-A7D9-E9F094BA3108}" type="presOf" srcId="{EF16E76E-38D0-4CF6-92F9-28AEA694BBEE}" destId="{25E3332A-2269-499E-ACA9-ABD674902C24}" srcOrd="0" destOrd="0" presId="urn:microsoft.com/office/officeart/2005/8/layout/target3"/>
    <dgm:cxn modelId="{C3A0CA24-3559-48BA-8717-047BE7E295B4}" type="presParOf" srcId="{CBC90E90-D944-4E6C-B8BA-939E651B7772}" destId="{4F6AC630-987D-4A7B-83C2-C7B6AA495A5E}" srcOrd="0" destOrd="0" presId="urn:microsoft.com/office/officeart/2005/8/layout/target3"/>
    <dgm:cxn modelId="{80283072-1BFD-44B8-A559-E91DB4815B03}" type="presParOf" srcId="{CBC90E90-D944-4E6C-B8BA-939E651B7772}" destId="{17659117-7DDA-4F79-AB3C-E2361DF9F3C5}" srcOrd="1" destOrd="0" presId="urn:microsoft.com/office/officeart/2005/8/layout/target3"/>
    <dgm:cxn modelId="{11AC90FC-EFB9-465B-B64F-7C692980E081}" type="presParOf" srcId="{CBC90E90-D944-4E6C-B8BA-939E651B7772}" destId="{CD3D8ABF-297F-4672-A468-E5A0E7934314}" srcOrd="2" destOrd="0" presId="urn:microsoft.com/office/officeart/2005/8/layout/target3"/>
    <dgm:cxn modelId="{63242959-0604-4483-9255-236BF3CF56B8}" type="presParOf" srcId="{CBC90E90-D944-4E6C-B8BA-939E651B7772}" destId="{63BBC9D7-EF9B-496E-BFC2-DA43176FA169}" srcOrd="3" destOrd="0" presId="urn:microsoft.com/office/officeart/2005/8/layout/target3"/>
    <dgm:cxn modelId="{0BD2D7E0-8A0C-4E0B-8472-A8C136E9ED1F}" type="presParOf" srcId="{CBC90E90-D944-4E6C-B8BA-939E651B7772}" destId="{A626D086-8E0B-475E-ACAF-206AC57E0645}" srcOrd="4" destOrd="0" presId="urn:microsoft.com/office/officeart/2005/8/layout/target3"/>
    <dgm:cxn modelId="{265529EE-287B-4121-A36E-97A6452789E8}" type="presParOf" srcId="{CBC90E90-D944-4E6C-B8BA-939E651B7772}" destId="{E16DA083-C81F-4AA0-911D-77AB22D95843}" srcOrd="5" destOrd="0" presId="urn:microsoft.com/office/officeart/2005/8/layout/target3"/>
    <dgm:cxn modelId="{72673605-CB53-4AA1-8C57-EFB62A59FE96}" type="presParOf" srcId="{CBC90E90-D944-4E6C-B8BA-939E651B7772}" destId="{5B59413D-C1BC-4737-B365-66EC4BEE29AD}" srcOrd="6" destOrd="0" presId="urn:microsoft.com/office/officeart/2005/8/layout/target3"/>
    <dgm:cxn modelId="{CAEC2EF0-EE7B-4C8C-A0C8-DDFB22AC5E17}" type="presParOf" srcId="{CBC90E90-D944-4E6C-B8BA-939E651B7772}" destId="{CF5D086F-7288-4EBA-879D-49BD6E35E5AB}" srcOrd="7" destOrd="0" presId="urn:microsoft.com/office/officeart/2005/8/layout/target3"/>
    <dgm:cxn modelId="{36DA1ECB-6B05-4EAE-AE15-7577BC4F4BC1}" type="presParOf" srcId="{CBC90E90-D944-4E6C-B8BA-939E651B7772}" destId="{6D991FC8-D1AE-4E42-AB70-7594887C45DA}" srcOrd="8" destOrd="0" presId="urn:microsoft.com/office/officeart/2005/8/layout/target3"/>
    <dgm:cxn modelId="{A06C39B7-0BC7-4890-BEB6-116C8CE9F341}" type="presParOf" srcId="{CBC90E90-D944-4E6C-B8BA-939E651B7772}" destId="{90802DC4-3A15-406F-85AF-222DDB9742D9}" srcOrd="9" destOrd="0" presId="urn:microsoft.com/office/officeart/2005/8/layout/target3"/>
    <dgm:cxn modelId="{F448DC95-F45D-4C55-9448-5E56C7C3C005}" type="presParOf" srcId="{CBC90E90-D944-4E6C-B8BA-939E651B7772}" destId="{0A3BDCD5-0618-4087-9C81-5725C8D7E20A}" srcOrd="10" destOrd="0" presId="urn:microsoft.com/office/officeart/2005/8/layout/target3"/>
    <dgm:cxn modelId="{1113C9CF-B104-41DB-A383-6440B56DA6CA}" type="presParOf" srcId="{CBC90E90-D944-4E6C-B8BA-939E651B7772}" destId="{636E4718-0416-468D-AC3B-E8A5F0E525CE}" srcOrd="11" destOrd="0" presId="urn:microsoft.com/office/officeart/2005/8/layout/target3"/>
    <dgm:cxn modelId="{7EF5F3A5-B884-4AE1-8F72-A2496FB1B099}" type="presParOf" srcId="{CBC90E90-D944-4E6C-B8BA-939E651B7772}" destId="{77056AEB-5296-465B-8B73-70A1CDBC794B}" srcOrd="12" destOrd="0" presId="urn:microsoft.com/office/officeart/2005/8/layout/target3"/>
    <dgm:cxn modelId="{90EFD141-BC41-44DF-B936-25526D5A9DAC}" type="presParOf" srcId="{CBC90E90-D944-4E6C-B8BA-939E651B7772}" destId="{46A65132-6CFC-4954-8AA0-22EDBA4EFF9C}" srcOrd="13" destOrd="0" presId="urn:microsoft.com/office/officeart/2005/8/layout/target3"/>
    <dgm:cxn modelId="{B0AE1303-454B-4392-92F4-A0828FFB1E39}" type="presParOf" srcId="{CBC90E90-D944-4E6C-B8BA-939E651B7772}" destId="{25E3332A-2269-499E-ACA9-ABD674902C2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AC630-987D-4A7B-83C2-C7B6AA495A5E}">
      <dsp:nvSpPr>
        <dsp:cNvPr id="0" name=""/>
        <dsp:cNvSpPr/>
      </dsp:nvSpPr>
      <dsp:spPr>
        <a:xfrm>
          <a:off x="0" y="0"/>
          <a:ext cx="3635565" cy="363556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D3D8ABF-297F-4672-A468-E5A0E7934314}">
      <dsp:nvSpPr>
        <dsp:cNvPr id="0" name=""/>
        <dsp:cNvSpPr/>
      </dsp:nvSpPr>
      <dsp:spPr>
        <a:xfrm>
          <a:off x="1817782" y="0"/>
          <a:ext cx="9118158" cy="36355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*Competition</a:t>
          </a:r>
          <a:br>
            <a:rPr lang="en-US" sz="2400" kern="1200"/>
          </a:br>
          <a:r>
            <a:rPr lang="en-US" sz="2400" b="1" u="sng" kern="1200"/>
            <a:t>P1</a:t>
          </a:r>
        </a:p>
      </dsp:txBody>
      <dsp:txXfrm>
        <a:off x="1817782" y="0"/>
        <a:ext cx="4559079" cy="1090671"/>
      </dsp:txXfrm>
    </dsp:sp>
    <dsp:sp modelId="{A626D086-8E0B-475E-ACAF-206AC57E0645}">
      <dsp:nvSpPr>
        <dsp:cNvPr id="0" name=""/>
        <dsp:cNvSpPr/>
      </dsp:nvSpPr>
      <dsp:spPr>
        <a:xfrm>
          <a:off x="636225" y="1090671"/>
          <a:ext cx="2363114" cy="2363114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16DA083-C81F-4AA0-911D-77AB22D95843}">
      <dsp:nvSpPr>
        <dsp:cNvPr id="0" name=""/>
        <dsp:cNvSpPr/>
      </dsp:nvSpPr>
      <dsp:spPr>
        <a:xfrm>
          <a:off x="1817782" y="1090671"/>
          <a:ext cx="9118158" cy="23631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Brand</a:t>
          </a:r>
          <a:br>
            <a:rPr lang="en-US" sz="2400" kern="1200"/>
          </a:br>
          <a:r>
            <a:rPr lang="en-US" sz="1400" kern="1200"/>
            <a:t>(incl. Brand Others)</a:t>
          </a:r>
          <a:br>
            <a:rPr lang="en-US" sz="2400" kern="1200"/>
          </a:br>
          <a:r>
            <a:rPr lang="en-US" sz="2400" b="1" u="sng" kern="1200"/>
            <a:t>P3</a:t>
          </a:r>
        </a:p>
      </dsp:txBody>
      <dsp:txXfrm>
        <a:off x="1817782" y="1090671"/>
        <a:ext cx="4559079" cy="1090668"/>
      </dsp:txXfrm>
    </dsp:sp>
    <dsp:sp modelId="{CF5D086F-7288-4EBA-879D-49BD6E35E5AB}">
      <dsp:nvSpPr>
        <dsp:cNvPr id="0" name=""/>
        <dsp:cNvSpPr/>
      </dsp:nvSpPr>
      <dsp:spPr>
        <a:xfrm>
          <a:off x="1272448" y="2181340"/>
          <a:ext cx="1090668" cy="109066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D991FC8-D1AE-4E42-AB70-7594887C45DA}">
      <dsp:nvSpPr>
        <dsp:cNvPr id="0" name=""/>
        <dsp:cNvSpPr/>
      </dsp:nvSpPr>
      <dsp:spPr>
        <a:xfrm>
          <a:off x="1817782" y="2181340"/>
          <a:ext cx="9118158" cy="10906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*Generic</a:t>
          </a:r>
          <a:br>
            <a:rPr lang="en-US" sz="2400" kern="1200"/>
          </a:br>
          <a:r>
            <a:rPr lang="en-US" sz="2400" b="1" u="sng" kern="1200"/>
            <a:t>P2</a:t>
          </a:r>
        </a:p>
      </dsp:txBody>
      <dsp:txXfrm>
        <a:off x="1817782" y="2181340"/>
        <a:ext cx="4559079" cy="1090668"/>
      </dsp:txXfrm>
    </dsp:sp>
    <dsp:sp modelId="{0A3BDCD5-0618-4087-9C81-5725C8D7E20A}">
      <dsp:nvSpPr>
        <dsp:cNvPr id="0" name=""/>
        <dsp:cNvSpPr/>
      </dsp:nvSpPr>
      <dsp:spPr>
        <a:xfrm>
          <a:off x="6376861" y="0"/>
          <a:ext cx="4559079" cy="1090671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Capture Market Share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Drive Consideration</a:t>
          </a:r>
          <a:br>
            <a:rPr lang="en-US" sz="1600" kern="1200"/>
          </a:br>
          <a:endParaRPr lang="en-US" sz="1600" i="1" u="sng" kern="1200"/>
        </a:p>
      </dsp:txBody>
      <dsp:txXfrm>
        <a:off x="6376861" y="0"/>
        <a:ext cx="4559079" cy="1090671"/>
      </dsp:txXfrm>
    </dsp:sp>
    <dsp:sp modelId="{77056AEB-5296-465B-8B73-70A1CDBC794B}">
      <dsp:nvSpPr>
        <dsp:cNvPr id="0" name=""/>
        <dsp:cNvSpPr/>
      </dsp:nvSpPr>
      <dsp:spPr>
        <a:xfrm>
          <a:off x="6376861" y="1090671"/>
          <a:ext cx="4559079" cy="1090668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Protect Brand Real Estate</a:t>
          </a:r>
          <a:br>
            <a:rPr lang="en-US" sz="1600" kern="1200"/>
          </a:br>
          <a:endParaRPr lang="en-US" sz="1600" i="1" u="sng" kern="1200"/>
        </a:p>
      </dsp:txBody>
      <dsp:txXfrm>
        <a:off x="6376861" y="1090671"/>
        <a:ext cx="4559079" cy="1090668"/>
      </dsp:txXfrm>
    </dsp:sp>
    <dsp:sp modelId="{25E3332A-2269-499E-ACA9-ABD674902C24}">
      <dsp:nvSpPr>
        <dsp:cNvPr id="0" name=""/>
        <dsp:cNvSpPr/>
      </dsp:nvSpPr>
      <dsp:spPr>
        <a:xfrm>
          <a:off x="6376861" y="2181340"/>
          <a:ext cx="4559079" cy="1090668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Improve Brand visibility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Uplift Brand Core Searches</a:t>
          </a:r>
          <a:br>
            <a:rPr lang="en-US" sz="1600" kern="1200"/>
          </a:br>
          <a:endParaRPr lang="en-US" sz="1600" i="1" u="sng" kern="1200"/>
        </a:p>
      </dsp:txBody>
      <dsp:txXfrm>
        <a:off x="6376861" y="2181340"/>
        <a:ext cx="4559079" cy="1090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1FC69A-2640-798F-0996-83A2146FDC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CF79A-CD03-04F3-7961-6CD0013689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0E515-A1AF-437B-AC4E-88A8EDA820FB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D373C-FA0E-D3FF-D260-DEAEE6E254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663E2-6998-24C3-69BD-4525F2E733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81E6A-86FE-4C31-A82E-E56D64BBF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92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3000 + </a:t>
            </a:r>
          </a:p>
          <a:p>
            <a:r>
              <a:rPr lang="en-US"/>
              <a:t>M:F : 67:33</a:t>
            </a:r>
          </a:p>
          <a:p>
            <a:r>
              <a:rPr lang="en-US"/>
              <a:t>Top Location: NCR, Mumbai, </a:t>
            </a:r>
            <a:r>
              <a:rPr lang="en-US" err="1"/>
              <a:t>Blr</a:t>
            </a:r>
            <a:r>
              <a:rPr lang="en-US"/>
              <a:t>, Chennai, Coimbatore, Kerala, Lucknow,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222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795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434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4915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509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285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1919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D0428-55E7-735E-88C0-434B0125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D9DA4-C915-DA23-EB5C-E473D05E3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0932F-FBD6-6FD6-8B8D-B22B656E6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ACDB0-A476-C107-2900-7C38EAC95D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442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3670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4368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6752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/>
              <a:t>X Series </a:t>
            </a:r>
            <a:r>
              <a:rPr kumimoji="0" lang="en-IN" sz="1200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audiences are Mobile first, with Internet keeping them engaged &amp; entertained.</a:t>
            </a: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 </a:t>
            </a:r>
            <a:b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</a:br>
            <a:r>
              <a:rPr lang="en-IN" sz="1100" b="0"/>
              <a:t>OLV &amp; OTT platforms become critical to reach out to these audiences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6448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9070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81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322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1899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7995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590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1460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6647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8504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511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8004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8326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572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703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0844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5477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2450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701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34682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C29CC-6571-16C4-0A5E-9E0F6D8748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1CFAAB-8D25-A525-5A66-7CC1F8C51A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BC34C1-86ED-B6CD-4FA1-BFE76FBC98BF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NB: </a:t>
            </a:r>
            <a:r>
              <a:rPr lang="en-GB" sz="900">
                <a:solidFill>
                  <a:schemeClr val="tx1"/>
                </a:solidFill>
                <a:latin typeface="+mn-lt"/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580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354"/>
            <a:ext cx="6096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279724"/>
            <a:ext cx="4990063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2" y="2060575"/>
            <a:ext cx="4990063" cy="4108450"/>
          </a:xfrm>
        </p:spPr>
        <p:txBody>
          <a:bodyPr numCol="1" spcCol="36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64568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6185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799" y="279724"/>
            <a:ext cx="4990063" cy="1780851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5350" y="2060575"/>
            <a:ext cx="4990063" cy="4108450"/>
          </a:xfrm>
        </p:spPr>
        <p:txBody>
          <a:bodyPr numCol="1" spcCol="360000"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Century Gothic" panose="020B0502020202020204" pitchFamily="34" charset="0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Century Gothic" panose="020B0502020202020204" pitchFamily="34" charset="0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93109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/ black box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8196262" cy="17808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8196262" cy="4108450"/>
          </a:xfrm>
        </p:spPr>
        <p:txBody>
          <a:bodyPr numCol="2" spcCol="360000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6FB04FF-5BAC-2BD5-FC22-039F925B7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69025"/>
          </a:xfrm>
          <a:solidFill>
            <a:schemeClr val="tx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  <a:latin typeface="+mj-l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  <a:latin typeface="+mj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FD9022-2914-7F52-5A0E-72641AC75369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48228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colour + adjustable RH 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-1"/>
            <a:ext cx="2568575" cy="6169028"/>
          </a:xfrm>
          <a:solidFill>
            <a:schemeClr val="bg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tx1"/>
                </a:solidFill>
                <a:latin typeface="+mj-l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  <a:latin typeface="+mj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tx1"/>
                </a:solidFill>
                <a:latin typeface="+mj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0AFED-62E3-D680-8583-5024D77E7F21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6F261-3084-02CA-45B7-471636DD7D0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35702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12F60-D130-DB98-71CB-5C4FFFC9D2B4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3E4B8-D659-5EC6-927A-2121CE38D98B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Century Gothic" panose="020B0502020202020204" pitchFamily="34" charset="0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Century Gothic" panose="020B0502020202020204" pitchFamily="34" charset="0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8660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 + black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6354"/>
            <a:ext cx="44958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55496"/>
          </a:xfrm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  <a:latin typeface="+mn-l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AE0620-5A7D-A48E-B01F-3591700519A5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12967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26455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block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572EAC-B651-3D6C-EF45-6A68A0F12134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C62386-C2D0-5EC4-1719-ABF5CBCA155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29641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BA130C7-4808-D37A-BE2C-C2237222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7555463" cy="16158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019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 w/ imag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BA130C7-4808-D37A-BE2C-C2237222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7555463" cy="16158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133B677-29A5-A0EC-E6BD-A37065FD78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4CA71-4FEB-E6F8-25A7-3AC9F40B9080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NB: </a:t>
            </a:r>
            <a:r>
              <a:rPr lang="en-GB" sz="900">
                <a:solidFill>
                  <a:schemeClr val="tx1"/>
                </a:solidFill>
                <a:latin typeface="+mn-lt"/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747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A1BC5B-0CBD-4BA7-96DF-4842AE3F77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3425" y="0"/>
            <a:ext cx="2568575" cy="61690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76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169CB28-1D52-DC01-A716-31468E22FE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0"/>
            <a:ext cx="4495800" cy="6174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C772E9-69F2-44C7-EA22-CD86A7199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9375" y="1368425"/>
            <a:ext cx="4492625" cy="3429000"/>
          </a:xfrm>
          <a:solidFill>
            <a:schemeClr val="tx1"/>
          </a:solidFill>
        </p:spPr>
        <p:txBody>
          <a:bodyPr lIns="432000" tIns="360000" rIns="432000" bIns="360000" anchor="ctr"/>
          <a:lstStyle>
            <a:lvl1pPr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6D0988-1731-EBBF-16FB-1BEAD56FBF6F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329986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5"/>
            <a:ext cx="4193133" cy="61209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About us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2060576"/>
            <a:ext cx="4192601" cy="41084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30801" y="1"/>
            <a:ext cx="4492622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2F26926-A7AB-71E8-9853-4F38F51C8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9547" y="3429000"/>
            <a:ext cx="3419298" cy="2740025"/>
          </a:xfrm>
        </p:spPr>
        <p:txBody>
          <a:bodyPr tIns="180000" bIns="180000" anchor="ctr"/>
          <a:lstStyle>
            <a:lvl1pPr>
              <a:spcAft>
                <a:spcPts val="0"/>
              </a:spcAft>
              <a:defRPr sz="1400" b="1">
                <a:latin typeface="+mn-lt"/>
              </a:defRPr>
            </a:lvl1pPr>
            <a:lvl2pPr>
              <a:defRPr sz="1600">
                <a:solidFill>
                  <a:schemeClr val="tx1"/>
                </a:solidFill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1BA91-8C48-CB81-ED47-208A0F06840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18286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alternati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1"/>
            <a:ext cx="5130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5"/>
            <a:ext cx="4193133" cy="612098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GB"/>
              <a:t>About us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>
                <a:latin typeface="Century Gothic" panose="020B0502020202020204" pitchFamily="34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3871414"/>
            <a:ext cx="8196262" cy="2297612"/>
          </a:xfrm>
        </p:spPr>
        <p:txBody>
          <a:bodyPr numCol="2" spcCol="360000"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22306" y="1"/>
            <a:ext cx="4501117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E295680-BBDD-4439-F9C1-7D05EDD12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5813" y="2066362"/>
            <a:ext cx="4192582" cy="1368990"/>
          </a:xfrm>
        </p:spPr>
        <p:txBody>
          <a:bodyPr numCol="1" spcCol="360000"/>
          <a:lstStyle>
            <a:lvl1pPr>
              <a:spcAft>
                <a:spcPts val="600"/>
              </a:spcAft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ECFDEA-E3D1-5065-AAFE-4D2554A70741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Century Gothic" panose="020B0502020202020204" pitchFamily="34" charset="0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Century Gothic" panose="020B0502020202020204" pitchFamily="34" charset="0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774244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</a:defRPr>
            </a:lvl2pPr>
            <a:lvl3pPr algn="ctr">
              <a:defRPr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</a:defRPr>
            </a:lvl2pPr>
            <a:lvl3pPr algn="ctr">
              <a:defRPr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</a:defRPr>
            </a:lvl2pPr>
            <a:lvl3pPr algn="ctr">
              <a:defRPr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33C581-B6B9-DC60-BD58-9247567D9C8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830713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 algn="ctr">
              <a:defRPr>
                <a:solidFill>
                  <a:schemeClr val="bg1"/>
                </a:solidFill>
                <a:latin typeface="+mn-lt"/>
              </a:defRPr>
            </a:lvl3pPr>
            <a:lvl4pPr algn="ctr">
              <a:defRPr>
                <a:solidFill>
                  <a:schemeClr val="bg1"/>
                </a:solidFill>
                <a:latin typeface="+mn-lt"/>
              </a:defRPr>
            </a:lvl4pPr>
            <a:lvl5pPr algn="ctr"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 algn="ctr">
              <a:defRPr>
                <a:solidFill>
                  <a:schemeClr val="bg1"/>
                </a:solidFill>
                <a:latin typeface="+mn-lt"/>
              </a:defRPr>
            </a:lvl3pPr>
            <a:lvl4pPr algn="ctr">
              <a:defRPr>
                <a:solidFill>
                  <a:schemeClr val="bg1"/>
                </a:solidFill>
                <a:latin typeface="+mn-lt"/>
              </a:defRPr>
            </a:lvl4pPr>
            <a:lvl5pPr algn="ctr"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 algn="ctr">
              <a:defRPr>
                <a:solidFill>
                  <a:schemeClr val="bg1"/>
                </a:solidFill>
                <a:latin typeface="+mn-lt"/>
              </a:defRPr>
            </a:lvl3pPr>
            <a:lvl4pPr algn="ctr">
              <a:defRPr>
                <a:solidFill>
                  <a:schemeClr val="bg1"/>
                </a:solidFill>
                <a:latin typeface="+mn-lt"/>
              </a:defRPr>
            </a:lvl4pPr>
            <a:lvl5pPr algn="ctr"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EB7F9-27FF-E5EF-B365-24F2EE393EF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33864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62342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C02F7-7386-FF76-B2DD-EDFBCC9D07CF}"/>
              </a:ext>
            </a:extLst>
          </p:cNvPr>
          <p:cNvSpPr/>
          <p:nvPr userDrawn="1"/>
        </p:nvSpPr>
        <p:spPr>
          <a:xfrm>
            <a:off x="9623425" y="3429000"/>
            <a:ext cx="256857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F8CB4C-8678-4A3C-7D3C-466A9CBDA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2345" y="184229"/>
            <a:ext cx="1050925" cy="2581275"/>
          </a:xfrm>
        </p:spPr>
        <p:txBody>
          <a:bodyPr/>
          <a:lstStyle>
            <a:lvl1pPr algn="r">
              <a:lnSpc>
                <a:spcPts val="5500"/>
              </a:lnSpc>
              <a:spcAft>
                <a:spcPts val="0"/>
              </a:spcAft>
              <a:defRPr sz="6000">
                <a:ln w="19050">
                  <a:solidFill>
                    <a:schemeClr val="bg1"/>
                  </a:solidFill>
                </a:ln>
                <a:latin typeface="+mn-lt"/>
              </a:defRPr>
            </a:lvl1pPr>
          </a:lstStyle>
          <a:p>
            <a:pPr lvl="0"/>
            <a:r>
              <a:rPr lang="en-GB"/>
              <a:t>02 03 23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B5A42E-81C0-743F-F7F1-74B73C934C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23425" y="3635296"/>
            <a:ext cx="2400997" cy="2168913"/>
          </a:xfrm>
        </p:spPr>
        <p:txBody>
          <a:bodyPr/>
          <a:lstStyle>
            <a:lvl1pPr algn="r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latin typeface="+mn-lt"/>
              </a:defRPr>
            </a:lvl1pPr>
            <a:lvl2pPr algn="r">
              <a:lnSpc>
                <a:spcPct val="80000"/>
              </a:lnSpc>
              <a:spcAft>
                <a:spcPts val="600"/>
              </a:spcAft>
              <a:defRPr sz="3600">
                <a:solidFill>
                  <a:schemeClr val="bg1"/>
                </a:solidFill>
                <a:latin typeface="+mn-lt"/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  <a:p>
            <a:pPr lvl="1"/>
            <a:r>
              <a:rPr lang="en-GB"/>
              <a:t>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E78176-255C-8F44-53B8-45C26220EC22}"/>
              </a:ext>
            </a:extLst>
          </p:cNvPr>
          <p:cNvGrpSpPr/>
          <p:nvPr userDrawn="1"/>
        </p:nvGrpSpPr>
        <p:grpSpPr>
          <a:xfrm>
            <a:off x="11234130" y="5954751"/>
            <a:ext cx="642565" cy="642565"/>
            <a:chOff x="11656530" y="6299513"/>
            <a:chExt cx="433867" cy="433867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68FBD7-20E2-465E-4AC5-5D05243C3539}"/>
                </a:ext>
              </a:extLst>
            </p:cNvPr>
            <p:cNvSpPr/>
            <p:nvPr/>
          </p:nvSpPr>
          <p:spPr>
            <a:xfrm>
              <a:off x="11656530" y="6299513"/>
              <a:ext cx="433867" cy="433867"/>
            </a:xfrm>
            <a:custGeom>
              <a:avLst/>
              <a:gdLst>
                <a:gd name="connsiteX0" fmla="*/ 433868 w 433867"/>
                <a:gd name="connsiteY0" fmla="*/ 216934 h 433867"/>
                <a:gd name="connsiteX1" fmla="*/ 216934 w 433867"/>
                <a:gd name="connsiteY1" fmla="*/ 433868 h 433867"/>
                <a:gd name="connsiteX2" fmla="*/ 0 w 433867"/>
                <a:gd name="connsiteY2" fmla="*/ 216934 h 433867"/>
                <a:gd name="connsiteX3" fmla="*/ 216934 w 433867"/>
                <a:gd name="connsiteY3" fmla="*/ 0 h 433867"/>
                <a:gd name="connsiteX4" fmla="*/ 433868 w 433867"/>
                <a:gd name="connsiteY4" fmla="*/ 216934 h 43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67" h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bg1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+mn-lt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8DBE24-1BEA-6706-9B97-AD29299B105B}"/>
                </a:ext>
              </a:extLst>
            </p:cNvPr>
            <p:cNvSpPr/>
            <p:nvPr/>
          </p:nvSpPr>
          <p:spPr>
            <a:xfrm>
              <a:off x="11714548" y="6453441"/>
              <a:ext cx="318365" cy="127333"/>
            </a:xfrm>
            <a:custGeom>
              <a:avLst/>
              <a:gdLst>
                <a:gd name="connsiteX0" fmla="*/ 63648 w 318365"/>
                <a:gd name="connsiteY0" fmla="*/ 17774 h 127333"/>
                <a:gd name="connsiteX1" fmla="*/ 39941 w 318365"/>
                <a:gd name="connsiteY1" fmla="*/ 23707 h 127333"/>
                <a:gd name="connsiteX2" fmla="*/ 23829 w 318365"/>
                <a:gd name="connsiteY2" fmla="*/ 40074 h 127333"/>
                <a:gd name="connsiteX3" fmla="*/ 18029 w 318365"/>
                <a:gd name="connsiteY3" fmla="*/ 63660 h 127333"/>
                <a:gd name="connsiteX4" fmla="*/ 18041 w 318365"/>
                <a:gd name="connsiteY4" fmla="*/ 63660 h 127333"/>
                <a:gd name="connsiteX5" fmla="*/ 23841 w 318365"/>
                <a:gd name="connsiteY5" fmla="*/ 87756 h 127333"/>
                <a:gd name="connsiteX6" fmla="*/ 26437 w 318365"/>
                <a:gd name="connsiteY6" fmla="*/ 91845 h 127333"/>
                <a:gd name="connsiteX7" fmla="*/ 90814 w 318365"/>
                <a:gd name="connsiteY7" fmla="*/ 27238 h 127333"/>
                <a:gd name="connsiteX8" fmla="*/ 83498 w 318365"/>
                <a:gd name="connsiteY8" fmla="*/ 22154 h 127333"/>
                <a:gd name="connsiteX9" fmla="*/ 63648 w 318365"/>
                <a:gd name="connsiteY9" fmla="*/ 17774 h 127333"/>
                <a:gd name="connsiteX10" fmla="*/ 63394 w 318365"/>
                <a:gd name="connsiteY10" fmla="*/ 1031 h 127333"/>
                <a:gd name="connsiteX11" fmla="*/ 92136 w 318365"/>
                <a:gd name="connsiteY11" fmla="*/ 7862 h 127333"/>
                <a:gd name="connsiteX12" fmla="*/ 92124 w 318365"/>
                <a:gd name="connsiteY12" fmla="*/ 7862 h 127333"/>
                <a:gd name="connsiteX13" fmla="*/ 112616 w 318365"/>
                <a:gd name="connsiteY13" fmla="*/ 27068 h 127333"/>
                <a:gd name="connsiteX14" fmla="*/ 37369 w 318365"/>
                <a:gd name="connsiteY14" fmla="*/ 102570 h 127333"/>
                <a:gd name="connsiteX15" fmla="*/ 40062 w 318365"/>
                <a:gd name="connsiteY15" fmla="*/ 104269 h 127333"/>
                <a:gd name="connsiteX16" fmla="*/ 63903 w 318365"/>
                <a:gd name="connsiteY16" fmla="*/ 110323 h 127333"/>
                <a:gd name="connsiteX17" fmla="*/ 84529 w 318365"/>
                <a:gd name="connsiteY17" fmla="*/ 106586 h 127333"/>
                <a:gd name="connsiteX18" fmla="*/ 99998 w 318365"/>
                <a:gd name="connsiteY18" fmla="*/ 95885 h 127333"/>
                <a:gd name="connsiteX19" fmla="*/ 111852 w 318365"/>
                <a:gd name="connsiteY19" fmla="*/ 107739 h 127333"/>
                <a:gd name="connsiteX20" fmla="*/ 90850 w 318365"/>
                <a:gd name="connsiteY20" fmla="*/ 122298 h 127333"/>
                <a:gd name="connsiteX21" fmla="*/ 63915 w 318365"/>
                <a:gd name="connsiteY21" fmla="*/ 127321 h 127333"/>
                <a:gd name="connsiteX22" fmla="*/ 31181 w 318365"/>
                <a:gd name="connsiteY22" fmla="*/ 118816 h 127333"/>
                <a:gd name="connsiteX23" fmla="*/ 8372 w 318365"/>
                <a:gd name="connsiteY23" fmla="*/ 95873 h 127333"/>
                <a:gd name="connsiteX24" fmla="*/ 0 w 318365"/>
                <a:gd name="connsiteY24" fmla="*/ 63660 h 127333"/>
                <a:gd name="connsiteX25" fmla="*/ 8372 w 318365"/>
                <a:gd name="connsiteY25" fmla="*/ 31957 h 127333"/>
                <a:gd name="connsiteX26" fmla="*/ 31048 w 318365"/>
                <a:gd name="connsiteY26" fmla="*/ 9403 h 127333"/>
                <a:gd name="connsiteX27" fmla="*/ 63394 w 318365"/>
                <a:gd name="connsiteY27" fmla="*/ 1031 h 127333"/>
                <a:gd name="connsiteX28" fmla="*/ 179966 w 318365"/>
                <a:gd name="connsiteY28" fmla="*/ 0 h 127333"/>
                <a:gd name="connsiteX29" fmla="*/ 208187 w 318365"/>
                <a:gd name="connsiteY29" fmla="*/ 7219 h 127333"/>
                <a:gd name="connsiteX30" fmla="*/ 221193 w 318365"/>
                <a:gd name="connsiteY30" fmla="*/ 19024 h 127333"/>
                <a:gd name="connsiteX31" fmla="*/ 234090 w 318365"/>
                <a:gd name="connsiteY31" fmla="*/ 7219 h 127333"/>
                <a:gd name="connsiteX32" fmla="*/ 262445 w 318365"/>
                <a:gd name="connsiteY32" fmla="*/ 0 h 127333"/>
                <a:gd name="connsiteX33" fmla="*/ 291952 w 318365"/>
                <a:gd name="connsiteY33" fmla="*/ 7086 h 127333"/>
                <a:gd name="connsiteX34" fmla="*/ 311413 w 318365"/>
                <a:gd name="connsiteY34" fmla="*/ 26546 h 127333"/>
                <a:gd name="connsiteX35" fmla="*/ 311400 w 318365"/>
                <a:gd name="connsiteY35" fmla="*/ 26559 h 127333"/>
                <a:gd name="connsiteX36" fmla="*/ 318365 w 318365"/>
                <a:gd name="connsiteY36" fmla="*/ 55168 h 127333"/>
                <a:gd name="connsiteX37" fmla="*/ 318365 w 318365"/>
                <a:gd name="connsiteY37" fmla="*/ 127333 h 127333"/>
                <a:gd name="connsiteX38" fmla="*/ 284344 w 318365"/>
                <a:gd name="connsiteY38" fmla="*/ 127333 h 127333"/>
                <a:gd name="connsiteX39" fmla="*/ 284344 w 318365"/>
                <a:gd name="connsiteY39" fmla="*/ 57740 h 127333"/>
                <a:gd name="connsiteX40" fmla="*/ 278411 w 318365"/>
                <a:gd name="connsiteY40" fmla="*/ 38145 h 127333"/>
                <a:gd name="connsiteX41" fmla="*/ 261147 w 318365"/>
                <a:gd name="connsiteY41" fmla="*/ 31181 h 127333"/>
                <a:gd name="connsiteX42" fmla="*/ 244136 w 318365"/>
                <a:gd name="connsiteY42" fmla="*/ 38012 h 127333"/>
                <a:gd name="connsiteX43" fmla="*/ 238203 w 318365"/>
                <a:gd name="connsiteY43" fmla="*/ 57728 h 127333"/>
                <a:gd name="connsiteX44" fmla="*/ 238203 w 318365"/>
                <a:gd name="connsiteY44" fmla="*/ 127321 h 127333"/>
                <a:gd name="connsiteX45" fmla="*/ 204183 w 318365"/>
                <a:gd name="connsiteY45" fmla="*/ 127321 h 127333"/>
                <a:gd name="connsiteX46" fmla="*/ 204183 w 318365"/>
                <a:gd name="connsiteY46" fmla="*/ 57728 h 127333"/>
                <a:gd name="connsiteX47" fmla="*/ 198250 w 318365"/>
                <a:gd name="connsiteY47" fmla="*/ 38012 h 127333"/>
                <a:gd name="connsiteX48" fmla="*/ 180985 w 318365"/>
                <a:gd name="connsiteY48" fmla="*/ 31181 h 127333"/>
                <a:gd name="connsiteX49" fmla="*/ 163842 w 318365"/>
                <a:gd name="connsiteY49" fmla="*/ 38012 h 127333"/>
                <a:gd name="connsiteX50" fmla="*/ 157787 w 318365"/>
                <a:gd name="connsiteY50" fmla="*/ 57728 h 127333"/>
                <a:gd name="connsiteX51" fmla="*/ 157787 w 318365"/>
                <a:gd name="connsiteY51" fmla="*/ 127321 h 127333"/>
                <a:gd name="connsiteX52" fmla="*/ 124022 w 318365"/>
                <a:gd name="connsiteY52" fmla="*/ 127321 h 127333"/>
                <a:gd name="connsiteX53" fmla="*/ 124022 w 318365"/>
                <a:gd name="connsiteY53" fmla="*/ 55156 h 127333"/>
                <a:gd name="connsiteX54" fmla="*/ 130986 w 318365"/>
                <a:gd name="connsiteY54" fmla="*/ 26546 h 127333"/>
                <a:gd name="connsiteX55" fmla="*/ 150581 w 318365"/>
                <a:gd name="connsiteY55" fmla="*/ 7086 h 127333"/>
                <a:gd name="connsiteX56" fmla="*/ 179966 w 318365"/>
                <a:gd name="connsiteY56" fmla="*/ 0 h 12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8365" h="127333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tx2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+mn-lt"/>
              </a:endParaRPr>
            </a:p>
          </p:txBody>
        </p:sp>
      </p:grp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6A846FCB-399B-21A4-32EC-0FE3577ECA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640870"/>
            <a:ext cx="553580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5400" b="0">
                <a:solidFill>
                  <a:schemeClr val="bg1"/>
                </a:solidFill>
                <a:latin typeface="+mn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goes here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  <a:latin typeface="+mn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227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D861-3CBF-27C2-8E2B-DED3EDFB82BA}"/>
              </a:ext>
            </a:extLst>
          </p:cNvPr>
          <p:cNvSpPr/>
          <p:nvPr userDrawn="1"/>
        </p:nvSpPr>
        <p:spPr>
          <a:xfrm>
            <a:off x="0" y="-1"/>
            <a:ext cx="32067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F39E-76CB-396B-E689-B646697B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0A0410-718F-647E-2293-D8ADDF4C84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51" y="0"/>
            <a:ext cx="38481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734993-CF7B-54A0-5959-C84728AA0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1285" y="2743200"/>
            <a:ext cx="4624039" cy="2743200"/>
          </a:xfrm>
          <a:solidFill>
            <a:schemeClr val="tx1"/>
          </a:solidFill>
        </p:spPr>
        <p:txBody>
          <a:bodyPr anchor="ctr"/>
          <a:lstStyle>
            <a:lvl1pPr>
              <a:lnSpc>
                <a:spcPct val="80000"/>
              </a:lnSpc>
              <a:spcAft>
                <a:spcPts val="0"/>
              </a:spcAft>
              <a:defRPr sz="72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Today’s agenda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6C92EE-3BFD-03D8-7F01-5532E462A6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82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363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4111626"/>
            <a:ext cx="12192001" cy="2746374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E7641-F57F-F92A-2983-3D4F8C49A3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5"/>
            <a:ext cx="8340725" cy="3546090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09670F-B8FC-84F8-7947-249DE69D740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14410E-5D17-5CB8-A8EE-CC9BA28A38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2707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2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352"/>
            <a:ext cx="12193199" cy="6851647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4"/>
            <a:ext cx="8340725" cy="4920869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0F05D-DAC8-C4F7-0EA7-056F31033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Century Gothic" panose="020B0502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6605BC-D1A2-2A81-7E74-835AFE25F9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Century Gothic" panose="020B0502020202020204" pitchFamily="34" charset="0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666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full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3176"/>
            <a:ext cx="12193200" cy="68580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600" y="0"/>
            <a:ext cx="12193200" cy="6858000"/>
          </a:xfrm>
          <a:gradFill flip="none" rotWithShape="1"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</p:spPr>
        <p:txBody>
          <a:bodyPr lIns="756000" tIns="612000" rIns="2520000" bIns="1152000" anchor="ctr"/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7E634-AF48-508C-4F98-C9A52D5559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005F-1A60-112F-D82E-4031801A8B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968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ck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32F8C-B815-6103-1445-DCD4B5213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7275" y="682625"/>
            <a:ext cx="4608137" cy="4803775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1200"/>
              </a:spcBef>
              <a:spcAft>
                <a:spcPts val="0"/>
              </a:spcAft>
              <a:defRPr sz="1400" b="1"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Name Surname | Job title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8816A0-7F4C-A0E8-E5DF-4FE91345C72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4008155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1E472-8863-8385-9109-667D51109C7F}"/>
              </a:ext>
            </a:extLst>
          </p:cNvPr>
          <p:cNvSpPr/>
          <p:nvPr userDrawn="1"/>
        </p:nvSpPr>
        <p:spPr>
          <a:xfrm>
            <a:off x="0" y="0"/>
            <a:ext cx="320674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8F76B5F-DF92-A4B6-51C3-14FF64323A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49" y="0"/>
            <a:ext cx="8986449" cy="3430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A808CE-512E-DE29-9C19-6468B8F5F3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5827"/>
            <a:ext cx="6418800" cy="3432173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2378C0-6435-673B-4F55-858BB9D8F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4CBBB61-1CA3-AE90-FB7E-57CF0C1E3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8361" y="3435353"/>
            <a:ext cx="4938723" cy="3422647"/>
          </a:xfrm>
        </p:spPr>
        <p:txBody>
          <a:bodyPr anchor="ctr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  <a:latin typeface="+mn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tx1"/>
                </a:solidFill>
                <a:latin typeface="+mn-lt"/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two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7C266FA-1092-3E8A-D45B-11D08E3F2B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6"/>
            <a:ext cx="18000" cy="2752728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ABFC6FF-FB5C-1258-B6C6-DF37BD2EB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11" y="638795"/>
            <a:ext cx="2431738" cy="2104406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ln w="31750">
                  <a:solidFill>
                    <a:schemeClr val="tx2"/>
                  </a:solidFill>
                </a:ln>
                <a:solidFill>
                  <a:schemeClr val="bg1"/>
                </a:solidFill>
                <a:latin typeface="+mn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1823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crea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7434F8-0B19-5D62-5DC7-46461B2E21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8340725" cy="6858000"/>
          </a:xfrm>
          <a:solidFill>
            <a:schemeClr val="bg2"/>
          </a:solidFill>
        </p:spPr>
        <p:txBody>
          <a:bodyPr/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7371F5-C9C3-C0B3-BFD0-5D46E819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4051" y="1368425"/>
            <a:ext cx="8340725" cy="41179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C096FAA-7ED7-A6E1-95EF-4FBA05013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87" y="3886199"/>
            <a:ext cx="5234127" cy="2965447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  <a:latin typeface="+mj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  <a:latin typeface="+mj-lt"/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one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E5F0D1-7835-B64B-31A3-EF47ADE9A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5"/>
            <a:ext cx="18000" cy="6169025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6FEEB-5D4C-2B09-7615-1FF398890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6274" y="638794"/>
            <a:ext cx="4014526" cy="2790205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19900" b="0">
                <a:ln w="31750">
                  <a:noFill/>
                </a:ln>
                <a:solidFill>
                  <a:schemeClr val="bg1"/>
                </a:solidFill>
                <a:latin typeface="+mj-lt"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DF3AE8E2-F83E-7A07-ECFF-31F1C21F3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DC1351AA-BC98-8677-8244-5D0CE4124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3FE6B-2770-5C5A-3C6B-DE0C34A3ED1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26592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086495-536E-5EDB-1A79-275F3445C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1671" y="335508"/>
            <a:ext cx="2620800" cy="5503863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9DA14-F412-C05D-03DD-823D4725C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4"/>
            <a:ext cx="4793736" cy="108870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Mobile device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939156-7FA2-DACC-E1CA-89BB520E83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4865" y="407983"/>
            <a:ext cx="2454413" cy="5358912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C1AECD-4AA3-C9BB-0755-10EDD884804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883493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zoomed 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C042C6-1D2E-BA18-C088-8D1487D363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54850" y="333375"/>
            <a:ext cx="4130603" cy="5835649"/>
          </a:xfrm>
          <a:custGeom>
            <a:avLst/>
            <a:gdLst>
              <a:gd name="connsiteX0" fmla="*/ 506040 w 4130603"/>
              <a:gd name="connsiteY0" fmla="*/ 0 h 5835649"/>
              <a:gd name="connsiteX1" fmla="*/ 3624563 w 4130603"/>
              <a:gd name="connsiteY1" fmla="*/ 0 h 5835649"/>
              <a:gd name="connsiteX2" fmla="*/ 4130603 w 4130603"/>
              <a:gd name="connsiteY2" fmla="*/ 506040 h 5835649"/>
              <a:gd name="connsiteX3" fmla="*/ 4130603 w 4130603"/>
              <a:gd name="connsiteY3" fmla="*/ 5835649 h 5835649"/>
              <a:gd name="connsiteX4" fmla="*/ 0 w 4130603"/>
              <a:gd name="connsiteY4" fmla="*/ 5835649 h 5835649"/>
              <a:gd name="connsiteX5" fmla="*/ 0 w 4130603"/>
              <a:gd name="connsiteY5" fmla="*/ 506040 h 5835649"/>
              <a:gd name="connsiteX6" fmla="*/ 506040 w 4130603"/>
              <a:gd name="connsiteY6" fmla="*/ 0 h 583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603" h="5835649">
                <a:moveTo>
                  <a:pt x="506040" y="0"/>
                </a:moveTo>
                <a:lnTo>
                  <a:pt x="3624563" y="0"/>
                </a:lnTo>
                <a:cubicBezTo>
                  <a:pt x="3904041" y="0"/>
                  <a:pt x="4130603" y="226562"/>
                  <a:pt x="4130603" y="506040"/>
                </a:cubicBezTo>
                <a:lnTo>
                  <a:pt x="4130603" y="5835649"/>
                </a:lnTo>
                <a:lnTo>
                  <a:pt x="0" y="5835649"/>
                </a:lnTo>
                <a:lnTo>
                  <a:pt x="0" y="506040"/>
                </a:lnTo>
                <a:cubicBezTo>
                  <a:pt x="0" y="226562"/>
                  <a:pt x="226562" y="0"/>
                  <a:pt x="50604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9DA14-F412-C05D-03DD-823D4725C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4"/>
            <a:ext cx="4793736" cy="108870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Mobile device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74A84C-18FA-502E-A356-C0C337637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5970" y="447604"/>
            <a:ext cx="3868183" cy="5721421"/>
          </a:xfrm>
          <a:custGeom>
            <a:avLst/>
            <a:gdLst>
              <a:gd name="connsiteX0" fmla="*/ 403834 w 3868183"/>
              <a:gd name="connsiteY0" fmla="*/ 132 h 5721421"/>
              <a:gd name="connsiteX1" fmla="*/ 646193 w 3868183"/>
              <a:gd name="connsiteY1" fmla="*/ 1312 h 5721421"/>
              <a:gd name="connsiteX2" fmla="*/ 838799 w 3868183"/>
              <a:gd name="connsiteY2" fmla="*/ 132 h 5721421"/>
              <a:gd name="connsiteX3" fmla="*/ 1018892 w 3868183"/>
              <a:gd name="connsiteY3" fmla="*/ 1607 h 5721421"/>
              <a:gd name="connsiteX4" fmla="*/ 1379229 w 3868183"/>
              <a:gd name="connsiteY4" fmla="*/ 132 h 5721421"/>
              <a:gd name="connsiteX5" fmla="*/ 1712902 w 3868183"/>
              <a:gd name="connsiteY5" fmla="*/ 132 h 5721421"/>
              <a:gd name="connsiteX6" fmla="*/ 2028547 w 3868183"/>
              <a:gd name="connsiteY6" fmla="*/ 132 h 5721421"/>
              <a:gd name="connsiteX7" fmla="*/ 2360285 w 3868183"/>
              <a:gd name="connsiteY7" fmla="*/ 1164 h 5721421"/>
              <a:gd name="connsiteX8" fmla="*/ 2658206 w 3868183"/>
              <a:gd name="connsiteY8" fmla="*/ 132 h 5721421"/>
              <a:gd name="connsiteX9" fmla="*/ 2995305 w 3868183"/>
              <a:gd name="connsiteY9" fmla="*/ 132 h 5721421"/>
              <a:gd name="connsiteX10" fmla="*/ 3264774 w 3868183"/>
              <a:gd name="connsiteY10" fmla="*/ 278 h 5721421"/>
              <a:gd name="connsiteX11" fmla="*/ 3464532 w 3868183"/>
              <a:gd name="connsiteY11" fmla="*/ 132 h 5721421"/>
              <a:gd name="connsiteX12" fmla="*/ 3856448 w 3868183"/>
              <a:gd name="connsiteY12" fmla="*/ 299272 h 5721421"/>
              <a:gd name="connsiteX13" fmla="*/ 3867619 w 3868183"/>
              <a:gd name="connsiteY13" fmla="*/ 409717 h 5721421"/>
              <a:gd name="connsiteX14" fmla="*/ 3868067 w 3868183"/>
              <a:gd name="connsiteY14" fmla="*/ 2159535 h 5721421"/>
              <a:gd name="connsiteX15" fmla="*/ 3868067 w 3868183"/>
              <a:gd name="connsiteY15" fmla="*/ 4224591 h 5721421"/>
              <a:gd name="connsiteX16" fmla="*/ 3868183 w 3868183"/>
              <a:gd name="connsiteY16" fmla="*/ 5721421 h 5721421"/>
              <a:gd name="connsiteX17" fmla="*/ 384 w 3868183"/>
              <a:gd name="connsiteY17" fmla="*/ 5721421 h 5721421"/>
              <a:gd name="connsiteX18" fmla="*/ 0 w 3868183"/>
              <a:gd name="connsiteY18" fmla="*/ 411784 h 5721421"/>
              <a:gd name="connsiteX19" fmla="*/ 185457 w 3868183"/>
              <a:gd name="connsiteY19" fmla="*/ 61701 h 5721421"/>
              <a:gd name="connsiteX20" fmla="*/ 403834 w 3868183"/>
              <a:gd name="connsiteY20" fmla="*/ 132 h 572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8183" h="5721421">
                <a:moveTo>
                  <a:pt x="403834" y="132"/>
                </a:moveTo>
                <a:cubicBezTo>
                  <a:pt x="484569" y="132"/>
                  <a:pt x="565455" y="1312"/>
                  <a:pt x="646193" y="1312"/>
                </a:cubicBezTo>
                <a:cubicBezTo>
                  <a:pt x="710394" y="1312"/>
                  <a:pt x="774597" y="132"/>
                  <a:pt x="838799" y="132"/>
                </a:cubicBezTo>
                <a:cubicBezTo>
                  <a:pt x="898830" y="132"/>
                  <a:pt x="958860" y="1607"/>
                  <a:pt x="1018892" y="1607"/>
                </a:cubicBezTo>
                <a:cubicBezTo>
                  <a:pt x="1138956" y="1460"/>
                  <a:pt x="1259166" y="426"/>
                  <a:pt x="1379229" y="132"/>
                </a:cubicBezTo>
                <a:cubicBezTo>
                  <a:pt x="1490503" y="-165"/>
                  <a:pt x="1601627" y="132"/>
                  <a:pt x="1712902" y="132"/>
                </a:cubicBezTo>
                <a:cubicBezTo>
                  <a:pt x="1818067" y="132"/>
                  <a:pt x="1923383" y="-18"/>
                  <a:pt x="2028547" y="132"/>
                </a:cubicBezTo>
                <a:cubicBezTo>
                  <a:pt x="2139078" y="278"/>
                  <a:pt x="2249756" y="1164"/>
                  <a:pt x="2360285" y="1164"/>
                </a:cubicBezTo>
                <a:cubicBezTo>
                  <a:pt x="2459641" y="1164"/>
                  <a:pt x="2558849" y="278"/>
                  <a:pt x="2658206" y="132"/>
                </a:cubicBezTo>
                <a:cubicBezTo>
                  <a:pt x="2770522" y="-18"/>
                  <a:pt x="2882987" y="132"/>
                  <a:pt x="2995305" y="132"/>
                </a:cubicBezTo>
                <a:cubicBezTo>
                  <a:pt x="3085128" y="132"/>
                  <a:pt x="3174952" y="278"/>
                  <a:pt x="3264774" y="278"/>
                </a:cubicBezTo>
                <a:cubicBezTo>
                  <a:pt x="3331360" y="278"/>
                  <a:pt x="3397946" y="-18"/>
                  <a:pt x="3464532" y="132"/>
                </a:cubicBezTo>
                <a:cubicBezTo>
                  <a:pt x="3653264" y="721"/>
                  <a:pt x="3812801" y="121353"/>
                  <a:pt x="3856448" y="299272"/>
                </a:cubicBezTo>
                <a:cubicBezTo>
                  <a:pt x="3865236" y="334856"/>
                  <a:pt x="3867471" y="372803"/>
                  <a:pt x="3867619" y="409717"/>
                </a:cubicBezTo>
                <a:cubicBezTo>
                  <a:pt x="3868215" y="992940"/>
                  <a:pt x="3868067" y="1576311"/>
                  <a:pt x="3868067" y="2159535"/>
                </a:cubicBezTo>
                <a:cubicBezTo>
                  <a:pt x="3868067" y="2847889"/>
                  <a:pt x="3868067" y="3536239"/>
                  <a:pt x="3868067" y="4224591"/>
                </a:cubicBezTo>
                <a:lnTo>
                  <a:pt x="3868183" y="5721421"/>
                </a:lnTo>
                <a:lnTo>
                  <a:pt x="384" y="5721421"/>
                </a:lnTo>
                <a:lnTo>
                  <a:pt x="0" y="411784"/>
                </a:lnTo>
                <a:cubicBezTo>
                  <a:pt x="0" y="261327"/>
                  <a:pt x="59734" y="144681"/>
                  <a:pt x="185457" y="61701"/>
                </a:cubicBezTo>
                <a:cubicBezTo>
                  <a:pt x="251149" y="18291"/>
                  <a:pt x="325331" y="278"/>
                  <a:pt x="403834" y="1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589418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95996" y="787399"/>
            <a:ext cx="7310205" cy="5381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9DA14-F412-C05D-03DD-823D4725C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4"/>
            <a:ext cx="3440570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Desktop device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504" y="1018903"/>
            <a:ext cx="6897188" cy="387966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849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Book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4F642-B459-8F68-4149-D4B99668E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6217" y="862978"/>
            <a:ext cx="8795602" cy="5208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9DA14-F412-C05D-03DD-823D4725C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279724"/>
            <a:ext cx="3440570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Surface Book device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91501" y="1247502"/>
            <a:ext cx="6395644" cy="425849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976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4361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A2C4E4-7F5F-67A3-0215-4AD932BDA9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631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16650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D9963-9B5A-10CD-A0EE-68235B7C2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920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361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BD159C3-2532-3562-792C-4F5CDC66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2631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16650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0399768-6B14-D79E-5238-274950F97D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4920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4361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EC67F7-F65C-17F4-BF5F-DAF9447AEC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631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16650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5F261BA-EC3A-97AD-184F-EED4ACE0DB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20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5437614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EDCD066B-62F2-1A43-3B79-0734FE86A4F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68095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AC1E1BEF-7CEE-8011-71B0-68F0F7ED3DBB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388132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6660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973781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68095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388132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6660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973781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Century Gothic" panose="020B0502020202020204" pitchFamily="34" charset="0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Century Gothic" panose="020B0502020202020204" pitchFamily="34" charset="0"/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0887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D750A3-997C-117C-3671-CF7A3758A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7806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E5AC6BD1-147E-35E8-0B05-716817234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5239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CF663DAB-E3A8-8E89-61F7-20DFA620D0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41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9EA348E3-0BA0-AB18-D019-848DA1B4F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0887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07FE6B0-A2D9-C718-2193-A841C6CA05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063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3216F32-B415-75E5-A176-3355725AB2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952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5ACE380-9E86-AB7F-35A9-F1C0E8040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57841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6571900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FE7D91B-1563-CEA3-1FF8-3F546AD5B83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24103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283449E4-2863-B781-158C-C0932DEE17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103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73162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3A57B8-E234-CD88-D11C-D1DFE37AD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415473" y="3470854"/>
            <a:ext cx="4113646" cy="1282700"/>
          </a:xfrm>
        </p:spPr>
        <p:txBody>
          <a:bodyPr anchor="ctr"/>
          <a:lstStyle>
            <a:lvl1pPr algn="r">
              <a:lnSpc>
                <a:spcPct val="80000"/>
              </a:lnSpc>
              <a:defRPr sz="3600">
                <a:latin typeface="+mn-lt"/>
              </a:defRPr>
            </a:lvl1pPr>
          </a:lstStyle>
          <a:p>
            <a:pPr lvl="0"/>
            <a:r>
              <a:rPr lang="en-GB"/>
              <a:t>Meet the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162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87E02-54B7-34DE-48AF-51442EB2B509}"/>
              </a:ext>
            </a:extLst>
          </p:cNvPr>
          <p:cNvCxnSpPr>
            <a:cxnSpLocks/>
          </p:cNvCxnSpPr>
          <p:nvPr userDrawn="1"/>
        </p:nvCxnSpPr>
        <p:spPr>
          <a:xfrm>
            <a:off x="641350" y="0"/>
            <a:ext cx="0" cy="201276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384A9924-D9B5-F558-4446-770722C9E65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675043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13B4A43A-7C48-6830-0A71-84B2AA8D5B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3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09A357F1-DCB0-AAA1-FF7C-579CD51579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925984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CFA284AE-D574-E303-87B5-B8731F5B3D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4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D8C052A2-B328-B532-B588-0344982F0D3F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173162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BB72990-AB1D-E7C4-6B75-0DB3F2E4BD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3162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FD171AC2-82E6-C5F7-9D8F-179C5045CD7E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4241032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0AB05AEC-005A-3F1B-0C4D-64752EE895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41032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0EE26C2E-7158-576F-1378-CA79415AEBD0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75043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C5BD386D-E6DA-D6A7-A9E3-7D2E78533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5043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06E30288-6192-C4BC-6B0F-03332A53846C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9258613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80096700-6812-294E-0C3E-E5CC7858F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58613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1407716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5815C96E-6900-B6B5-815D-4D8E8D008112}"/>
              </a:ext>
            </a:extLst>
          </p:cNvPr>
          <p:cNvSpPr/>
          <p:nvPr userDrawn="1"/>
        </p:nvSpPr>
        <p:spPr>
          <a:xfrm>
            <a:off x="4063800" y="0"/>
            <a:ext cx="4064400" cy="6169024"/>
          </a:xfrm>
          <a:custGeom>
            <a:avLst/>
            <a:gdLst>
              <a:gd name="connsiteX0" fmla="*/ 0 w 4064400"/>
              <a:gd name="connsiteY0" fmla="*/ 0 h 6169024"/>
              <a:gd name="connsiteX1" fmla="*/ 4064400 w 4064400"/>
              <a:gd name="connsiteY1" fmla="*/ 0 h 6169024"/>
              <a:gd name="connsiteX2" fmla="*/ 4064400 w 4064400"/>
              <a:gd name="connsiteY2" fmla="*/ 6169024 h 6169024"/>
              <a:gd name="connsiteX3" fmla="*/ 0 w 4064400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400" h="6169024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en-GB" sz="140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C0C5C-99D1-99BB-CABB-CC6FB255B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0792-06FC-7E14-8396-F27E3154E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5B2C59-8A37-64E6-6CBA-C5AECEC50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272F750-99B3-124C-D8D3-F1286B377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3800" y="0"/>
            <a:ext cx="4064400" cy="2670175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7023C7E-EF93-8C6E-835A-939EDCF962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365F35F-7775-B95E-825A-60563DB58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63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75C35C-A936-78DA-A517-9B8EF3CF10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163" y="3644821"/>
            <a:ext cx="3257550" cy="2007842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6471E19-8CCC-B0DF-8C3F-7CB2503D5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184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014B1B71-F74A-A303-FC3B-F4A819584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7225" y="3644821"/>
            <a:ext cx="3257550" cy="2007842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A48D3C2-9B59-84FE-83E7-B0F97C9E71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3811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A7224203-3DFE-E8BA-9C78-241EA5FF8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50852" y="3644821"/>
            <a:ext cx="3257550" cy="2007842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0125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00C5C-55A0-3C8A-0687-A33E321F6869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n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055F50-D54C-7B73-CCDD-822FD5C58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0B1CD-282B-07A4-3E89-E1D0C76C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1368426"/>
            <a:ext cx="3704189" cy="3432174"/>
          </a:xfrm>
        </p:spPr>
        <p:txBody>
          <a:bodyPr anchor="ctr"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9375" y="682625"/>
            <a:ext cx="3856038" cy="5486398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D7BE90-3BDC-F609-DA85-653C97472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500" y="2060575"/>
            <a:ext cx="2568575" cy="2730498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43C89-D039-12D0-AD23-86C897EB3177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251259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2463476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F82C0E6-ABEE-E744-BED6-3CF463ACD2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88118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6675" y="3080906"/>
            <a:ext cx="5138738" cy="3080905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61CDCE-8667-108C-D192-8D82B9BCDBC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914516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251E75-5D43-155E-9EF9-2835F16A02A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5927629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5F49B39-D9E3-959B-708D-6A74A51B6E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DA4BE3-56CF-7014-FEAC-F83276D7734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5951334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604F0-B5CD-0F0A-9FCD-FB9A1EF29C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2149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E08D6B-F466-16BC-3391-106E8FFF117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2112037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5326" y="0"/>
            <a:ext cx="6416674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6" y="3080906"/>
            <a:ext cx="6416674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40F16F-80F7-0DAF-13F8-888A58AA174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5755930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53B5CB-779B-F9C8-9782-2B3EFD9A5A7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5249727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279724"/>
            <a:ext cx="4345538" cy="178085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429000"/>
            <a:ext cx="3209925" cy="274002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206057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2067788"/>
            <a:ext cx="3209925" cy="410123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6B88C7-709E-7FB2-AB08-704E04F89CD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j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j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7511440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5999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6095999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6096000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7FC564-834F-BE5A-F11A-660E303FA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4D1F9-CC5E-B32D-D859-F2CC5C8AE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9224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5999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96000" cy="6169022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04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6675" y="0"/>
            <a:ext cx="2565400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6416675" cy="27432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946053-E62C-3605-EB68-E7DEC59EE0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43200"/>
            <a:ext cx="3206750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DF04BE-2ED7-E23F-7734-81C214CCA8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6749" y="2743200"/>
            <a:ext cx="3209925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C2092C-D564-C5A9-C97F-348F2ECB44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82075" y="0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EB5095-7804-C3E6-7402-3C7A63C0B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82075" y="3082924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3672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B13102-A20D-BCDF-666A-2DBE1AC13C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0" y="308610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F490869-D1DC-C579-A316-10A2245BB8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44248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D58FB9-EF60-89EE-C72E-92CE23001F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248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823CF1B-0C04-D7AF-5C5C-1F72BEB334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DB2B6A3-4F93-8812-1A03-1B748F6B2A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8610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6B79E47-FA84-B264-D708-BEA6E7FE37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114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BB89B72-822F-BF1F-3F86-5895078726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2114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7866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desk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5670" y="2590799"/>
            <a:ext cx="4860531" cy="3578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2977" y="2742325"/>
            <a:ext cx="4585917" cy="25795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22909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mobi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3C9BFFC-B4D9-44A6-1923-855BB7D10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13541" y="1283759"/>
            <a:ext cx="2239057" cy="4702175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9883130-8A5B-7D6C-2C29-C580C41FDA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84617" y="1345678"/>
            <a:ext cx="2096905" cy="4578337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latin typeface="+mn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4466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j-lt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3507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222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00" y="680400"/>
            <a:ext cx="10908000" cy="54972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350" y="680400"/>
            <a:ext cx="10909300" cy="54972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2742520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587" y="682625"/>
            <a:ext cx="10918826" cy="5492750"/>
          </a:xfrm>
          <a:solidFill>
            <a:schemeClr val="bg2"/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3136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94CDDFE-B808-A462-BF7C-15A9ACEEE8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400" y="0"/>
            <a:ext cx="6096600" cy="6858000"/>
          </a:xfrm>
          <a:solidFill>
            <a:schemeClr val="bg1">
              <a:lumMod val="65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60966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60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296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  <a:latin typeface="+mn-lt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  <a:latin typeface="+mn-lt"/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  <a:latin typeface="+mn-lt"/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3092198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3A5AB9B-F36D-C97A-851D-0C3C055F8A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600" y="4572001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A686A2-DB4A-4300-3D5B-A3EBF888B4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23450" y="4572001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F4806A-5A04-4F83-1383-BACACC67A7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600" y="2286001"/>
            <a:ext cx="12193200" cy="2286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3450" y="0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7C6F1D-0082-D95A-B441-BCB17D2383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286001"/>
            <a:ext cx="10268550" cy="2286000"/>
          </a:xfr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txBody>
          <a:bodyPr lIns="1260000" tIns="0" rIns="360000" bIns="0" numCol="1" spcCol="360000" anchor="ctr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7619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ntent">
  <p:cSld name="Full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title"/>
          </p:nvPr>
        </p:nvSpPr>
        <p:spPr>
          <a:xfrm>
            <a:off x="618065" y="692727"/>
            <a:ext cx="1096560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C1C"/>
              </a:buClr>
              <a:buSzPts val="1800"/>
              <a:buNone/>
              <a:defRPr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body" idx="1"/>
          </p:nvPr>
        </p:nvSpPr>
        <p:spPr>
          <a:xfrm>
            <a:off x="618066" y="2133600"/>
            <a:ext cx="10965600" cy="4114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1C1C"/>
              </a:buClr>
              <a:buSzPts val="1800"/>
              <a:buNone/>
              <a:defRPr>
                <a:latin typeface="+mn-lt"/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91C1C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ftr" idx="11"/>
          </p:nvPr>
        </p:nvSpPr>
        <p:spPr>
          <a:xfrm>
            <a:off x="6721006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>
                <a:latin typeface="+mn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11592996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+mn-lt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3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2821-8F13-4994-7568-0017F5E5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E3F3A-09AD-4D4F-6D9E-5E790B944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F133E-8863-0521-DD73-A9139FC3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70A8821C-1511-4E9E-A5CD-B6CCB03F4093}" type="datetimeFigureOut">
              <a:rPr lang="en-US" smtClean="0"/>
              <a:pPr/>
              <a:t>7/24/2024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5A5DC-91D0-31E8-4BCB-3514E7F3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8C776-78C6-55B7-0DE3-2CF401ED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9E9DD62-FDD5-4742-B0B8-ADE6C9DF4C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066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4008880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C4B6-5333-A54C-AC7D-52F186AF8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D06C4-23BB-0309-3984-CECB1AB8A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932CA-4FF9-3268-8B22-FFB3CFC5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5575-59DC-40E2-B0A8-8001C7FC9BB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B21F7-E8AA-2804-F776-C70AFE93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EC683-43D7-5AD2-8862-EBB35F79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893E-6ED6-4032-9D95-7A65D22C93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73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404F86-5A46-6A8A-7F3C-9D06DE2A8222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>
              <a:latin typeface="Century Gothic" panose="020B0502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16E558-7B46-FD80-0530-EA162C8D2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525" y="6169025"/>
            <a:ext cx="4495800" cy="6826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50894-5538-1638-22C9-1AE0C5D95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261" y="6362299"/>
            <a:ext cx="494264" cy="296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997E-868F-7161-FD80-0AB5EE93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261" y="2060575"/>
            <a:ext cx="10765383" cy="4039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4E957452-906A-4D83-78E1-6E866C22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279724"/>
            <a:ext cx="10765383" cy="1088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BCA4A-AD74-2AC4-6377-FE8BF930FB75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59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  <p:sldLayoutId id="2147483752" r:id="rId35"/>
    <p:sldLayoutId id="2147483753" r:id="rId36"/>
    <p:sldLayoutId id="2147483754" r:id="rId37"/>
    <p:sldLayoutId id="2147483755" r:id="rId38"/>
    <p:sldLayoutId id="2147483756" r:id="rId39"/>
    <p:sldLayoutId id="2147483757" r:id="rId40"/>
    <p:sldLayoutId id="2147483758" r:id="rId41"/>
    <p:sldLayoutId id="2147483759" r:id="rId42"/>
    <p:sldLayoutId id="2147483760" r:id="rId43"/>
    <p:sldLayoutId id="2147483761" r:id="rId44"/>
    <p:sldLayoutId id="2147483762" r:id="rId45"/>
    <p:sldLayoutId id="2147483763" r:id="rId46"/>
    <p:sldLayoutId id="2147483764" r:id="rId47"/>
    <p:sldLayoutId id="2147483765" r:id="rId48"/>
    <p:sldLayoutId id="2147483766" r:id="rId49"/>
    <p:sldLayoutId id="2147483767" r:id="rId50"/>
    <p:sldLayoutId id="2147483768" r:id="rId51"/>
    <p:sldLayoutId id="2147483769" r:id="rId52"/>
    <p:sldLayoutId id="2147483770" r:id="rId53"/>
    <p:sldLayoutId id="2147483771" r:id="rId54"/>
    <p:sldLayoutId id="2147483774" r:id="rId55"/>
    <p:sldLayoutId id="2147483777" r:id="rId56"/>
    <p:sldLayoutId id="2147483828" r:id="rId57"/>
    <p:sldLayoutId id="2147483829" r:id="rId58"/>
  </p:sldLayoutIdLst>
  <p:hf hdr="0" dt="0"/>
  <p:txStyles>
    <p:titleStyle>
      <a:lvl1pPr algn="l" defTabSz="363702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chemeClr val="tx1"/>
          </a:solidFill>
          <a:latin typeface="Century Gothic" panose="020B0502020202020204" pitchFamily="34" charset="0"/>
          <a:ea typeface="Century Gothic" panose="020B0502020202020204" pitchFamily="34" charset="0"/>
          <a:cs typeface="Century Gothic" panose="020B0502020202020204" pitchFamily="34" charset="0"/>
        </a:defRPr>
      </a:lvl1pPr>
    </p:titleStyle>
    <p:bodyStyle>
      <a:lvl1pPr marL="0" indent="0" algn="l" defTabSz="363702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0" indent="0" algn="l" defTabSz="36370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/>
        <a:buNone/>
        <a:tabLst/>
        <a:defRPr sz="2000" b="0" kern="120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2pPr>
      <a:lvl3pPr marL="356400" indent="-356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System Font Regular"/>
        <a:buChar char="⏤"/>
        <a:tabLst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680400" indent="-320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System Font Regular"/>
        <a:buChar char="⏤"/>
        <a:tabLst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3055" indent="0" algn="l" defTabSz="363702" rtl="0" eaLnBrk="1" latinLnBrk="0" hangingPunct="1">
        <a:lnSpc>
          <a:spcPct val="90000"/>
        </a:lnSpc>
        <a:spcBef>
          <a:spcPts val="199"/>
        </a:spcBef>
        <a:buFont typeface="Arial"/>
        <a:buNone/>
        <a:tabLst/>
        <a:defRPr sz="1600" b="1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000180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182032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363883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545734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851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70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55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7404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925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110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95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480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4">
          <p15:clr>
            <a:srgbClr val="FDE53C"/>
          </p15:clr>
        </p15:guide>
        <p15:guide id="6" orient="horz" pos="6407">
          <p15:clr>
            <a:srgbClr val="A4A3A4"/>
          </p15:clr>
        </p15:guide>
        <p15:guide id="10" orient="horz" pos="6588">
          <p15:clr>
            <a:srgbClr val="A4A3A4"/>
          </p15:clr>
        </p15:guide>
        <p15:guide id="37" pos="7680">
          <p15:clr>
            <a:srgbClr val="FFFFFF"/>
          </p15:clr>
        </p15:guide>
        <p15:guide id="41" orient="horz" pos="6289">
          <p15:clr>
            <a:srgbClr val="A4A3A4"/>
          </p15:clr>
        </p15:guide>
        <p15:guide id="51" pos="3232">
          <p15:clr>
            <a:srgbClr val="FDE53C"/>
          </p15:clr>
        </p15:guide>
        <p15:guide id="54" pos="4444">
          <p15:clr>
            <a:srgbClr val="FDE53C"/>
          </p15:clr>
        </p15:guide>
        <p15:guide id="59" pos="6062">
          <p15:clr>
            <a:srgbClr val="FDE53C"/>
          </p15:clr>
        </p15:guide>
        <p15:guide id="63" pos="7279">
          <p15:clr>
            <a:srgbClr val="FDE53C"/>
          </p15:clr>
        </p15:guide>
        <p15:guide id="64" orient="horz" pos="169">
          <p15:clr>
            <a:srgbClr val="A4A3A4"/>
          </p15:clr>
        </p15:guide>
        <p15:guide id="66" orient="horz" pos="862">
          <p15:clr>
            <a:srgbClr val="FFFFFF"/>
          </p15:clr>
        </p15:guide>
        <p15:guide id="67" orient="horz" pos="1298">
          <p15:clr>
            <a:srgbClr val="A4A3A4"/>
          </p15:clr>
        </p15:guide>
        <p15:guide id="69" orient="horz" pos="2160">
          <p15:clr>
            <a:srgbClr val="A4A3A4"/>
          </p15:clr>
        </p15:guide>
        <p15:guide id="71" pos="3840">
          <p15:clr>
            <a:srgbClr val="A4A3A4"/>
          </p15:clr>
        </p15:guide>
        <p15:guide id="74" orient="horz" pos="3886">
          <p15:clr>
            <a:srgbClr val="FDE53C"/>
          </p15:clr>
        </p15:guide>
        <p15:guide id="75" orient="horz" pos="4316">
          <p15:clr>
            <a:srgbClr val="FFFFFF"/>
          </p15:clr>
        </p15:guide>
        <p15:guide id="76" pos="491">
          <p15:clr>
            <a:srgbClr val="A4A3A4"/>
          </p15:clr>
        </p15:guide>
        <p15:guide id="77" orient="horz" pos="430">
          <p15:clr>
            <a:srgbClr val="FFFFFF"/>
          </p15:clr>
        </p15:guide>
        <p15:guide id="78">
          <p15:clr>
            <a:srgbClr val="FFFFFF"/>
          </p15:clr>
        </p15:guide>
        <p15:guide id="79" orient="horz">
          <p15:clr>
            <a:srgbClr val="FFFFFF"/>
          </p15:clr>
        </p15:guide>
        <p15:guide id="80" orient="horz" pos="1944">
          <p15:clr>
            <a:srgbClr val="FF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chart" Target="../charts/chart8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6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image" Target="../media/image19.png"/><Relationship Id="rId9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6.xml"/><Relationship Id="rId4" Type="http://schemas.openxmlformats.org/officeDocument/2006/relationships/chart" Target="../charts/char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Relationship Id="rId4" Type="http://schemas.openxmlformats.org/officeDocument/2006/relationships/chart" Target="../charts/char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Relationship Id="rId4" Type="http://schemas.openxmlformats.org/officeDocument/2006/relationships/chart" Target="../charts/chart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png"/><Relationship Id="rId7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6.xml"/><Relationship Id="rId4" Type="http://schemas.openxmlformats.org/officeDocument/2006/relationships/chart" Target="../charts/char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6.xml"/><Relationship Id="rId4" Type="http://schemas.openxmlformats.org/officeDocument/2006/relationships/chart" Target="../charts/char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6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jpeg"/><Relationship Id="rId2" Type="http://schemas.openxmlformats.org/officeDocument/2006/relationships/image" Target="../media/image38.jpe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42.jpe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5" Type="http://schemas.openxmlformats.org/officeDocument/2006/relationships/image" Target="../media/image51.jpeg"/><Relationship Id="rId10" Type="http://schemas.openxmlformats.org/officeDocument/2006/relationships/image" Target="../media/image46.png"/><Relationship Id="rId4" Type="http://schemas.openxmlformats.org/officeDocument/2006/relationships/image" Target="../media/image40.jpeg"/><Relationship Id="rId9" Type="http://schemas.openxmlformats.org/officeDocument/2006/relationships/image" Target="../media/image45.png"/><Relationship Id="rId14" Type="http://schemas.openxmlformats.org/officeDocument/2006/relationships/image" Target="../media/image5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41.jpeg"/><Relationship Id="rId5" Type="http://schemas.openxmlformats.org/officeDocument/2006/relationships/image" Target="../media/image42.jpeg"/><Relationship Id="rId4" Type="http://schemas.openxmlformats.org/officeDocument/2006/relationships/image" Target="../media/image50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6.xml"/><Relationship Id="rId5" Type="http://schemas.openxmlformats.org/officeDocument/2006/relationships/chart" Target="../charts/chart31.xml"/><Relationship Id="rId4" Type="http://schemas.openxmlformats.org/officeDocument/2006/relationships/chart" Target="../charts/char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E71DB5-5680-5541-BB1B-1B8E18C31C8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CEC3C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CEC3C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6353"/>
            <a:ext cx="6095999" cy="692718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54850" y="2384612"/>
            <a:ext cx="5137150" cy="2068318"/>
          </a:xfrm>
        </p:spPr>
        <p:txBody>
          <a:bodyPr/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-US" sz="4000">
                <a:ea typeface="Montserrat SemiBold"/>
                <a:cs typeface="Montserrat SemiBold"/>
                <a:sym typeface="Montserrat SemiBold"/>
              </a:rPr>
              <a:t>Our Approach to Media for X Fold3</a:t>
            </a:r>
            <a:endParaRPr lang="en-US" sz="4000">
              <a:ea typeface="Montserrat SemiBold"/>
              <a:cs typeface="Montserrat SemiBold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BEB50CE-FC6C-430D-3C76-9914D02235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79525" y="6169025"/>
            <a:ext cx="4495800" cy="68262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CEC3C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3" name="Picture 2" descr="Vivo X Fold 3 Pro RAM, Storage Configurations, Price Leaked Ahead of March 26 Launch">
            <a:extLst>
              <a:ext uri="{FF2B5EF4-FFF2-40B4-BE49-F238E27FC236}">
                <a16:creationId xmlns:a16="http://schemas.microsoft.com/office/drawing/2014/main" id="{9BC51E7E-69A1-ABDB-75BE-B1C678234F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71" b="89888" l="10000" r="90000">
                        <a14:foregroundMark x1="54211" y1="32772" x2="52211" y2="45131"/>
                        <a14:foregroundMark x1="52211" y1="45131" x2="40105" y2="44382"/>
                        <a14:foregroundMark x1="40105" y1="44382" x2="39158" y2="34082"/>
                        <a14:foregroundMark x1="39158" y1="34082" x2="40211" y2="31648"/>
                        <a14:foregroundMark x1="58105" y1="32397" x2="58105" y2="32397"/>
                        <a14:foregroundMark x1="58947" y1="32772" x2="58947" y2="32772"/>
                        <a14:foregroundMark x1="60211" y1="34270" x2="60211" y2="34270"/>
                        <a14:foregroundMark x1="57368" y1="29775" x2="57368" y2="29775"/>
                        <a14:foregroundMark x1="61053" y1="35768" x2="57053" y2="41760"/>
                        <a14:foregroundMark x1="57053" y1="41760" x2="54947" y2="42884"/>
                        <a14:foregroundMark x1="56632" y1="29775" x2="49263" y2="23221"/>
                        <a14:foregroundMark x1="53895" y1="25468" x2="44842" y2="17603"/>
                        <a14:foregroundMark x1="53053" y1="23596" x2="53053" y2="23596"/>
                        <a14:foregroundMark x1="51895" y1="22097" x2="46316" y2="15543"/>
                        <a14:foregroundMark x1="48421" y1="17041" x2="41895" y2="10112"/>
                        <a14:foregroundMark x1="46526" y1="14419" x2="40000" y2="5618"/>
                        <a14:foregroundMark x1="42842" y1="8989" x2="39579" y2="4869"/>
                        <a14:foregroundMark x1="39579" y1="4869" x2="39474" y2="4869"/>
                        <a14:foregroundMark x1="38632" y1="4307" x2="37158" y2="9551"/>
                        <a14:foregroundMark x1="39368" y1="3371" x2="39368" y2="3371"/>
                        <a14:foregroundMark x1="39789" y1="3371" x2="39789" y2="3371"/>
                        <a14:foregroundMark x1="39368" y1="7865" x2="36737" y2="26030"/>
                        <a14:foregroundMark x1="37579" y1="27903" x2="38000" y2="37828"/>
                        <a14:foregroundMark x1="38000" y1="37828" x2="38211" y2="38577"/>
                        <a14:foregroundMark x1="37684" y1="13670" x2="34211" y2="32772"/>
                        <a14:foregroundMark x1="35579" y1="29213" x2="33789" y2="38577"/>
                        <a14:foregroundMark x1="41579" y1="36891" x2="36211" y2="52247"/>
                        <a14:foregroundMark x1="36211" y1="52247" x2="35895" y2="52622"/>
                        <a14:foregroundMark x1="33053" y1="29963" x2="25684" y2="52809"/>
                        <a14:foregroundMark x1="25684" y1="52809" x2="25368" y2="52809"/>
                        <a14:foregroundMark x1="27895" y1="52622" x2="38105" y2="60112"/>
                        <a14:foregroundMark x1="27053" y1="53933" x2="38211" y2="63109"/>
                        <a14:foregroundMark x1="28211" y1="56554" x2="37579" y2="67041"/>
                        <a14:foregroundMark x1="34632" y1="65730" x2="41053" y2="73034"/>
                        <a14:foregroundMark x1="63263" y1="38202" x2="67053" y2="36891"/>
                        <a14:foregroundMark x1="66842" y1="35955" x2="74421" y2="32210"/>
                        <a14:foregroundMark x1="74421" y1="32210" x2="74632" y2="32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15" r="15251" b="17831"/>
          <a:stretch/>
        </p:blipFill>
        <p:spPr bwMode="auto">
          <a:xfrm>
            <a:off x="210312" y="130007"/>
            <a:ext cx="7251192" cy="5364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14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0AEA4-C5AB-7254-0C20-2DFC63D3A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41E71DB5-5680-5541-BB1B-1B8E18C31C82}" type="slidenum">
              <a:rPr lang="en-GB" noProof="0" smtClean="0"/>
              <a:pPr lvl="0"/>
              <a:t>2</a:t>
            </a:fld>
            <a:endParaRPr lang="en-GB" noProof="0"/>
          </a:p>
        </p:txBody>
      </p:sp>
      <p:pic>
        <p:nvPicPr>
          <p:cNvPr id="12" name="Picture Placeholder 11" descr="A purple and pink sky over a mountain range&#10;&#10;Description automatically generated">
            <a:extLst>
              <a:ext uri="{FF2B5EF4-FFF2-40B4-BE49-F238E27FC236}">
                <a16:creationId xmlns:a16="http://schemas.microsoft.com/office/drawing/2014/main" id="{368318A5-37D4-9146-ABC1-E4BABE4305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5446" b="5446"/>
          <a:stretch>
            <a:fillRect/>
          </a:stretch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8D6D33-2A29-AB0E-5A41-75D7F481A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Today’s agenda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30EB1-E8DF-8BF1-BEE4-C2E6381B2E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19B5BA7B-FF79-2C0E-73FB-8CCFE40E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427493"/>
              </p:ext>
            </p:extLst>
          </p:nvPr>
        </p:nvGraphicFramePr>
        <p:xfrm>
          <a:off x="7068312" y="340515"/>
          <a:ext cx="5080000" cy="3431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088">
                  <a:extLst>
                    <a:ext uri="{9D8B030D-6E8A-4147-A177-3AD203B41FA5}">
                      <a16:colId xmlns:a16="http://schemas.microsoft.com/office/drawing/2014/main" val="1267486112"/>
                    </a:ext>
                  </a:extLst>
                </a:gridCol>
                <a:gridCol w="4078912">
                  <a:extLst>
                    <a:ext uri="{9D8B030D-6E8A-4147-A177-3AD203B41FA5}">
                      <a16:colId xmlns:a16="http://schemas.microsoft.com/office/drawing/2014/main" val="518157885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0" marR="285149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</a:rPr>
                        <a:t>Brief Recap &amp; our Understanding  </a:t>
                      </a:r>
                    </a:p>
                  </a:txBody>
                  <a:tcPr marL="285149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418696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0" marR="285149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</a:rPr>
                        <a:t>Audience understanding </a:t>
                      </a:r>
                    </a:p>
                  </a:txBody>
                  <a:tcPr marL="285149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6323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0" marR="285149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</a:rPr>
                        <a:t>Media consumption &amp; Behaviour </a:t>
                      </a:r>
                    </a:p>
                  </a:txBody>
                  <a:tcPr marL="285149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45255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0" marR="285149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</a:rPr>
                        <a:t>Media Approach</a:t>
                      </a:r>
                    </a:p>
                  </a:txBody>
                  <a:tcPr marL="285149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848574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0" marR="285149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</a:rPr>
                        <a:t>Innovations</a:t>
                      </a:r>
                    </a:p>
                  </a:txBody>
                  <a:tcPr marL="285149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7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18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C1D0AE-1650-D8EE-A7C1-9E53ADB14B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956C96-09D8-CCEB-A915-FA90C3C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Survey Conducted-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6DD83-93AF-D359-E4EC-4430382FBD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261" y="782438"/>
            <a:ext cx="10769600" cy="682622"/>
          </a:xfrm>
        </p:spPr>
        <p:txBody>
          <a:bodyPr/>
          <a:lstStyle/>
          <a:p>
            <a:r>
              <a:rPr lang="en-US"/>
              <a:t>We conducted a customized survey for secondary research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3B489-8317-182F-1E16-0DD73BF4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A5A317-DB83-1453-D255-CBE35ECF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34" y="1368425"/>
            <a:ext cx="4226827" cy="4436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D9EBC2-8931-B44B-213D-C84F466DED6B}"/>
              </a:ext>
            </a:extLst>
          </p:cNvPr>
          <p:cNvSpPr/>
          <p:nvPr/>
        </p:nvSpPr>
        <p:spPr>
          <a:xfrm>
            <a:off x="5775325" y="1871139"/>
            <a:ext cx="4369572" cy="954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>
                <a:solidFill>
                  <a:schemeClr val="tx1"/>
                </a:solidFill>
              </a:rPr>
              <a:t>Purpose</a:t>
            </a:r>
            <a:r>
              <a:rPr lang="en-US">
                <a:solidFill>
                  <a:schemeClr val="tx1"/>
                </a:solidFill>
              </a:rPr>
              <a:t>: understand potential consumer based on demos and buy preference.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78E61A-23EF-774E-F371-02CE3B9A9B97}"/>
              </a:ext>
            </a:extLst>
          </p:cNvPr>
          <p:cNvSpPr/>
          <p:nvPr/>
        </p:nvSpPr>
        <p:spPr>
          <a:xfrm>
            <a:off x="5775325" y="4397925"/>
            <a:ext cx="4369572" cy="954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>
                <a:solidFill>
                  <a:schemeClr val="tx1"/>
                </a:solidFill>
              </a:rPr>
              <a:t>Survey Respondents </a:t>
            </a:r>
            <a:r>
              <a:rPr lang="en-US">
                <a:solidFill>
                  <a:schemeClr val="tx1"/>
                </a:solidFill>
              </a:rPr>
              <a:t>: 170+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From GroupM, all entities, across locations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7F07E5-8FC4-334E-8DDC-AA93A471BDCE}"/>
              </a:ext>
            </a:extLst>
          </p:cNvPr>
          <p:cNvSpPr/>
          <p:nvPr/>
        </p:nvSpPr>
        <p:spPr>
          <a:xfrm>
            <a:off x="5775325" y="3134532"/>
            <a:ext cx="4369572" cy="9546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u="sng">
                <a:solidFill>
                  <a:schemeClr val="tx1"/>
                </a:solidFill>
              </a:rPr>
              <a:t>Method </a:t>
            </a:r>
            <a:r>
              <a:rPr lang="en-US">
                <a:solidFill>
                  <a:schemeClr val="tx1"/>
                </a:solidFill>
              </a:rPr>
              <a:t>: form-based survey,   </a:t>
            </a:r>
          </a:p>
        </p:txBody>
      </p:sp>
    </p:spTree>
    <p:extLst>
      <p:ext uri="{BB962C8B-B14F-4D97-AF65-F5344CB8AC3E}">
        <p14:creationId xmlns:p14="http://schemas.microsoft.com/office/powerpoint/2010/main" val="376580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79E4C5-7315-D2E7-0668-583BA2593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latin typeface="+mj-lt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554E7-C8FC-63DA-748E-FBAC196C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latin typeface="+mj-lt"/>
                <a:ea typeface="+mn-ea"/>
              </a:rPr>
              <a:pPr/>
              <a:t>4</a:t>
            </a:fld>
            <a:endParaRPr lang="en-GB">
              <a:latin typeface="+mj-lt"/>
              <a:ea typeface="+mn-ea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3C0506D-CBE5-4EDD-0D69-7FF26677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08" y="71537"/>
            <a:ext cx="10765383" cy="1088701"/>
          </a:xfrm>
        </p:spPr>
        <p:txBody>
          <a:bodyPr/>
          <a:lstStyle/>
          <a:p>
            <a:r>
              <a:rPr lang="en-GB" sz="2800">
                <a:latin typeface="+mj-lt"/>
                <a:ea typeface="+mn-ea"/>
              </a:rPr>
              <a:t>Key outcomes from a survey </a:t>
            </a:r>
            <a:r>
              <a:rPr lang="en-GB" sz="2000">
                <a:latin typeface="+mj-lt"/>
                <a:ea typeface="+mn-ea"/>
              </a:rPr>
              <a:t>(out of 170 respondents) </a:t>
            </a:r>
            <a:endParaRPr lang="en-GB" sz="2800">
              <a:latin typeface="+mj-lt"/>
              <a:ea typeface="+mn-ea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70F4D05C-3B38-CE35-BEA9-749ACBE8B9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8462823"/>
              </p:ext>
            </p:extLst>
          </p:nvPr>
        </p:nvGraphicFramePr>
        <p:xfrm>
          <a:off x="963870" y="1214297"/>
          <a:ext cx="3051572" cy="2353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AA7AE0D-E2CD-0B03-6834-8EA5B64C94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711205"/>
              </p:ext>
            </p:extLst>
          </p:nvPr>
        </p:nvGraphicFramePr>
        <p:xfrm>
          <a:off x="4578101" y="1214297"/>
          <a:ext cx="3051572" cy="2353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7A248540-3D7B-1B1B-5C19-66F51BA2FB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0937447"/>
              </p:ext>
            </p:extLst>
          </p:nvPr>
        </p:nvGraphicFramePr>
        <p:xfrm>
          <a:off x="8192334" y="1214297"/>
          <a:ext cx="3051572" cy="2353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27D65DE-8AB8-C0E2-3E96-6D4E1F8F5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7244330"/>
              </p:ext>
            </p:extLst>
          </p:nvPr>
        </p:nvGraphicFramePr>
        <p:xfrm>
          <a:off x="963870" y="3852199"/>
          <a:ext cx="10264257" cy="2353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F7A1A96-B01D-7D66-960C-B787FC802C83}"/>
              </a:ext>
            </a:extLst>
          </p:cNvPr>
          <p:cNvSpPr txBox="1"/>
          <p:nvPr/>
        </p:nvSpPr>
        <p:spPr>
          <a:xfrm>
            <a:off x="779468" y="6477592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GroupM Internal Survey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,: - </a:t>
            </a:r>
            <a:r>
              <a:rPr lang="en-US" sz="900" i="1" u="sng">
                <a:solidFill>
                  <a:srgbClr val="191C1C"/>
                </a:solidFill>
                <a:latin typeface="Century Gothic"/>
                <a:sym typeface="Century Gothic"/>
              </a:rPr>
              <a:t>Number of  Survey Responses - 170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C3F0F-BB53-E50F-E2BA-7BCDBAE66983}"/>
              </a:ext>
            </a:extLst>
          </p:cNvPr>
          <p:cNvSpPr/>
          <p:nvPr/>
        </p:nvSpPr>
        <p:spPr>
          <a:xfrm>
            <a:off x="963870" y="842080"/>
            <a:ext cx="3051572" cy="299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25 to 30 Contributes highest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3C107-1AAD-4BBA-0A4C-E07A81B1F5C8}"/>
              </a:ext>
            </a:extLst>
          </p:cNvPr>
          <p:cNvSpPr/>
          <p:nvPr/>
        </p:nvSpPr>
        <p:spPr>
          <a:xfrm>
            <a:off x="4570212" y="883751"/>
            <a:ext cx="3051572" cy="299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M:F – 60 : 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65605-2006-9279-CBEC-AE64C886B9CF}"/>
              </a:ext>
            </a:extLst>
          </p:cNvPr>
          <p:cNvSpPr/>
          <p:nvPr/>
        </p:nvSpPr>
        <p:spPr>
          <a:xfrm>
            <a:off x="8176555" y="872046"/>
            <a:ext cx="3051572" cy="299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47.5% Above 10L, 20% above 20L </a:t>
            </a:r>
          </a:p>
        </p:txBody>
      </p:sp>
    </p:spTree>
    <p:extLst>
      <p:ext uri="{BB962C8B-B14F-4D97-AF65-F5344CB8AC3E}">
        <p14:creationId xmlns:p14="http://schemas.microsoft.com/office/powerpoint/2010/main" val="145155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79E4C5-7315-D2E7-0668-583BA2593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latin typeface="+mj-lt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554E7-C8FC-63DA-748E-FBAC196C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latin typeface="+mj-lt"/>
                <a:ea typeface="+mn-ea"/>
              </a:rPr>
              <a:pPr/>
              <a:t>5</a:t>
            </a:fld>
            <a:endParaRPr lang="en-GB">
              <a:latin typeface="+mj-lt"/>
              <a:ea typeface="+mn-ea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3C0506D-CBE5-4EDD-0D69-7FF26677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08" y="71537"/>
            <a:ext cx="10765383" cy="1088701"/>
          </a:xfrm>
        </p:spPr>
        <p:txBody>
          <a:bodyPr/>
          <a:lstStyle/>
          <a:p>
            <a:r>
              <a:rPr lang="en-GB" sz="2800">
                <a:latin typeface="+mj-lt"/>
                <a:ea typeface="+mn-ea"/>
              </a:rPr>
              <a:t>..to understand the product perception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27D65DE-8AB8-C0E2-3E96-6D4E1F8F5BB7}"/>
              </a:ext>
            </a:extLst>
          </p:cNvPr>
          <p:cNvGraphicFramePr/>
          <p:nvPr/>
        </p:nvGraphicFramePr>
        <p:xfrm>
          <a:off x="779463" y="1006701"/>
          <a:ext cx="5316537" cy="2263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AA9830-3D27-612F-38DA-DA908D0B2A66}"/>
              </a:ext>
            </a:extLst>
          </p:cNvPr>
          <p:cNvGraphicFramePr/>
          <p:nvPr/>
        </p:nvGraphicFramePr>
        <p:xfrm>
          <a:off x="779459" y="3800091"/>
          <a:ext cx="5316537" cy="2263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9F7AD47-9902-6336-74C1-9F5FBAD35E1B}"/>
              </a:ext>
            </a:extLst>
          </p:cNvPr>
          <p:cNvGraphicFramePr/>
          <p:nvPr/>
        </p:nvGraphicFramePr>
        <p:xfrm>
          <a:off x="7303313" y="949054"/>
          <a:ext cx="5110061" cy="468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91FE98-9906-9DC1-D1FF-556AAE869CCA}"/>
              </a:ext>
            </a:extLst>
          </p:cNvPr>
          <p:cNvSpPr txBox="1"/>
          <p:nvPr/>
        </p:nvSpPr>
        <p:spPr>
          <a:xfrm>
            <a:off x="779468" y="6477592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GroupM Internal Survey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,: - </a:t>
            </a:r>
            <a:r>
              <a:rPr lang="en-US" sz="900" i="1" u="sng">
                <a:solidFill>
                  <a:srgbClr val="191C1C"/>
                </a:solidFill>
                <a:latin typeface="Century Gothic"/>
                <a:sym typeface="Century Gothic"/>
              </a:rPr>
              <a:t>Number of  Survey Responses - 170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2FE856-41C1-8384-B41E-305B5C903DB8}"/>
              </a:ext>
            </a:extLst>
          </p:cNvPr>
          <p:cNvSpPr/>
          <p:nvPr/>
        </p:nvSpPr>
        <p:spPr>
          <a:xfrm>
            <a:off x="779459" y="668205"/>
            <a:ext cx="5316536" cy="280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55% Intending / Aspiring to buy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562648-2500-5C8E-D0E9-90B65ABB690A}"/>
              </a:ext>
            </a:extLst>
          </p:cNvPr>
          <p:cNvSpPr/>
          <p:nvPr/>
        </p:nvSpPr>
        <p:spPr>
          <a:xfrm>
            <a:off x="7303312" y="645563"/>
            <a:ext cx="4583887" cy="280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80 to 100K seems to comfortable spot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5F2006-4438-3F66-1091-9BAF1F27D321}"/>
              </a:ext>
            </a:extLst>
          </p:cNvPr>
          <p:cNvSpPr/>
          <p:nvPr/>
        </p:nvSpPr>
        <p:spPr>
          <a:xfrm>
            <a:off x="779459" y="3452855"/>
            <a:ext cx="5316536" cy="280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Apple is 2</a:t>
            </a:r>
            <a:r>
              <a:rPr lang="en-US" baseline="30000">
                <a:solidFill>
                  <a:schemeClr val="tx1"/>
                </a:solidFill>
              </a:rPr>
              <a:t>nd</a:t>
            </a:r>
            <a:r>
              <a:rPr lang="en-US">
                <a:solidFill>
                  <a:schemeClr val="tx1"/>
                </a:solidFill>
              </a:rPr>
              <a:t> preferred brand followed by Google</a:t>
            </a:r>
          </a:p>
        </p:txBody>
      </p:sp>
    </p:spTree>
    <p:extLst>
      <p:ext uri="{BB962C8B-B14F-4D97-AF65-F5344CB8AC3E}">
        <p14:creationId xmlns:p14="http://schemas.microsoft.com/office/powerpoint/2010/main" val="131537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 Brief Recap of our understanding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5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11FC76-74AE-A51A-2273-355E511D5104}"/>
              </a:ext>
            </a:extLst>
          </p:cNvPr>
          <p:cNvSpPr/>
          <p:nvPr/>
        </p:nvSpPr>
        <p:spPr>
          <a:xfrm>
            <a:off x="8469772" y="3263899"/>
            <a:ext cx="3085642" cy="2905125"/>
          </a:xfrm>
          <a:prstGeom prst="roundRect">
            <a:avLst>
              <a:gd name="adj" fmla="val 9620"/>
            </a:avLst>
          </a:prstGeom>
          <a:solidFill>
            <a:srgbClr val="E5E9EE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defTabSz="1219170">
              <a:buClr>
                <a:srgbClr val="FFFFFF"/>
              </a:buClr>
              <a:buSzPts val="1100"/>
            </a:pPr>
            <a:r>
              <a:rPr lang="en-US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Group</a:t>
            </a:r>
          </a:p>
          <a:p>
            <a:pPr marL="285750" indent="-285750" defTabSz="1219170"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 Group: 30 – 45</a:t>
            </a:r>
            <a:endParaRPr lang="en-US" dirty="0">
              <a:solidFill>
                <a:srgbClr val="3B3F3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indent="-285750" defTabSz="1219170"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Affluent </a:t>
            </a:r>
            <a:r>
              <a:rPr lang="en-US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Professional</a:t>
            </a:r>
          </a:p>
          <a:p>
            <a:pPr marL="285750" indent="-285750" defTabSz="1219170"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Brand:</a:t>
            </a:r>
            <a:r>
              <a:rPr lang="en-US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Samsung, Apple &amp; OnePlus</a:t>
            </a:r>
            <a:endParaRPr lang="en-US" dirty="0">
              <a:solidFill>
                <a:srgbClr val="3B3F3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indent="-285750" defTabSz="1219170"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Prefer higher</a:t>
            </a:r>
            <a:r>
              <a:rPr lang="en-US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IN" b="1" dirty="0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Imagery</a:t>
            </a:r>
          </a:p>
          <a:p>
            <a:pPr marL="285750" indent="-285750" defTabSz="1219170"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IN" b="1">
                <a:solidFill>
                  <a:srgbClr val="3B3F3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Interests: Luxurious lifestyle, Travel, Technology &amp; Premium Brands</a:t>
            </a:r>
            <a:endParaRPr lang="en-IN" b="1" dirty="0">
              <a:solidFill>
                <a:srgbClr val="3B3F3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66C20B-8EA1-E719-5DF4-1702FE558463}"/>
              </a:ext>
            </a:extLst>
          </p:cNvPr>
          <p:cNvSpPr/>
          <p:nvPr/>
        </p:nvSpPr>
        <p:spPr>
          <a:xfrm>
            <a:off x="4626931" y="3249504"/>
            <a:ext cx="3085642" cy="2905125"/>
          </a:xfrm>
          <a:prstGeom prst="roundRect">
            <a:avLst>
              <a:gd name="adj" fmla="val 6802"/>
            </a:avLst>
          </a:prstGeom>
          <a:solidFill>
            <a:srgbClr val="E5E9EE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b="1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 Communication</a:t>
            </a:r>
          </a:p>
          <a:p>
            <a:endParaRPr lang="en-US" b="1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tx1"/>
                </a:solidFill>
                <a:latin typeface="Century Gothic" panose="020B0502020202020204" pitchFamily="34" charset="0"/>
              </a:rPr>
              <a:t>“THE BEST FOLD EVER”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Premium Design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Durability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vivo AI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tx1"/>
                </a:solidFill>
                <a:latin typeface="Century Gothic" panose="020B0502020202020204" pitchFamily="34" charset="0"/>
              </a:rPr>
              <a:t>Zeiss Integration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AA7E43-BC01-59B0-4C48-B583AFDFC33C}"/>
              </a:ext>
            </a:extLst>
          </p:cNvPr>
          <p:cNvSpPr/>
          <p:nvPr/>
        </p:nvSpPr>
        <p:spPr>
          <a:xfrm>
            <a:off x="784090" y="3263899"/>
            <a:ext cx="3085642" cy="2905125"/>
          </a:xfrm>
          <a:prstGeom prst="roundRect">
            <a:avLst>
              <a:gd name="adj" fmla="val 8681"/>
            </a:avLst>
          </a:prstGeom>
          <a:solidFill>
            <a:srgbClr val="E5E9EE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Challenges: 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tx1"/>
                </a:solidFill>
                <a:latin typeface="Century Gothic" panose="020B0502020202020204" pitchFamily="34" charset="0"/>
              </a:rPr>
              <a:t>Entering market </a:t>
            </a: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dominated</a:t>
            </a:r>
            <a:r>
              <a:rPr lang="en-US">
                <a:solidFill>
                  <a:schemeClr val="tx1"/>
                </a:solidFill>
                <a:latin typeface="Century Gothic" panose="020B0502020202020204" pitchFamily="34" charset="0"/>
              </a:rPr>
              <a:t> by primary competition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>
                <a:solidFill>
                  <a:schemeClr val="tx1"/>
                </a:solidFill>
                <a:latin typeface="Century Gothic" panose="020B0502020202020204" pitchFamily="34" charset="0"/>
              </a:rPr>
              <a:t>Battling Perception of Premium imaginary </a:t>
            </a:r>
            <a:r>
              <a:rPr lang="en-US">
                <a:solidFill>
                  <a:schemeClr val="tx1"/>
                </a:solidFill>
                <a:latin typeface="Century Gothic" panose="020B0502020202020204" pitchFamily="34" charset="0"/>
              </a:rPr>
              <a:t>leading to durability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08" y="28926"/>
            <a:ext cx="10765383" cy="1088701"/>
          </a:xfrm>
        </p:spPr>
        <p:txBody>
          <a:bodyPr/>
          <a:lstStyle/>
          <a:p>
            <a:r>
              <a:rPr lang="en-GB">
                <a:latin typeface="Century Gothic" panose="020B0502020202020204" pitchFamily="34" charset="0"/>
              </a:rPr>
              <a:t>1. Key takeaways from X Fold3 Brief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E71DB5-5680-5541-BB1B-1B8E18C31C8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CEC3C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CEC3C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1D35E-EBFD-4890-ED98-BAAFB00B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61" y="1013068"/>
            <a:ext cx="3085276" cy="20252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20A4C-C400-F6F4-9431-BE192F325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739" y="992748"/>
            <a:ext cx="3084834" cy="20249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C83298-6502-C47A-3519-BA38203AF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580" y="1023342"/>
            <a:ext cx="3084834" cy="20249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5393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 X Fold3 Audience understanding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3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79E4C5-7315-D2E7-0668-583BA2593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latin typeface="+mj-lt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554E7-C8FC-63DA-748E-FBAC196C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latin typeface="+mj-lt"/>
                <a:ea typeface="+mn-ea"/>
              </a:rPr>
              <a:pPr/>
              <a:t>9</a:t>
            </a:fld>
            <a:endParaRPr lang="en-GB">
              <a:latin typeface="+mj-lt"/>
              <a:ea typeface="+mn-ea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3C0506D-CBE5-4EDD-0D69-7FF26677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308" y="71537"/>
            <a:ext cx="10765383" cy="1088701"/>
          </a:xfrm>
        </p:spPr>
        <p:txBody>
          <a:bodyPr/>
          <a:lstStyle/>
          <a:p>
            <a:r>
              <a:rPr lang="en-GB" sz="2800">
                <a:latin typeface="+mj-lt"/>
                <a:ea typeface="+mn-ea"/>
              </a:rPr>
              <a:t>Audience input derived from the brief 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E08EDAD-0475-1DB8-28D3-1EC7F279DCC8}"/>
              </a:ext>
            </a:extLst>
          </p:cNvPr>
          <p:cNvSpPr/>
          <p:nvPr/>
        </p:nvSpPr>
        <p:spPr>
          <a:xfrm>
            <a:off x="7621315" y="1838460"/>
            <a:ext cx="286241" cy="3181080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B83F9-ED3A-C461-A1EA-565DEFACCE72}"/>
              </a:ext>
            </a:extLst>
          </p:cNvPr>
          <p:cNvSpPr/>
          <p:nvPr/>
        </p:nvSpPr>
        <p:spPr>
          <a:xfrm>
            <a:off x="10891812" y="2690370"/>
            <a:ext cx="959978" cy="1444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  <a:latin typeface="+mj-lt"/>
              </a:rPr>
              <a:t>Primary Audience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9CFE8-6121-A100-6463-49CA70F7B16E}"/>
              </a:ext>
            </a:extLst>
          </p:cNvPr>
          <p:cNvSpPr txBox="1"/>
          <p:nvPr/>
        </p:nvSpPr>
        <p:spPr>
          <a:xfrm>
            <a:off x="9256387" y="87877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982F5AB-9E41-A9EC-A0D5-A477D8D0D593}"/>
              </a:ext>
            </a:extLst>
          </p:cNvPr>
          <p:cNvSpPr/>
          <p:nvPr/>
        </p:nvSpPr>
        <p:spPr>
          <a:xfrm>
            <a:off x="10472537" y="2310653"/>
            <a:ext cx="303880" cy="2204333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1AEA9-D8D6-1B4F-DDF7-119247F2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61" y="1680548"/>
            <a:ext cx="3413052" cy="19198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1D226-5891-CEB6-188A-A9952F91E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041" y="2640469"/>
            <a:ext cx="3413052" cy="19198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CECA5-1FBE-3A96-5985-5645AD406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61" y="3272529"/>
            <a:ext cx="3413052" cy="19198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667434B8-906C-86DB-CAFB-5BF7EE06E655}"/>
              </a:ext>
            </a:extLst>
          </p:cNvPr>
          <p:cNvGrpSpPr/>
          <p:nvPr/>
        </p:nvGrpSpPr>
        <p:grpSpPr>
          <a:xfrm>
            <a:off x="7907557" y="682625"/>
            <a:ext cx="2513722" cy="5296601"/>
            <a:chOff x="8933685" y="1838338"/>
            <a:chExt cx="1890936" cy="4263282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75A70B7-07A6-A39C-FDF4-C0032782E362}"/>
                </a:ext>
              </a:extLst>
            </p:cNvPr>
            <p:cNvSpPr/>
            <p:nvPr/>
          </p:nvSpPr>
          <p:spPr>
            <a:xfrm>
              <a:off x="8933685" y="1838338"/>
              <a:ext cx="1270816" cy="2101932"/>
            </a:xfrm>
            <a:prstGeom prst="roundRect">
              <a:avLst>
                <a:gd name="adj" fmla="val 6389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lvl="0"/>
              <a:r>
                <a:rPr lang="en-US" sz="1200" b="1">
                  <a:solidFill>
                    <a:schemeClr val="bg1"/>
                  </a:solidFill>
                  <a:latin typeface="+mj-lt"/>
                </a:rPr>
                <a:t>COVER AUDIENCE</a:t>
              </a:r>
            </a:p>
            <a:p>
              <a:pPr lvl="0">
                <a:buClr>
                  <a:schemeClr val="bg1"/>
                </a:buClr>
              </a:pPr>
              <a:endParaRPr lang="en-GB" sz="1200">
                <a:solidFill>
                  <a:schemeClr val="bg1"/>
                </a:solidFill>
                <a:latin typeface="+mj-lt"/>
              </a:endParaRPr>
            </a:p>
            <a:p>
              <a:pPr lvl="0">
                <a:buClr>
                  <a:schemeClr val="bg1"/>
                </a:buClr>
              </a:pPr>
              <a:endParaRPr lang="en-GB" sz="1200">
                <a:solidFill>
                  <a:schemeClr val="bg1"/>
                </a:solidFill>
                <a:latin typeface="+mj-lt"/>
              </a:endParaRPr>
            </a:p>
            <a:p>
              <a:pPr lvl="0">
                <a:buClr>
                  <a:schemeClr val="bg1"/>
                </a:buClr>
              </a:pPr>
              <a:endParaRPr lang="en-GB" sz="1200">
                <a:solidFill>
                  <a:schemeClr val="bg1"/>
                </a:solidFill>
                <a:latin typeface="+mj-lt"/>
              </a:endParaRPr>
            </a:p>
            <a:p>
              <a:pPr lvl="0">
                <a:buClr>
                  <a:schemeClr val="bg1"/>
                </a:buClr>
              </a:pPr>
              <a:endParaRPr lang="en-GB" sz="1200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r>
                <a:rPr lang="en-US" sz="1200" b="1">
                  <a:solidFill>
                    <a:schemeClr val="bg1"/>
                  </a:solidFill>
                  <a:latin typeface="+mj-lt"/>
                </a:rPr>
                <a:t>Interested in MOBILE Phones</a:t>
              </a: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88536D29-F032-8B6A-3A1C-74EB24CE54E0}"/>
                </a:ext>
              </a:extLst>
            </p:cNvPr>
            <p:cNvSpPr/>
            <p:nvPr/>
          </p:nvSpPr>
          <p:spPr>
            <a:xfrm>
              <a:off x="9548289" y="3655337"/>
              <a:ext cx="1276332" cy="2446283"/>
            </a:xfrm>
            <a:prstGeom prst="roundRect">
              <a:avLst>
                <a:gd name="adj" fmla="val 8008"/>
              </a:avLst>
            </a:prstGeom>
            <a:solidFill>
              <a:schemeClr val="accent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lvl="0">
                <a:buClr>
                  <a:schemeClr val="bg1"/>
                </a:buClr>
              </a:pPr>
              <a:r>
                <a:rPr lang="en-US" sz="1200" b="1">
                  <a:solidFill>
                    <a:schemeClr val="bg1"/>
                  </a:solidFill>
                  <a:latin typeface="+mj-lt"/>
                </a:rPr>
                <a:t>CORE AUDIENCE</a:t>
              </a:r>
            </a:p>
            <a:p>
              <a:pPr marL="171450" lvl="0" indent="-17145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GB" sz="1200" b="1">
                <a:solidFill>
                  <a:schemeClr val="bg1"/>
                </a:solidFill>
                <a:latin typeface="+mj-lt"/>
              </a:endParaRP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r>
                <a:rPr lang="en-US" sz="1200" b="1">
                  <a:solidFill>
                    <a:schemeClr val="bg1"/>
                  </a:solidFill>
                  <a:latin typeface="+mj-lt"/>
                </a:rPr>
                <a:t>X &amp; V Pro Series users</a:t>
              </a:r>
            </a:p>
            <a:p>
              <a:pPr marL="228600" lvl="1" indent="-228600"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200" b="1">
                <a:solidFill>
                  <a:schemeClr val="bg1"/>
                </a:solidFill>
                <a:latin typeface="+mj-lt"/>
              </a:endParaRPr>
            </a:p>
            <a:p>
              <a:pPr marL="228600" marR="0" lvl="1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  <a:sym typeface="Arial"/>
                </a:rPr>
                <a:t>Apple/Samsung/OP users</a:t>
              </a:r>
            </a:p>
            <a:p>
              <a:pPr marR="0" lvl="1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  <a:sym typeface="Arial"/>
              </a:endParaRPr>
            </a:p>
            <a:p>
              <a:pPr marL="228600" marR="0" lvl="1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/>
                  <a:ea typeface="Century Gothic"/>
                  <a:cs typeface="Century Gothic"/>
                  <a:sym typeface="Century Gothic"/>
                </a:rPr>
                <a:t>Luxurious lifestyle, Travel, Technology &amp; Premium Brands</a:t>
              </a: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/>
                <a:ea typeface="+mn-ea"/>
                <a:cs typeface="+mn-cs"/>
                <a:sym typeface="Arial"/>
              </a:endParaRPr>
            </a:p>
            <a:p>
              <a:pPr marL="228600" marR="0" lvl="1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lang="en-US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917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2DD86-3AE3-69F9-4488-E4E339C5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07" y="37321"/>
            <a:ext cx="10765383" cy="1088701"/>
          </a:xfrm>
        </p:spPr>
        <p:txBody>
          <a:bodyPr/>
          <a:lstStyle/>
          <a:p>
            <a:r>
              <a:rPr lang="en-US" sz="2800"/>
              <a:t>Audience planning </a:t>
            </a:r>
            <a:r>
              <a:rPr lang="en-US" sz="2800" b="1"/>
              <a:t>process for X Fold3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952DD-F72A-1AEC-DCE3-7DA045F1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261" y="6347495"/>
            <a:ext cx="494264" cy="325686"/>
          </a:xfrm>
        </p:spPr>
        <p:txBody>
          <a:bodyPr/>
          <a:lstStyle/>
          <a:p>
            <a:fld id="{41E71DB5-5680-5541-BB1B-1B8E18C31C82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263CE-5FBF-BEB9-6D3E-E74BADA5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2" y="2999165"/>
            <a:ext cx="1265721" cy="3777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1E28EC0-3548-8F8C-4658-22E68BEB07B3}"/>
              </a:ext>
            </a:extLst>
          </p:cNvPr>
          <p:cNvSpPr/>
          <p:nvPr/>
        </p:nvSpPr>
        <p:spPr>
          <a:xfrm>
            <a:off x="1929106" y="1854101"/>
            <a:ext cx="1820533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Physiographic understanding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67E2-3C41-E0A7-6C11-7D81D3124027}"/>
              </a:ext>
            </a:extLst>
          </p:cNvPr>
          <p:cNvSpPr/>
          <p:nvPr/>
        </p:nvSpPr>
        <p:spPr>
          <a:xfrm>
            <a:off x="155198" y="1398339"/>
            <a:ext cx="3594441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Integrated Audience Understanding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727778-914C-8EB0-95B1-95B4476E08F1}"/>
              </a:ext>
            </a:extLst>
          </p:cNvPr>
          <p:cNvSpPr/>
          <p:nvPr/>
        </p:nvSpPr>
        <p:spPr>
          <a:xfrm>
            <a:off x="6743582" y="1405873"/>
            <a:ext cx="2882918" cy="377728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Touch point selection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CEB86B-9971-7397-42E0-51A024C58C55}"/>
              </a:ext>
            </a:extLst>
          </p:cNvPr>
          <p:cNvSpPr/>
          <p:nvPr/>
        </p:nvSpPr>
        <p:spPr>
          <a:xfrm>
            <a:off x="9816086" y="1408203"/>
            <a:ext cx="2230921" cy="377729"/>
          </a:xfrm>
          <a:prstGeom prst="rect">
            <a:avLst/>
          </a:prstGeom>
          <a:solidFill>
            <a:schemeClr val="accent1">
              <a:lumMod val="40000"/>
              <a:lumOff val="60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Media Planning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B72822-FE4B-2B21-4446-78809BDA06DF}"/>
              </a:ext>
            </a:extLst>
          </p:cNvPr>
          <p:cNvSpPr/>
          <p:nvPr/>
        </p:nvSpPr>
        <p:spPr>
          <a:xfrm>
            <a:off x="155198" y="1854102"/>
            <a:ext cx="1629682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Demographic understanding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B8A14-6DCA-43C2-9CC6-9545017249F0}"/>
              </a:ext>
            </a:extLst>
          </p:cNvPr>
          <p:cNvSpPr/>
          <p:nvPr/>
        </p:nvSpPr>
        <p:spPr>
          <a:xfrm>
            <a:off x="6796974" y="2394382"/>
            <a:ext cx="1311283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In market and Affinity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2E458A-FE83-4CC8-C7FF-FDEC24B0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487" y="2953569"/>
            <a:ext cx="1072930" cy="5932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EC03359-F0AC-AD8F-B39C-81F3B8962365}"/>
              </a:ext>
            </a:extLst>
          </p:cNvPr>
          <p:cNvSpPr/>
          <p:nvPr/>
        </p:nvSpPr>
        <p:spPr>
          <a:xfrm>
            <a:off x="6770839" y="1861795"/>
            <a:ext cx="1337419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Site Selection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CB0761-95E4-5332-2FE4-5138CCB3C8C2}"/>
              </a:ext>
            </a:extLst>
          </p:cNvPr>
          <p:cNvSpPr/>
          <p:nvPr/>
        </p:nvSpPr>
        <p:spPr>
          <a:xfrm>
            <a:off x="8185041" y="1854100"/>
            <a:ext cx="1408080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Apps Selection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" descr="Comscore is a trusted currency for planning, transacting, and evaluating  media across platforms.">
            <a:extLst>
              <a:ext uri="{FF2B5EF4-FFF2-40B4-BE49-F238E27FC236}">
                <a16:creationId xmlns:a16="http://schemas.microsoft.com/office/drawing/2014/main" id="{D2D5E68A-6FD7-FE86-FC33-1CB8CFB16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573" y="3211598"/>
            <a:ext cx="1636819" cy="37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04DB4C-21C4-37ED-6065-A90053FDE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950" y="3168361"/>
            <a:ext cx="1411859" cy="4630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56A7EEF-039A-ECFE-0309-D9027C73294B}"/>
              </a:ext>
            </a:extLst>
          </p:cNvPr>
          <p:cNvSpPr/>
          <p:nvPr/>
        </p:nvSpPr>
        <p:spPr>
          <a:xfrm>
            <a:off x="6796974" y="3803665"/>
            <a:ext cx="2896335" cy="3777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Predecessors' learnings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30E239-C4CB-E7EE-FE44-CF0262BE1458}"/>
              </a:ext>
            </a:extLst>
          </p:cNvPr>
          <p:cNvSpPr/>
          <p:nvPr/>
        </p:nvSpPr>
        <p:spPr>
          <a:xfrm>
            <a:off x="217171" y="3752983"/>
            <a:ext cx="3597011" cy="37772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Predecessors' learnings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5EB010-5F1D-9120-6030-ACF75A70BAD7}"/>
              </a:ext>
            </a:extLst>
          </p:cNvPr>
          <p:cNvSpPr/>
          <p:nvPr/>
        </p:nvSpPr>
        <p:spPr>
          <a:xfrm>
            <a:off x="9805383" y="1832605"/>
            <a:ext cx="1077069" cy="50354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First level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C8F5F-3ED2-D71B-A23A-D8165F3C51D7}"/>
              </a:ext>
            </a:extLst>
          </p:cNvPr>
          <p:cNvSpPr/>
          <p:nvPr/>
        </p:nvSpPr>
        <p:spPr>
          <a:xfrm>
            <a:off x="10949556" y="1832109"/>
            <a:ext cx="1077069" cy="50354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Detailing 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D8993A90-67EB-8F88-C318-60E6845E49AD}"/>
              </a:ext>
            </a:extLst>
          </p:cNvPr>
          <p:cNvSpPr/>
          <p:nvPr/>
        </p:nvSpPr>
        <p:spPr>
          <a:xfrm rot="5400000">
            <a:off x="9633689" y="1470584"/>
            <a:ext cx="343389" cy="228251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8B0AD2-6902-468A-770A-BE3EAF9679B3}"/>
              </a:ext>
            </a:extLst>
          </p:cNvPr>
          <p:cNvSpPr/>
          <p:nvPr/>
        </p:nvSpPr>
        <p:spPr>
          <a:xfrm>
            <a:off x="3930198" y="1405733"/>
            <a:ext cx="2632825" cy="380808"/>
          </a:xfrm>
          <a:prstGeom prst="rect">
            <a:avLst/>
          </a:prstGeom>
          <a:solidFill>
            <a:schemeClr val="bg1">
              <a:lumMod val="85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Tool driven Planning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9FF07DE9-2CDF-D6D6-C0DF-8BADECE37D40}"/>
              </a:ext>
            </a:extLst>
          </p:cNvPr>
          <p:cNvSpPr/>
          <p:nvPr/>
        </p:nvSpPr>
        <p:spPr>
          <a:xfrm rot="5400000">
            <a:off x="3746238" y="1470919"/>
            <a:ext cx="343389" cy="228251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pic>
        <p:nvPicPr>
          <p:cNvPr id="2050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866BBAD9-4312-1697-DD5D-C389D3B72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363" y="2671585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0F6766-B8B6-647E-52D4-4EF6D42397EF}"/>
              </a:ext>
            </a:extLst>
          </p:cNvPr>
          <p:cNvSpPr/>
          <p:nvPr/>
        </p:nvSpPr>
        <p:spPr>
          <a:xfrm>
            <a:off x="3930199" y="1859962"/>
            <a:ext cx="1337419" cy="50354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Integrated Planning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2A6F36-F734-B1EC-C044-E17734F26604}"/>
              </a:ext>
            </a:extLst>
          </p:cNvPr>
          <p:cNvSpPr/>
          <p:nvPr/>
        </p:nvSpPr>
        <p:spPr>
          <a:xfrm>
            <a:off x="5349421" y="1863929"/>
            <a:ext cx="1213602" cy="50354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Integrated Budgeting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646259EC-50A0-4D90-0820-7BF7713DE99B}"/>
              </a:ext>
            </a:extLst>
          </p:cNvPr>
          <p:cNvSpPr/>
          <p:nvPr/>
        </p:nvSpPr>
        <p:spPr>
          <a:xfrm rot="5400000">
            <a:off x="6558471" y="1472295"/>
            <a:ext cx="343389" cy="228251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DB8FFA-17D9-25A9-B001-CE60A0EADEFE}"/>
              </a:ext>
            </a:extLst>
          </p:cNvPr>
          <p:cNvSpPr/>
          <p:nvPr/>
        </p:nvSpPr>
        <p:spPr>
          <a:xfrm>
            <a:off x="4523609" y="3339547"/>
            <a:ext cx="1488017" cy="3004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Architect</a:t>
            </a:r>
            <a:endParaRPr lang="en-US" sz="1200" b="1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AD5D2-CC10-3E58-5C04-060FEDBB999E}"/>
              </a:ext>
            </a:extLst>
          </p:cNvPr>
          <p:cNvSpPr txBox="1"/>
          <p:nvPr/>
        </p:nvSpPr>
        <p:spPr>
          <a:xfrm>
            <a:off x="217171" y="4846906"/>
            <a:ext cx="10765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To get the right audience insights we looked at the appropriate relevant products available :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Insight finder: X90 and X80 along with OP 10PRO (11PRO NA) &amp; Samsung Galaxy S23 are available in Google Insights Finder </a:t>
            </a:r>
          </a:p>
          <a:p>
            <a:r>
              <a:rPr lang="en-US">
                <a:latin typeface="+mj-lt"/>
              </a:rPr>
              <a:t>GWI : Samsung S series  </a:t>
            </a:r>
            <a:endParaRPr lang="en-US">
              <a:highlight>
                <a:srgbClr val="FFFF00"/>
              </a:highlight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AC767-4776-F734-C7EB-A6829CBC4B64}"/>
              </a:ext>
            </a:extLst>
          </p:cNvPr>
          <p:cNvSpPr txBox="1"/>
          <p:nvPr/>
        </p:nvSpPr>
        <p:spPr>
          <a:xfrm>
            <a:off x="262012" y="5722175"/>
            <a:ext cx="227017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latin typeface="+mj-lt"/>
              </a:rPr>
              <a:t>Launch days for reference</a:t>
            </a:r>
          </a:p>
          <a:p>
            <a:r>
              <a:rPr lang="en-US" sz="1050">
                <a:latin typeface="+mj-lt"/>
              </a:rPr>
              <a:t>OnePlus Sale Date 31</a:t>
            </a:r>
            <a:r>
              <a:rPr lang="en-US" sz="1050" baseline="30000">
                <a:latin typeface="+mj-lt"/>
              </a:rPr>
              <a:t>st</a:t>
            </a:r>
            <a:r>
              <a:rPr lang="en-US" sz="1050">
                <a:latin typeface="+mj-lt"/>
              </a:rPr>
              <a:t> Mar 2022</a:t>
            </a:r>
          </a:p>
          <a:p>
            <a:r>
              <a:rPr lang="en-US" sz="1050">
                <a:latin typeface="+mj-lt"/>
              </a:rPr>
              <a:t>X80 Launch Date 25</a:t>
            </a:r>
            <a:r>
              <a:rPr lang="en-US" sz="1050" baseline="30000">
                <a:latin typeface="+mj-lt"/>
              </a:rPr>
              <a:t>th</a:t>
            </a:r>
            <a:r>
              <a:rPr lang="en-US" sz="1050">
                <a:latin typeface="+mj-lt"/>
              </a:rPr>
              <a:t> Apr 2022</a:t>
            </a:r>
          </a:p>
          <a:p>
            <a:r>
              <a:rPr lang="en-US" sz="1050">
                <a:latin typeface="+mj-lt"/>
              </a:rPr>
              <a:t>X90 Launch Date 26</a:t>
            </a:r>
            <a:r>
              <a:rPr lang="en-US" sz="1050" baseline="30000">
                <a:latin typeface="+mj-lt"/>
              </a:rPr>
              <a:t>th</a:t>
            </a:r>
            <a:r>
              <a:rPr lang="en-US" sz="1050">
                <a:latin typeface="+mj-lt"/>
              </a:rPr>
              <a:t> Apr 2023</a:t>
            </a:r>
          </a:p>
          <a:p>
            <a:r>
              <a:rPr lang="en-US" sz="1050">
                <a:latin typeface="+mj-lt"/>
              </a:rPr>
              <a:t>S23 Launch Date 1</a:t>
            </a:r>
            <a:r>
              <a:rPr lang="en-US" sz="1050" baseline="30000">
                <a:latin typeface="+mj-lt"/>
              </a:rPr>
              <a:t>st</a:t>
            </a:r>
            <a:r>
              <a:rPr lang="en-US" sz="1050">
                <a:latin typeface="+mj-lt"/>
              </a:rPr>
              <a:t> Feb 2023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165FD6-00AB-AA95-B650-6CEE5DB6D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1662" y="2997587"/>
            <a:ext cx="1132145" cy="4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9" grpId="0" animBg="1"/>
      <p:bldP spid="16" grpId="0" animBg="1"/>
      <p:bldP spid="10" grpId="0" animBg="1"/>
      <p:bldP spid="17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BB1B21-1862-2424-7A0A-1470A92A4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26E5-02FB-21A2-7A8D-977C1C28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F50DA-BD1F-C6EF-1263-96C3C7827123}"/>
              </a:ext>
            </a:extLst>
          </p:cNvPr>
          <p:cNvSpPr/>
          <p:nvPr/>
        </p:nvSpPr>
        <p:spPr>
          <a:xfrm>
            <a:off x="785261" y="1946812"/>
            <a:ext cx="3047485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st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FBB84-3460-E666-6A94-961FDFBBFB82}"/>
              </a:ext>
            </a:extLst>
          </p:cNvPr>
          <p:cNvSpPr/>
          <p:nvPr/>
        </p:nvSpPr>
        <p:spPr>
          <a:xfrm>
            <a:off x="4288186" y="1946812"/>
            <a:ext cx="3620691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2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nd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0893B-0D3E-98F3-05EE-467210FDA11F}"/>
              </a:ext>
            </a:extLst>
          </p:cNvPr>
          <p:cNvSpPr/>
          <p:nvPr/>
        </p:nvSpPr>
        <p:spPr>
          <a:xfrm>
            <a:off x="8364317" y="1946812"/>
            <a:ext cx="3486944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1CB74-47CC-7086-7640-4A1A91E3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834" y="3613443"/>
            <a:ext cx="1132145" cy="450423"/>
          </a:xfrm>
          <a:prstGeom prst="rect">
            <a:avLst/>
          </a:prstGeom>
        </p:spPr>
      </p:pic>
      <p:pic>
        <p:nvPicPr>
          <p:cNvPr id="10" name="Picture 4" descr="Vivo Logo and symbol, meaning, history, PNG, brand">
            <a:extLst>
              <a:ext uri="{FF2B5EF4-FFF2-40B4-BE49-F238E27FC236}">
                <a16:creationId xmlns:a16="http://schemas.microsoft.com/office/drawing/2014/main" id="{A10B21D5-F1F1-7805-FCD9-47D9A564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61" y="2835060"/>
            <a:ext cx="1130626" cy="62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23F6D-63BA-B1B2-5CF6-5C0094750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1" y="3545556"/>
            <a:ext cx="779106" cy="856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51F28B-05E7-D758-E822-E6CF5993F46D}"/>
              </a:ext>
            </a:extLst>
          </p:cNvPr>
          <p:cNvSpPr txBox="1"/>
          <p:nvPr/>
        </p:nvSpPr>
        <p:spPr>
          <a:xfrm>
            <a:off x="2218491" y="3652965"/>
            <a:ext cx="1130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X</a:t>
            </a:r>
            <a:endParaRPr lang="en-US" sz="1600" b="1"/>
          </a:p>
        </p:txBody>
      </p:sp>
      <p:pic>
        <p:nvPicPr>
          <p:cNvPr id="14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994C3179-6DFE-7E5B-EB0D-CC6EACD3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644" y="2589715"/>
            <a:ext cx="128129" cy="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945EE9-43B9-2742-3928-C6CACB7F2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84" y="3579842"/>
            <a:ext cx="1035936" cy="2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A56318-B0CE-4983-E66C-D92CDD97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204" y="3495897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518688-AD57-05E4-FB4D-09938410DDE7}"/>
              </a:ext>
            </a:extLst>
          </p:cNvPr>
          <p:cNvSpPr/>
          <p:nvPr/>
        </p:nvSpPr>
        <p:spPr>
          <a:xfrm>
            <a:off x="4571184" y="3973855"/>
            <a:ext cx="1132145" cy="296078"/>
          </a:xfrm>
          <a:prstGeom prst="rect">
            <a:avLst/>
          </a:prstGeom>
          <a:solidFill>
            <a:schemeClr val="bg1">
              <a:lumMod val="85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Survey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123FB3-16F0-0CDA-719E-A30B2C048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716" y="3576485"/>
            <a:ext cx="1265721" cy="3777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1069EA-C6AB-F41B-3CB3-3A42D8FA4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4655" y="3429000"/>
            <a:ext cx="1072930" cy="593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87E124-EAE9-666A-7336-5EFA8E4F82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507" y="4121894"/>
            <a:ext cx="1411859" cy="463029"/>
          </a:xfrm>
          <a:prstGeom prst="rect">
            <a:avLst/>
          </a:prstGeom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DA22EEE7-25A4-B2F6-7C66-742A93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07" y="37321"/>
            <a:ext cx="10765383" cy="1088701"/>
          </a:xfrm>
        </p:spPr>
        <p:txBody>
          <a:bodyPr/>
          <a:lstStyle/>
          <a:p>
            <a:r>
              <a:rPr lang="en-US" sz="2800"/>
              <a:t>Mining Audiences right for vivo Fold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160189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BB1B21-1862-2424-7A0A-1470A92A4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26E5-02FB-21A2-7A8D-977C1C28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F50DA-BD1F-C6EF-1263-96C3C7827123}"/>
              </a:ext>
            </a:extLst>
          </p:cNvPr>
          <p:cNvSpPr/>
          <p:nvPr/>
        </p:nvSpPr>
        <p:spPr>
          <a:xfrm>
            <a:off x="785261" y="1946812"/>
            <a:ext cx="3047485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st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FBB84-3460-E666-6A94-961FDFBBFB82}"/>
              </a:ext>
            </a:extLst>
          </p:cNvPr>
          <p:cNvSpPr/>
          <p:nvPr/>
        </p:nvSpPr>
        <p:spPr>
          <a:xfrm>
            <a:off x="4288186" y="1946812"/>
            <a:ext cx="3620691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2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nd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0893B-0D3E-98F3-05EE-467210FDA11F}"/>
              </a:ext>
            </a:extLst>
          </p:cNvPr>
          <p:cNvSpPr/>
          <p:nvPr/>
        </p:nvSpPr>
        <p:spPr>
          <a:xfrm>
            <a:off x="8364317" y="1946812"/>
            <a:ext cx="3486944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1CB74-47CC-7086-7640-4A1A91E3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834" y="3613443"/>
            <a:ext cx="1132145" cy="450423"/>
          </a:xfrm>
          <a:prstGeom prst="rect">
            <a:avLst/>
          </a:prstGeom>
        </p:spPr>
      </p:pic>
      <p:pic>
        <p:nvPicPr>
          <p:cNvPr id="10" name="Picture 4" descr="Vivo Logo and symbol, meaning, history, PNG, brand">
            <a:extLst>
              <a:ext uri="{FF2B5EF4-FFF2-40B4-BE49-F238E27FC236}">
                <a16:creationId xmlns:a16="http://schemas.microsoft.com/office/drawing/2014/main" id="{A10B21D5-F1F1-7805-FCD9-47D9A564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61" y="2835060"/>
            <a:ext cx="1130626" cy="62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23F6D-63BA-B1B2-5CF6-5C0094750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1" y="3545556"/>
            <a:ext cx="779106" cy="856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51F28B-05E7-D758-E822-E6CF5993F46D}"/>
              </a:ext>
            </a:extLst>
          </p:cNvPr>
          <p:cNvSpPr txBox="1"/>
          <p:nvPr/>
        </p:nvSpPr>
        <p:spPr>
          <a:xfrm>
            <a:off x="2218491" y="3652965"/>
            <a:ext cx="1130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X</a:t>
            </a:r>
            <a:endParaRPr lang="en-US" sz="1600" b="1"/>
          </a:p>
        </p:txBody>
      </p:sp>
      <p:pic>
        <p:nvPicPr>
          <p:cNvPr id="14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994C3179-6DFE-7E5B-EB0D-CC6EACD3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644" y="2589715"/>
            <a:ext cx="128129" cy="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945EE9-43B9-2742-3928-C6CACB7F2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84" y="3579842"/>
            <a:ext cx="1035936" cy="2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A56318-B0CE-4983-E66C-D92CDD97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204" y="3495897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518688-AD57-05E4-FB4D-09938410DDE7}"/>
              </a:ext>
            </a:extLst>
          </p:cNvPr>
          <p:cNvSpPr/>
          <p:nvPr/>
        </p:nvSpPr>
        <p:spPr>
          <a:xfrm>
            <a:off x="4571184" y="3973855"/>
            <a:ext cx="1132145" cy="296078"/>
          </a:xfrm>
          <a:prstGeom prst="rect">
            <a:avLst/>
          </a:prstGeom>
          <a:solidFill>
            <a:schemeClr val="bg1">
              <a:lumMod val="85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Survey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123FB3-16F0-0CDA-719E-A30B2C048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716" y="3576485"/>
            <a:ext cx="1265721" cy="3777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1069EA-C6AB-F41B-3CB3-3A42D8FA4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4655" y="3429000"/>
            <a:ext cx="1072930" cy="593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87E124-EAE9-666A-7336-5EFA8E4F82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507" y="4121894"/>
            <a:ext cx="1411859" cy="463029"/>
          </a:xfrm>
          <a:prstGeom prst="rect">
            <a:avLst/>
          </a:prstGeom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DA22EEE7-25A4-B2F6-7C66-742A93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07" y="37321"/>
            <a:ext cx="10765383" cy="1088701"/>
          </a:xfrm>
        </p:spPr>
        <p:txBody>
          <a:bodyPr/>
          <a:lstStyle/>
          <a:p>
            <a:r>
              <a:rPr lang="en-US" sz="2800"/>
              <a:t>Mining Audiences right for vivo Fold</a:t>
            </a:r>
            <a:endParaRPr lang="en-US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8AE43-181A-4BF0-3BB1-B3F7F02894AB}"/>
              </a:ext>
            </a:extLst>
          </p:cNvPr>
          <p:cNvSpPr/>
          <p:nvPr/>
        </p:nvSpPr>
        <p:spPr>
          <a:xfrm>
            <a:off x="4094328" y="1583141"/>
            <a:ext cx="8097672" cy="3425588"/>
          </a:xfrm>
          <a:prstGeom prst="rect">
            <a:avLst/>
          </a:prstGeom>
          <a:solidFill>
            <a:srgbClr val="D9D9D9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85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B9A4189-B3BB-A633-9ACE-E0999F48DD7C}"/>
              </a:ext>
            </a:extLst>
          </p:cNvPr>
          <p:cNvGraphicFramePr>
            <a:graphicFrameLocks noGrp="1"/>
          </p:cNvGraphicFramePr>
          <p:nvPr/>
        </p:nvGraphicFramePr>
        <p:xfrm>
          <a:off x="831690" y="1459315"/>
          <a:ext cx="4416967" cy="2777490"/>
        </p:xfrm>
        <a:graphic>
          <a:graphicData uri="http://schemas.openxmlformats.org/drawingml/2006/table">
            <a:tbl>
              <a:tblPr/>
              <a:tblGrid>
                <a:gridCol w="2640310">
                  <a:extLst>
                    <a:ext uri="{9D8B030D-6E8A-4147-A177-3AD203B41FA5}">
                      <a16:colId xmlns:a16="http://schemas.microsoft.com/office/drawing/2014/main" val="892173450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4098283873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540176807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41734177"/>
                    </a:ext>
                  </a:extLst>
                </a:gridCol>
              </a:tblGrid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3P DMP Audience Cohorts (basis share)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Overlap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67757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Traveller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14,804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46580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</a:t>
                      </a: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Traveller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408064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Statement: “Electric Cars are the future”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068264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Finance News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9,430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476081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Statement: “Early Adopter of New Technology”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17,996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221040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Luxury Cars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891658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Job Profile : Business Development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16,094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751255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Intelligence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17,787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742523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Enterprise Business Solutions (EBS)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19,975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73094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 / IT Business Professionals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741762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Job Seniority : CXO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901500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Job Seniority : Head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653048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disposable income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790497"/>
                  </a:ext>
                </a:extLst>
              </a:tr>
              <a:tr h="156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Millennial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23,245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3207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EF47B95-4E3F-F259-034D-936C3502D7F5}"/>
              </a:ext>
            </a:extLst>
          </p:cNvPr>
          <p:cNvGraphicFramePr>
            <a:graphicFrameLocks noGrp="1"/>
          </p:cNvGraphicFramePr>
          <p:nvPr/>
        </p:nvGraphicFramePr>
        <p:xfrm>
          <a:off x="831690" y="4331485"/>
          <a:ext cx="4416967" cy="1739900"/>
        </p:xfrm>
        <a:graphic>
          <a:graphicData uri="http://schemas.openxmlformats.org/drawingml/2006/table">
            <a:tbl>
              <a:tblPr/>
              <a:tblGrid>
                <a:gridCol w="2640310">
                  <a:extLst>
                    <a:ext uri="{9D8B030D-6E8A-4147-A177-3AD203B41FA5}">
                      <a16:colId xmlns:a16="http://schemas.microsoft.com/office/drawing/2014/main" val="2518795318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1825397641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862678686"/>
                    </a:ext>
                  </a:extLst>
                </a:gridCol>
                <a:gridCol w="592219">
                  <a:extLst>
                    <a:ext uri="{9D8B030D-6E8A-4147-A177-3AD203B41FA5}">
                      <a16:colId xmlns:a16="http://schemas.microsoft.com/office/drawing/2014/main" val="1976379705"/>
                    </a:ext>
                  </a:extLst>
                </a:gridCol>
              </a:tblGrid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 3P DMP Audience Cohorts (basis index)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Overlap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21705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for Fitness Watch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284908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Used Cars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386018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Affinity towards Apple Devices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241752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- Luxury Watches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34987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for Home Theatre Systems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940296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for Camera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727138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Market for Motorcycles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810216"/>
                  </a:ext>
                </a:extLst>
              </a:tr>
              <a:tr h="15301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Researching for vehicle Specs &amp; Reviews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049982"/>
                  </a:ext>
                </a:extLst>
              </a:tr>
              <a:tr h="960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Professional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607527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898ECA96-9AEF-BBE6-87D2-FCC39C4F5E85}"/>
              </a:ext>
            </a:extLst>
          </p:cNvPr>
          <p:cNvSpPr>
            <a:spLocks/>
          </p:cNvSpPr>
          <p:nvPr/>
        </p:nvSpPr>
        <p:spPr>
          <a:xfrm>
            <a:off x="668688" y="4831886"/>
            <a:ext cx="4742953" cy="13834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12C122-2A93-1143-51FC-35147978BEFA}"/>
              </a:ext>
            </a:extLst>
          </p:cNvPr>
          <p:cNvSpPr>
            <a:spLocks/>
          </p:cNvSpPr>
          <p:nvPr/>
        </p:nvSpPr>
        <p:spPr>
          <a:xfrm>
            <a:off x="668693" y="5185302"/>
            <a:ext cx="4742953" cy="55584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B7141F-F6AB-E389-8D42-EA0C55CD73F2}"/>
              </a:ext>
            </a:extLst>
          </p:cNvPr>
          <p:cNvSpPr>
            <a:spLocks/>
          </p:cNvSpPr>
          <p:nvPr/>
        </p:nvSpPr>
        <p:spPr>
          <a:xfrm>
            <a:off x="668692" y="5923895"/>
            <a:ext cx="4742953" cy="13834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EF2FA3-30EC-6AE5-5797-2A277CE00D33}"/>
              </a:ext>
            </a:extLst>
          </p:cNvPr>
          <p:cNvSpPr>
            <a:spLocks/>
          </p:cNvSpPr>
          <p:nvPr/>
        </p:nvSpPr>
        <p:spPr>
          <a:xfrm>
            <a:off x="668689" y="2684013"/>
            <a:ext cx="4742953" cy="13834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3969D5-37F3-D177-22EA-82EB18127D57}"/>
              </a:ext>
            </a:extLst>
          </p:cNvPr>
          <p:cNvSpPr>
            <a:spLocks/>
          </p:cNvSpPr>
          <p:nvPr/>
        </p:nvSpPr>
        <p:spPr>
          <a:xfrm>
            <a:off x="668690" y="3179650"/>
            <a:ext cx="4742953" cy="677832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6EE8B4-3780-870F-8993-62CAF815D2DD}"/>
              </a:ext>
            </a:extLst>
          </p:cNvPr>
          <p:cNvSpPr>
            <a:spLocks/>
          </p:cNvSpPr>
          <p:nvPr/>
        </p:nvSpPr>
        <p:spPr>
          <a:xfrm>
            <a:off x="668689" y="5726915"/>
            <a:ext cx="4742953" cy="13834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5FE16-5A45-D9F8-DB4E-C46B75C85E77}"/>
              </a:ext>
            </a:extLst>
          </p:cNvPr>
          <p:cNvSpPr txBox="1"/>
          <p:nvPr/>
        </p:nvSpPr>
        <p:spPr>
          <a:xfrm>
            <a:off x="779468" y="6337237"/>
            <a:ext cx="10775945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</a:t>
            </a:r>
          </a:p>
          <a:p>
            <a:r>
              <a:rPr lang="en-US" sz="900" b="1">
                <a:solidFill>
                  <a:srgbClr val="191C1C"/>
                </a:solidFill>
                <a:latin typeface="Century Gothic"/>
                <a:sym typeface="Century Gothic"/>
              </a:rPr>
              <a:t>DV360 Audience Analysis:  Seed Audience - </a:t>
            </a:r>
            <a:r>
              <a:rPr lang="en-US" sz="900" u="sng" err="1">
                <a:solidFill>
                  <a:srgbClr val="191C1C"/>
                </a:solidFill>
                <a:latin typeface="Century Gothic"/>
                <a:sym typeface="Century Gothic"/>
              </a:rPr>
              <a:t>Buynowclick</a:t>
            </a:r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 - Purchase </a:t>
            </a:r>
            <a:r>
              <a:rPr lang="en-US" sz="900" u="sng" err="1">
                <a:solidFill>
                  <a:srgbClr val="191C1C"/>
                </a:solidFill>
                <a:latin typeface="Century Gothic"/>
                <a:sym typeface="Century Gothic"/>
              </a:rPr>
              <a:t>Intent_X</a:t>
            </a:r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 Series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(Audience size 39,000)</a:t>
            </a:r>
          </a:p>
          <a:p>
            <a:r>
              <a:rPr lang="en-US" sz="900" b="1">
                <a:solidFill>
                  <a:srgbClr val="191C1C"/>
                </a:solidFill>
                <a:latin typeface="Century Gothic"/>
                <a:sym typeface="Century Gothic"/>
              </a:rPr>
              <a:t>Data Partners -  </a:t>
            </a:r>
            <a:r>
              <a:rPr lang="en-US" sz="900" err="1">
                <a:solidFill>
                  <a:srgbClr val="191C1C"/>
                </a:solidFill>
                <a:latin typeface="Century Gothic"/>
                <a:sym typeface="Century Gothic"/>
              </a:rPr>
              <a:t>Semasio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| </a:t>
            </a:r>
            <a:r>
              <a:rPr lang="en-US" sz="900" err="1">
                <a:solidFill>
                  <a:srgbClr val="191C1C"/>
                </a:solidFill>
                <a:latin typeface="Century Gothic"/>
                <a:sym typeface="Century Gothic"/>
              </a:rPr>
              <a:t>Liveramp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| </a:t>
            </a:r>
            <a:r>
              <a:rPr lang="en-US" sz="900" err="1">
                <a:solidFill>
                  <a:srgbClr val="191C1C"/>
                </a:solidFill>
                <a:latin typeface="Century Gothic"/>
                <a:sym typeface="Century Gothic"/>
              </a:rPr>
              <a:t>Eyeota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| YouGov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79952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Key Traits of X Series Purchase intenders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98B9E7-28EA-5878-FEFC-5F86034B7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855" y="-13252"/>
            <a:ext cx="1132145" cy="4504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47E49F-BD8A-9E6F-EFAF-1A6BB1484AB4}"/>
              </a:ext>
            </a:extLst>
          </p:cNvPr>
          <p:cNvSpPr>
            <a:spLocks/>
          </p:cNvSpPr>
          <p:nvPr/>
        </p:nvSpPr>
        <p:spPr>
          <a:xfrm>
            <a:off x="668688" y="3888859"/>
            <a:ext cx="4742953" cy="229943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FA84C-D0AC-9331-110C-1ECFAEFAF1DA}"/>
              </a:ext>
            </a:extLst>
          </p:cNvPr>
          <p:cNvSpPr>
            <a:spLocks/>
          </p:cNvSpPr>
          <p:nvPr/>
        </p:nvSpPr>
        <p:spPr>
          <a:xfrm>
            <a:off x="668688" y="2281304"/>
            <a:ext cx="4742953" cy="358308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DFED6-4DD9-0C7D-F1D0-6B3EA557EA50}"/>
              </a:ext>
            </a:extLst>
          </p:cNvPr>
          <p:cNvSpPr>
            <a:spLocks/>
          </p:cNvSpPr>
          <p:nvPr/>
        </p:nvSpPr>
        <p:spPr>
          <a:xfrm>
            <a:off x="668696" y="1667532"/>
            <a:ext cx="4742953" cy="297235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1425C7-0650-FB4A-59A5-F45641AD98B2}"/>
              </a:ext>
            </a:extLst>
          </p:cNvPr>
          <p:cNvSpPr/>
          <p:nvPr/>
        </p:nvSpPr>
        <p:spPr>
          <a:xfrm>
            <a:off x="7631290" y="1459315"/>
            <a:ext cx="3924124" cy="4611322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Considering most likely purchasers for vivo X Fold3 being vivo Flagship Loyalists with following traits:</a:t>
            </a:r>
          </a:p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en-US" sz="1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International Travel Enthusiasts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 Disposable income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Luxury Cars &amp; Watches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Senior level Job Designation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APPLE devices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Professional – Enterprise </a:t>
            </a:r>
          </a:p>
          <a:p>
            <a:pPr marL="342900" indent="-342900">
              <a:buAutoNum type="arabicPeriod"/>
            </a:pPr>
            <a:r>
              <a: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Motor Vehicles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B80D448-3981-C81C-58C0-68F1E1513530}"/>
              </a:ext>
            </a:extLst>
          </p:cNvPr>
          <p:cNvSpPr txBox="1">
            <a:spLocks/>
          </p:cNvSpPr>
          <p:nvPr/>
        </p:nvSpPr>
        <p:spPr>
          <a:xfrm>
            <a:off x="713515" y="555685"/>
            <a:ext cx="10935941" cy="79952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3637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none" baseline="0">
                <a:solidFill>
                  <a:schemeClr val="tx1"/>
                </a:solidFill>
                <a:latin typeface="+mj-lt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</a:lstStyle>
          <a:p>
            <a:pPr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</a:rPr>
              <a:t>based on overlap between 1PD &amp; 3P DMP audience</a:t>
            </a:r>
            <a:endParaRPr lang="en-US" sz="2800" b="1" kern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5590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BB1B21-1862-2424-7A0A-1470A92A4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26E5-02FB-21A2-7A8D-977C1C28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F50DA-BD1F-C6EF-1263-96C3C7827123}"/>
              </a:ext>
            </a:extLst>
          </p:cNvPr>
          <p:cNvSpPr/>
          <p:nvPr/>
        </p:nvSpPr>
        <p:spPr>
          <a:xfrm>
            <a:off x="785261" y="1946812"/>
            <a:ext cx="3047485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st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FBB84-3460-E666-6A94-961FDFBBFB82}"/>
              </a:ext>
            </a:extLst>
          </p:cNvPr>
          <p:cNvSpPr/>
          <p:nvPr/>
        </p:nvSpPr>
        <p:spPr>
          <a:xfrm>
            <a:off x="4288186" y="1946812"/>
            <a:ext cx="3620691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2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nd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0893B-0D3E-98F3-05EE-467210FDA11F}"/>
              </a:ext>
            </a:extLst>
          </p:cNvPr>
          <p:cNvSpPr/>
          <p:nvPr/>
        </p:nvSpPr>
        <p:spPr>
          <a:xfrm>
            <a:off x="8364317" y="1946812"/>
            <a:ext cx="3486944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1CB74-47CC-7086-7640-4A1A91E3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834" y="3613443"/>
            <a:ext cx="1132145" cy="450423"/>
          </a:xfrm>
          <a:prstGeom prst="rect">
            <a:avLst/>
          </a:prstGeom>
        </p:spPr>
      </p:pic>
      <p:pic>
        <p:nvPicPr>
          <p:cNvPr id="10" name="Picture 4" descr="Vivo Logo and symbol, meaning, history, PNG, brand">
            <a:extLst>
              <a:ext uri="{FF2B5EF4-FFF2-40B4-BE49-F238E27FC236}">
                <a16:creationId xmlns:a16="http://schemas.microsoft.com/office/drawing/2014/main" id="{A10B21D5-F1F1-7805-FCD9-47D9A564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61" y="2835060"/>
            <a:ext cx="1130626" cy="62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23F6D-63BA-B1B2-5CF6-5C0094750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1" y="3545556"/>
            <a:ext cx="779106" cy="856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51F28B-05E7-D758-E822-E6CF5993F46D}"/>
              </a:ext>
            </a:extLst>
          </p:cNvPr>
          <p:cNvSpPr txBox="1"/>
          <p:nvPr/>
        </p:nvSpPr>
        <p:spPr>
          <a:xfrm>
            <a:off x="2218491" y="3652965"/>
            <a:ext cx="1130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X</a:t>
            </a:r>
            <a:endParaRPr lang="en-US" sz="1600" b="1"/>
          </a:p>
        </p:txBody>
      </p:sp>
      <p:pic>
        <p:nvPicPr>
          <p:cNvPr id="14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994C3179-6DFE-7E5B-EB0D-CC6EACD3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644" y="2589715"/>
            <a:ext cx="128129" cy="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945EE9-43B9-2742-3928-C6CACB7F2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84" y="3579842"/>
            <a:ext cx="1035936" cy="2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A56318-B0CE-4983-E66C-D92CDD97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204" y="3495897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518688-AD57-05E4-FB4D-09938410DDE7}"/>
              </a:ext>
            </a:extLst>
          </p:cNvPr>
          <p:cNvSpPr/>
          <p:nvPr/>
        </p:nvSpPr>
        <p:spPr>
          <a:xfrm>
            <a:off x="4571184" y="3973855"/>
            <a:ext cx="1132145" cy="296078"/>
          </a:xfrm>
          <a:prstGeom prst="rect">
            <a:avLst/>
          </a:prstGeom>
          <a:solidFill>
            <a:schemeClr val="bg1">
              <a:lumMod val="85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Survey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123FB3-16F0-0CDA-719E-A30B2C048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716" y="3576485"/>
            <a:ext cx="1265721" cy="3777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1069EA-C6AB-F41B-3CB3-3A42D8FA4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4655" y="3429000"/>
            <a:ext cx="1072930" cy="593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87E124-EAE9-666A-7336-5EFA8E4F82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507" y="4121894"/>
            <a:ext cx="1411859" cy="463029"/>
          </a:xfrm>
          <a:prstGeom prst="rect">
            <a:avLst/>
          </a:prstGeom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DA22EEE7-25A4-B2F6-7C66-742A93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07" y="37321"/>
            <a:ext cx="10765383" cy="1088701"/>
          </a:xfrm>
        </p:spPr>
        <p:txBody>
          <a:bodyPr/>
          <a:lstStyle/>
          <a:p>
            <a:r>
              <a:rPr lang="en-US" sz="2800"/>
              <a:t>Mining Audiences right for vivo Fold</a:t>
            </a:r>
            <a:endParaRPr lang="en-US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8AE43-181A-4BF0-3BB1-B3F7F02894AB}"/>
              </a:ext>
            </a:extLst>
          </p:cNvPr>
          <p:cNvSpPr/>
          <p:nvPr/>
        </p:nvSpPr>
        <p:spPr>
          <a:xfrm>
            <a:off x="0" y="1654684"/>
            <a:ext cx="4119309" cy="3425588"/>
          </a:xfrm>
          <a:prstGeom prst="rect">
            <a:avLst/>
          </a:prstGeom>
          <a:solidFill>
            <a:srgbClr val="D9D9D9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E7B564-613F-E40D-402B-870D32F44A39}"/>
              </a:ext>
            </a:extLst>
          </p:cNvPr>
          <p:cNvSpPr/>
          <p:nvPr/>
        </p:nvSpPr>
        <p:spPr>
          <a:xfrm>
            <a:off x="8112571" y="1654684"/>
            <a:ext cx="4119309" cy="3425588"/>
          </a:xfrm>
          <a:prstGeom prst="rect">
            <a:avLst/>
          </a:prstGeom>
          <a:solidFill>
            <a:srgbClr val="D9D9D9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18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25FE16-5A45-D9F8-DB4E-C46B75C85E77}"/>
              </a:ext>
            </a:extLst>
          </p:cNvPr>
          <p:cNvSpPr txBox="1"/>
          <p:nvPr/>
        </p:nvSpPr>
        <p:spPr>
          <a:xfrm>
            <a:off x="779468" y="6475511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Choreograph: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Audience Origin 2.x (BETA)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Description: Travelled abroad at least once in last 12 months OR Department Manager/VP and above OR Annual income 15 Lacs &amp; above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Architect defines our TG as Millennials with almost equal gender split..</a:t>
            </a:r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5B1DC7E0-1C06-06FD-BC56-25B277808801}"/>
              </a:ext>
            </a:extLst>
          </p:cNvPr>
          <p:cNvGraphicFramePr/>
          <p:nvPr/>
        </p:nvGraphicFramePr>
        <p:xfrm>
          <a:off x="4656096" y="1114725"/>
          <a:ext cx="3132829" cy="2399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A3CBB3-703E-BFEB-6081-D2EDEEF89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026" y="-10434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1762768C-1557-D329-E5E5-3EFCFEA9EBF3}"/>
              </a:ext>
            </a:extLst>
          </p:cNvPr>
          <p:cNvGraphicFramePr/>
          <p:nvPr/>
        </p:nvGraphicFramePr>
        <p:xfrm>
          <a:off x="878620" y="1114725"/>
          <a:ext cx="3264407" cy="2402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7E5508F9-9638-2F82-FCBC-3865798562AC}"/>
              </a:ext>
            </a:extLst>
          </p:cNvPr>
          <p:cNvGraphicFramePr/>
          <p:nvPr/>
        </p:nvGraphicFramePr>
        <p:xfrm>
          <a:off x="8438920" y="1106761"/>
          <a:ext cx="3132829" cy="239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CDEE331F-3694-6600-6B16-455D585D221A}"/>
              </a:ext>
            </a:extLst>
          </p:cNvPr>
          <p:cNvGraphicFramePr/>
          <p:nvPr/>
        </p:nvGraphicFramePr>
        <p:xfrm>
          <a:off x="4656096" y="4001286"/>
          <a:ext cx="3132829" cy="239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3F885567-C158-9DAC-DFB0-37246185B922}"/>
              </a:ext>
            </a:extLst>
          </p:cNvPr>
          <p:cNvGraphicFramePr/>
          <p:nvPr/>
        </p:nvGraphicFramePr>
        <p:xfrm>
          <a:off x="8438919" y="3997942"/>
          <a:ext cx="3132829" cy="240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6289A863-A987-E3A4-619D-D19818743C35}"/>
              </a:ext>
            </a:extLst>
          </p:cNvPr>
          <p:cNvGraphicFramePr/>
          <p:nvPr/>
        </p:nvGraphicFramePr>
        <p:xfrm>
          <a:off x="878620" y="4001286"/>
          <a:ext cx="3264405" cy="2402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589F66D-C016-3341-2E9C-CF0FD575FB1F}"/>
              </a:ext>
            </a:extLst>
          </p:cNvPr>
          <p:cNvSpPr>
            <a:spLocks/>
          </p:cNvSpPr>
          <p:nvPr/>
        </p:nvSpPr>
        <p:spPr>
          <a:xfrm>
            <a:off x="878620" y="4866295"/>
            <a:ext cx="2999317" cy="942690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35CA79-FE69-BE00-1D10-28E989BEDE8B}"/>
              </a:ext>
            </a:extLst>
          </p:cNvPr>
          <p:cNvSpPr>
            <a:spLocks/>
          </p:cNvSpPr>
          <p:nvPr/>
        </p:nvSpPr>
        <p:spPr>
          <a:xfrm>
            <a:off x="8438697" y="5389169"/>
            <a:ext cx="2874684" cy="471345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A277297-C7ED-22BC-9FA2-9B8B08836D3E}"/>
              </a:ext>
            </a:extLst>
          </p:cNvPr>
          <p:cNvSpPr/>
          <p:nvPr/>
        </p:nvSpPr>
        <p:spPr>
          <a:xfrm>
            <a:off x="2378278" y="3555103"/>
            <a:ext cx="286439" cy="408804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8BEF7C7-DF4A-3E93-8DB4-DD8C6E03ECD0}"/>
              </a:ext>
            </a:extLst>
          </p:cNvPr>
          <p:cNvSpPr/>
          <p:nvPr/>
        </p:nvSpPr>
        <p:spPr>
          <a:xfrm>
            <a:off x="6079290" y="3555103"/>
            <a:ext cx="286439" cy="408804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7D2A754-9CB9-7D78-2B81-8D1C94614C1A}"/>
              </a:ext>
            </a:extLst>
          </p:cNvPr>
          <p:cNvSpPr/>
          <p:nvPr/>
        </p:nvSpPr>
        <p:spPr>
          <a:xfrm>
            <a:off x="9862113" y="3555103"/>
            <a:ext cx="286439" cy="408804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79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25FE16-5A45-D9F8-DB4E-C46B75C85E77}"/>
              </a:ext>
            </a:extLst>
          </p:cNvPr>
          <p:cNvSpPr txBox="1"/>
          <p:nvPr/>
        </p:nvSpPr>
        <p:spPr>
          <a:xfrm>
            <a:off x="779468" y="6475511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Choreograph: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Audience Origin 2.x (BETA)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Description: Travelled abroad at least once in last 12 months OR Department Manager/VP and above OR Annual income 15 Lacs &amp; above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..career focused, at a life stage to get married and invest in high ticket item purchases</a:t>
            </a:r>
          </a:p>
        </p:txBody>
      </p:sp>
      <p:pic>
        <p:nvPicPr>
          <p:cNvPr id="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A3CBB3-703E-BFEB-6081-D2EDEEF89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026" y="-10434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7D4AF8E4-E898-ABFB-B933-83E2D1D34833}"/>
              </a:ext>
            </a:extLst>
          </p:cNvPr>
          <p:cNvGraphicFramePr/>
          <p:nvPr/>
        </p:nvGraphicFramePr>
        <p:xfrm>
          <a:off x="779468" y="1199794"/>
          <a:ext cx="5145561" cy="4663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4C4F1D3B-99A9-83E5-1524-3DB710D760A2}"/>
              </a:ext>
            </a:extLst>
          </p:cNvPr>
          <p:cNvGraphicFramePr/>
          <p:nvPr/>
        </p:nvGraphicFramePr>
        <p:xfrm>
          <a:off x="6332924" y="1184014"/>
          <a:ext cx="5145561" cy="4663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C7D9089-D47E-2C87-CC24-C85E3F1CE458}"/>
              </a:ext>
            </a:extLst>
          </p:cNvPr>
          <p:cNvSpPr>
            <a:spLocks/>
          </p:cNvSpPr>
          <p:nvPr/>
        </p:nvSpPr>
        <p:spPr>
          <a:xfrm>
            <a:off x="779468" y="2354888"/>
            <a:ext cx="10699017" cy="53940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D45B88-21A8-BB40-5E21-B9D859E1981E}"/>
              </a:ext>
            </a:extLst>
          </p:cNvPr>
          <p:cNvSpPr>
            <a:spLocks/>
          </p:cNvSpPr>
          <p:nvPr/>
        </p:nvSpPr>
        <p:spPr>
          <a:xfrm>
            <a:off x="779463" y="4683088"/>
            <a:ext cx="10699017" cy="783511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549580-EA7F-FE6A-FA21-5C7ABE3487CA}"/>
              </a:ext>
            </a:extLst>
          </p:cNvPr>
          <p:cNvSpPr>
            <a:spLocks/>
          </p:cNvSpPr>
          <p:nvPr/>
        </p:nvSpPr>
        <p:spPr>
          <a:xfrm>
            <a:off x="779462" y="3516317"/>
            <a:ext cx="10699017" cy="53940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79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BB1B21-1862-2424-7A0A-1470A92A4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26E5-02FB-21A2-7A8D-977C1C28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F50DA-BD1F-C6EF-1263-96C3C7827123}"/>
              </a:ext>
            </a:extLst>
          </p:cNvPr>
          <p:cNvSpPr/>
          <p:nvPr/>
        </p:nvSpPr>
        <p:spPr>
          <a:xfrm>
            <a:off x="785261" y="1946812"/>
            <a:ext cx="3047485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st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FBB84-3460-E666-6A94-961FDFBBFB82}"/>
              </a:ext>
            </a:extLst>
          </p:cNvPr>
          <p:cNvSpPr/>
          <p:nvPr/>
        </p:nvSpPr>
        <p:spPr>
          <a:xfrm>
            <a:off x="4288186" y="1946812"/>
            <a:ext cx="3620691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2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nd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0893B-0D3E-98F3-05EE-467210FDA11F}"/>
              </a:ext>
            </a:extLst>
          </p:cNvPr>
          <p:cNvSpPr/>
          <p:nvPr/>
        </p:nvSpPr>
        <p:spPr>
          <a:xfrm>
            <a:off x="8364317" y="1946812"/>
            <a:ext cx="3486944" cy="377726"/>
          </a:xfrm>
          <a:prstGeom prst="rect">
            <a:avLst/>
          </a:prstGeom>
          <a:solidFill>
            <a:srgbClr val="00B0F0">
              <a:alpha val="67059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</a:t>
            </a:r>
            <a:r>
              <a:rPr lang="en-US" sz="1200" baseline="300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rd</a:t>
            </a:r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 party 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1CB74-47CC-7086-7640-4A1A91E3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834" y="3613443"/>
            <a:ext cx="1132145" cy="450423"/>
          </a:xfrm>
          <a:prstGeom prst="rect">
            <a:avLst/>
          </a:prstGeom>
        </p:spPr>
      </p:pic>
      <p:pic>
        <p:nvPicPr>
          <p:cNvPr id="10" name="Picture 4" descr="Vivo Logo and symbol, meaning, history, PNG, brand">
            <a:extLst>
              <a:ext uri="{FF2B5EF4-FFF2-40B4-BE49-F238E27FC236}">
                <a16:creationId xmlns:a16="http://schemas.microsoft.com/office/drawing/2014/main" id="{A10B21D5-F1F1-7805-FCD9-47D9A564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61" y="2835060"/>
            <a:ext cx="1130626" cy="62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523F6D-63BA-B1B2-5CF6-5C0094750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21" y="3545556"/>
            <a:ext cx="779106" cy="856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51F28B-05E7-D758-E822-E6CF5993F46D}"/>
              </a:ext>
            </a:extLst>
          </p:cNvPr>
          <p:cNvSpPr txBox="1"/>
          <p:nvPr/>
        </p:nvSpPr>
        <p:spPr>
          <a:xfrm>
            <a:off x="2218491" y="3652965"/>
            <a:ext cx="1130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X</a:t>
            </a:r>
            <a:endParaRPr lang="en-US" sz="1600" b="1"/>
          </a:p>
        </p:txBody>
      </p:sp>
      <p:pic>
        <p:nvPicPr>
          <p:cNvPr id="14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994C3179-6DFE-7E5B-EB0D-CC6EACD3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644" y="2589715"/>
            <a:ext cx="128129" cy="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0945EE9-43B9-2742-3928-C6CACB7F2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84" y="3579842"/>
            <a:ext cx="1035936" cy="2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A56318-B0CE-4983-E66C-D92CDD97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204" y="3495897"/>
            <a:ext cx="1507974" cy="7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518688-AD57-05E4-FB4D-09938410DDE7}"/>
              </a:ext>
            </a:extLst>
          </p:cNvPr>
          <p:cNvSpPr/>
          <p:nvPr/>
        </p:nvSpPr>
        <p:spPr>
          <a:xfrm>
            <a:off x="4571184" y="3973855"/>
            <a:ext cx="1132145" cy="296078"/>
          </a:xfrm>
          <a:prstGeom prst="rect">
            <a:avLst/>
          </a:prstGeom>
          <a:solidFill>
            <a:schemeClr val="bg1">
              <a:lumMod val="85000"/>
              <a:alpha val="67059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Survey</a:t>
            </a:r>
            <a:endParaRPr lang="en-US" sz="120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123FB3-16F0-0CDA-719E-A30B2C048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1716" y="3576485"/>
            <a:ext cx="1265721" cy="3777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1069EA-C6AB-F41B-3CB3-3A42D8FA45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4655" y="3429000"/>
            <a:ext cx="1072930" cy="593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87E124-EAE9-666A-7336-5EFA8E4F82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507" y="4121894"/>
            <a:ext cx="1411859" cy="463029"/>
          </a:xfrm>
          <a:prstGeom prst="rect">
            <a:avLst/>
          </a:prstGeom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DA22EEE7-25A4-B2F6-7C66-742A93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07" y="37321"/>
            <a:ext cx="10765383" cy="1088701"/>
          </a:xfrm>
        </p:spPr>
        <p:txBody>
          <a:bodyPr/>
          <a:lstStyle/>
          <a:p>
            <a:r>
              <a:rPr lang="en-US" sz="2800"/>
              <a:t>Mining Audiences right for vivo Fold</a:t>
            </a:r>
            <a:endParaRPr lang="en-US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8AE43-181A-4BF0-3BB1-B3F7F02894AB}"/>
              </a:ext>
            </a:extLst>
          </p:cNvPr>
          <p:cNvSpPr/>
          <p:nvPr/>
        </p:nvSpPr>
        <p:spPr>
          <a:xfrm>
            <a:off x="0" y="1654684"/>
            <a:ext cx="8154498" cy="3425588"/>
          </a:xfrm>
          <a:prstGeom prst="rect">
            <a:avLst/>
          </a:prstGeom>
          <a:solidFill>
            <a:srgbClr val="D9D9D9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48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8715-78DF-C003-F451-7359E91C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4664-AC4B-11FC-8509-4E228FBB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79952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IN" sz="2800" b="1" i="0">
                <a:effectLst/>
                <a:latin typeface="+mj-lt"/>
              </a:rPr>
              <a:t>“Millennial</a:t>
            </a:r>
            <a:r>
              <a:rPr lang="en-IN" sz="2800" b="1">
                <a:latin typeface="+mj-lt"/>
              </a:rPr>
              <a:t>s” clearly define our core TG</a:t>
            </a:r>
            <a:br>
              <a:rPr lang="en-IN" sz="2800" b="1">
                <a:latin typeface="+mj-lt"/>
              </a:rPr>
            </a:br>
            <a:r>
              <a:rPr lang="en-IN" sz="2800" b="1">
                <a:latin typeface="+mj-lt"/>
              </a:rPr>
              <a:t>with Females contributing towards a substantial share</a:t>
            </a:r>
            <a:endParaRPr lang="en-US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6443A-248D-FEF9-6366-2A86AF4D4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855" y="23188"/>
            <a:ext cx="1132145" cy="337865"/>
          </a:xfrm>
          <a:prstGeom prst="rect">
            <a:avLst/>
          </a:prstGeom>
          <a:ln>
            <a:solidFill>
              <a:srgbClr val="A4EEEE">
                <a:alpha val="63922"/>
              </a:srgb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518BB6-A650-89BC-3E16-E692AD0AD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22" y="1970061"/>
            <a:ext cx="3337112" cy="705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0DDEB5-15D9-E06D-896A-8DF8B7B1A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002" y="1970061"/>
            <a:ext cx="3141300" cy="701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1CA635-1294-4AA5-56FB-5E580ADEF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037" y="1970061"/>
            <a:ext cx="3275329" cy="698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D57FAE5-9E06-E833-14A6-1CD7E80D6EC6}"/>
              </a:ext>
            </a:extLst>
          </p:cNvPr>
          <p:cNvSpPr txBox="1"/>
          <p:nvPr/>
        </p:nvSpPr>
        <p:spPr>
          <a:xfrm>
            <a:off x="779468" y="6062917"/>
            <a:ext cx="107759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Google Insights Finder, India, Sept-Nov  23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,: - Topic – OnePlus Open| Samsung Fold |  Samsung Galaxy Z5</a:t>
            </a:r>
          </a:p>
          <a:p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1EBAD8-1563-5AE3-0E71-7AE720735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394"/>
              </p:ext>
            </p:extLst>
          </p:nvPr>
        </p:nvGraphicFramePr>
        <p:xfrm>
          <a:off x="901419" y="2768577"/>
          <a:ext cx="3337112" cy="665480"/>
        </p:xfrm>
        <a:graphic>
          <a:graphicData uri="http://schemas.openxmlformats.org/drawingml/2006/table">
            <a:tbl>
              <a:tblPr/>
              <a:tblGrid>
                <a:gridCol w="834278">
                  <a:extLst>
                    <a:ext uri="{9D8B030D-6E8A-4147-A177-3AD203B41FA5}">
                      <a16:colId xmlns:a16="http://schemas.microsoft.com/office/drawing/2014/main" val="3145363480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3911541502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1023731934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2322529774"/>
                    </a:ext>
                  </a:extLst>
                </a:gridCol>
              </a:tblGrid>
              <a:tr h="52693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A0F0D"/>
                          </a:solidFill>
                          <a:effectLst/>
                          <a:latin typeface="Century Gothic" panose="020B0502020202020204" pitchFamily="34" charset="0"/>
                        </a:rPr>
                        <a:t>Samsung Galaxy Z5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837334"/>
                  </a:ext>
                </a:extLst>
              </a:tr>
              <a:tr h="10356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Gender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64622"/>
                  </a:ext>
                </a:extLst>
              </a:tr>
              <a:tr h="526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Male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868359"/>
                  </a:ext>
                </a:extLst>
              </a:tr>
              <a:tr h="526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0050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6495ECA-0924-D066-4344-29E95331A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52673"/>
              </p:ext>
            </p:extLst>
          </p:nvPr>
        </p:nvGraphicFramePr>
        <p:xfrm>
          <a:off x="4740000" y="2768577"/>
          <a:ext cx="3141300" cy="695960"/>
        </p:xfrm>
        <a:graphic>
          <a:graphicData uri="http://schemas.openxmlformats.org/drawingml/2006/table">
            <a:tbl>
              <a:tblPr/>
              <a:tblGrid>
                <a:gridCol w="785325">
                  <a:extLst>
                    <a:ext uri="{9D8B030D-6E8A-4147-A177-3AD203B41FA5}">
                      <a16:colId xmlns:a16="http://schemas.microsoft.com/office/drawing/2014/main" val="1420506476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2222138103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3542191469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2816595273"/>
                    </a:ext>
                  </a:extLst>
                </a:gridCol>
              </a:tblGrid>
              <a:tr h="85630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A0F0D"/>
                          </a:solidFill>
                          <a:effectLst/>
                          <a:latin typeface="Century Gothic" panose="020B0502020202020204" pitchFamily="34" charset="0"/>
                        </a:rPr>
                        <a:t>Samsung Fold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879525"/>
                  </a:ext>
                </a:extLst>
              </a:tr>
              <a:tr h="16830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Gender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95208"/>
                  </a:ext>
                </a:extLst>
              </a:tr>
              <a:tr h="8563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Male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511916"/>
                  </a:ext>
                </a:extLst>
              </a:tr>
              <a:tr h="8563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5704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49A768E-BDB8-65C7-95EB-FCF50F5E8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170623"/>
              </p:ext>
            </p:extLst>
          </p:nvPr>
        </p:nvGraphicFramePr>
        <p:xfrm>
          <a:off x="8346034" y="2768577"/>
          <a:ext cx="3275328" cy="695960"/>
        </p:xfrm>
        <a:graphic>
          <a:graphicData uri="http://schemas.openxmlformats.org/drawingml/2006/table">
            <a:tbl>
              <a:tblPr/>
              <a:tblGrid>
                <a:gridCol w="818832">
                  <a:extLst>
                    <a:ext uri="{9D8B030D-6E8A-4147-A177-3AD203B41FA5}">
                      <a16:colId xmlns:a16="http://schemas.microsoft.com/office/drawing/2014/main" val="1393140761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3784168923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745510542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2534281643"/>
                    </a:ext>
                  </a:extLst>
                </a:gridCol>
              </a:tblGrid>
              <a:tr h="80925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A0F0D"/>
                          </a:solidFill>
                          <a:effectLst/>
                          <a:latin typeface="Century Gothic" panose="020B0502020202020204" pitchFamily="34" charset="0"/>
                        </a:rPr>
                        <a:t>OnePlus Open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81813"/>
                  </a:ext>
                </a:extLst>
              </a:tr>
              <a:tr h="1590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Gender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56667"/>
                  </a:ext>
                </a:extLst>
              </a:tr>
              <a:tr h="809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Male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600816"/>
                  </a:ext>
                </a:extLst>
              </a:tr>
              <a:tr h="809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94787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2E80B18-79B2-C186-0F52-96A0FF176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0311"/>
              </p:ext>
            </p:extLst>
          </p:nvPr>
        </p:nvGraphicFramePr>
        <p:xfrm>
          <a:off x="901418" y="3557575"/>
          <a:ext cx="3337112" cy="1043940"/>
        </p:xfrm>
        <a:graphic>
          <a:graphicData uri="http://schemas.openxmlformats.org/drawingml/2006/table">
            <a:tbl>
              <a:tblPr/>
              <a:tblGrid>
                <a:gridCol w="834278">
                  <a:extLst>
                    <a:ext uri="{9D8B030D-6E8A-4147-A177-3AD203B41FA5}">
                      <a16:colId xmlns:a16="http://schemas.microsoft.com/office/drawing/2014/main" val="3895450357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3070819695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3468207453"/>
                    </a:ext>
                  </a:extLst>
                </a:gridCol>
                <a:gridCol w="834278">
                  <a:extLst>
                    <a:ext uri="{9D8B030D-6E8A-4147-A177-3AD203B41FA5}">
                      <a16:colId xmlns:a16="http://schemas.microsoft.com/office/drawing/2014/main" val="3699934288"/>
                    </a:ext>
                  </a:extLst>
                </a:gridCol>
              </a:tblGrid>
              <a:tr h="134505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A0F0D"/>
                          </a:solidFill>
                          <a:effectLst/>
                          <a:latin typeface="Century Gothic" panose="020B0502020202020204" pitchFamily="34" charset="0"/>
                        </a:rPr>
                        <a:t>Samsung Galaxy Z5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98575"/>
                  </a:ext>
                </a:extLst>
              </a:tr>
              <a:tr h="165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738907"/>
                  </a:ext>
                </a:extLst>
              </a:tr>
              <a:tr h="1345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D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97230"/>
                  </a:ext>
                </a:extLst>
              </a:tr>
              <a:tr h="1345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8596808"/>
                  </a:ext>
                </a:extLst>
              </a:tr>
              <a:tr h="1345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35-44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825868"/>
                  </a:ext>
                </a:extLst>
              </a:tr>
              <a:tr h="13450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0252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08B5A8E-34EC-E135-583B-47056C13C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40258"/>
              </p:ext>
            </p:extLst>
          </p:nvPr>
        </p:nvGraphicFramePr>
        <p:xfrm>
          <a:off x="4740000" y="3553824"/>
          <a:ext cx="3141300" cy="1043940"/>
        </p:xfrm>
        <a:graphic>
          <a:graphicData uri="http://schemas.openxmlformats.org/drawingml/2006/table">
            <a:tbl>
              <a:tblPr/>
              <a:tblGrid>
                <a:gridCol w="785325">
                  <a:extLst>
                    <a:ext uri="{9D8B030D-6E8A-4147-A177-3AD203B41FA5}">
                      <a16:colId xmlns:a16="http://schemas.microsoft.com/office/drawing/2014/main" val="4228457442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338858248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2131746508"/>
                    </a:ext>
                  </a:extLst>
                </a:gridCol>
                <a:gridCol w="785325">
                  <a:extLst>
                    <a:ext uri="{9D8B030D-6E8A-4147-A177-3AD203B41FA5}">
                      <a16:colId xmlns:a16="http://schemas.microsoft.com/office/drawing/2014/main" val="1804777449"/>
                    </a:ext>
                  </a:extLst>
                </a:gridCol>
              </a:tblGrid>
              <a:tr h="8456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Samsung Fold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86680"/>
                  </a:ext>
                </a:extLst>
              </a:tr>
              <a:tr h="9544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319336"/>
                  </a:ext>
                </a:extLst>
              </a:tr>
              <a:tr h="8456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B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393251"/>
                  </a:ext>
                </a:extLst>
              </a:tr>
              <a:tr h="8456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115738"/>
                  </a:ext>
                </a:extLst>
              </a:tr>
              <a:tr h="8456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35-44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178254"/>
                  </a:ext>
                </a:extLst>
              </a:tr>
              <a:tr h="8456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9220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717B3FA-F698-B055-C2A5-4CFEE6C08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31547"/>
              </p:ext>
            </p:extLst>
          </p:nvPr>
        </p:nvGraphicFramePr>
        <p:xfrm>
          <a:off x="8346034" y="3553824"/>
          <a:ext cx="3275328" cy="1043940"/>
        </p:xfrm>
        <a:graphic>
          <a:graphicData uri="http://schemas.openxmlformats.org/drawingml/2006/table">
            <a:tbl>
              <a:tblPr/>
              <a:tblGrid>
                <a:gridCol w="818832">
                  <a:extLst>
                    <a:ext uri="{9D8B030D-6E8A-4147-A177-3AD203B41FA5}">
                      <a16:colId xmlns:a16="http://schemas.microsoft.com/office/drawing/2014/main" val="696023683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3414139893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4153749438"/>
                    </a:ext>
                  </a:extLst>
                </a:gridCol>
                <a:gridCol w="818832">
                  <a:extLst>
                    <a:ext uri="{9D8B030D-6E8A-4147-A177-3AD203B41FA5}">
                      <a16:colId xmlns:a16="http://schemas.microsoft.com/office/drawing/2014/main" val="3553172062"/>
                    </a:ext>
                  </a:extLst>
                </a:gridCol>
              </a:tblGrid>
              <a:tr h="127352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A0F0D"/>
                          </a:solidFill>
                          <a:effectLst/>
                          <a:latin typeface="Century Gothic" panose="020B0502020202020204" pitchFamily="34" charset="0"/>
                        </a:rPr>
                        <a:t>OnePlus Open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82403"/>
                  </a:ext>
                </a:extLst>
              </a:tr>
              <a:tr h="1273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Index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Relevance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61967"/>
                  </a:ext>
                </a:extLst>
              </a:tr>
              <a:tr h="1273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791819"/>
                  </a:ext>
                </a:extLst>
              </a:tr>
              <a:tr h="1273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C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183179"/>
                  </a:ext>
                </a:extLst>
              </a:tr>
              <a:tr h="1273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35-44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8D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870137"/>
                  </a:ext>
                </a:extLst>
              </a:tr>
              <a:tr h="1273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45-54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755213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C858A0CC-8C42-28DF-9594-3C91C2CCD93D}"/>
              </a:ext>
            </a:extLst>
          </p:cNvPr>
          <p:cNvSpPr>
            <a:spLocks/>
          </p:cNvSpPr>
          <p:nvPr/>
        </p:nvSpPr>
        <p:spPr>
          <a:xfrm>
            <a:off x="779468" y="1892085"/>
            <a:ext cx="10935941" cy="2768443"/>
          </a:xfrm>
          <a:prstGeom prst="rect">
            <a:avLst/>
          </a:prstGeom>
          <a:solidFill>
            <a:schemeClr val="bg1">
              <a:alpha val="3000"/>
            </a:schemeClr>
          </a:solidFill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AA8CBF-3DC7-6324-14D5-0FF958208CAB}"/>
              </a:ext>
            </a:extLst>
          </p:cNvPr>
          <p:cNvSpPr/>
          <p:nvPr/>
        </p:nvSpPr>
        <p:spPr>
          <a:xfrm>
            <a:off x="5568508" y="838584"/>
            <a:ext cx="1197864" cy="2546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Insights Finder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542BEB-D38E-332E-AEFA-BBE14C62F2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6873" y="332918"/>
            <a:ext cx="835127" cy="46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9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25FE16-5A45-D9F8-DB4E-C46B75C85E77}"/>
              </a:ext>
            </a:extLst>
          </p:cNvPr>
          <p:cNvSpPr txBox="1"/>
          <p:nvPr/>
        </p:nvSpPr>
        <p:spPr>
          <a:xfrm>
            <a:off x="779468" y="5788597"/>
            <a:ext cx="10775945" cy="10618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GWI, Wave Q1 2023 – Q4 2023: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Question: </a:t>
            </a:r>
            <a:r>
              <a:rPr lang="en-US" sz="900" i="1">
                <a:solidFill>
                  <a:srgbClr val="191C1C"/>
                </a:solidFill>
                <a:latin typeface="Century Gothic"/>
                <a:sym typeface="Century Gothic"/>
              </a:rPr>
              <a:t>Which of these products have you or your household purchased in the last 3-6 months? Which of these items did you purchase online? Which of these items are you / your household thinking about purchasing in the next 3-6 months?</a:t>
            </a:r>
          </a:p>
          <a:p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Question</a:t>
            </a:r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:</a:t>
            </a:r>
            <a:r>
              <a:rPr lang="en-US" sz="900" i="1">
                <a:solidFill>
                  <a:srgbClr val="191C1C"/>
                </a:solidFill>
                <a:latin typeface="Century Gothic"/>
                <a:sym typeface="Century Gothic"/>
              </a:rPr>
              <a:t> In the last week, which of these have you watched, listened to, or done online?</a:t>
            </a:r>
          </a:p>
          <a:p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vivo X Series - Travelled abroad at least once in last 12 months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Department Manager/VP and above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Annual income 15 Lacs &amp; above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Samsung Z Fold: Owns/used to own Samsung Galaxy Z Fold 4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Our TG is invested in emerging tech &amp; high-ticket items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2B2C2A-C2E2-3FE8-0FF3-491035A879C2}"/>
              </a:ext>
            </a:extLst>
          </p:cNvPr>
          <p:cNvSpPr/>
          <p:nvPr/>
        </p:nvSpPr>
        <p:spPr>
          <a:xfrm>
            <a:off x="2947765" y="1441309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19E62F1-8299-A56B-63F4-F2ED3F93ED1E}"/>
              </a:ext>
            </a:extLst>
          </p:cNvPr>
          <p:cNvSpPr/>
          <p:nvPr/>
        </p:nvSpPr>
        <p:spPr>
          <a:xfrm>
            <a:off x="4034124" y="1441309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BE914A-BEC6-7710-9532-17B0F513FD69}"/>
              </a:ext>
            </a:extLst>
          </p:cNvPr>
          <p:cNvSpPr/>
          <p:nvPr/>
        </p:nvSpPr>
        <p:spPr>
          <a:xfrm>
            <a:off x="4782155" y="1441308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5DE6AA-D1DD-8D56-9D29-76D2EEFAAB0D}"/>
              </a:ext>
            </a:extLst>
          </p:cNvPr>
          <p:cNvSpPr/>
          <p:nvPr/>
        </p:nvSpPr>
        <p:spPr>
          <a:xfrm>
            <a:off x="6969260" y="1441307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D05B05-713B-5E4A-264B-1C8E217BE685}"/>
              </a:ext>
            </a:extLst>
          </p:cNvPr>
          <p:cNvSpPr/>
          <p:nvPr/>
        </p:nvSpPr>
        <p:spPr>
          <a:xfrm>
            <a:off x="8440678" y="1441307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81FD2F-051B-ACDD-5603-EFA53EB5529E}"/>
              </a:ext>
            </a:extLst>
          </p:cNvPr>
          <p:cNvSpPr/>
          <p:nvPr/>
        </p:nvSpPr>
        <p:spPr>
          <a:xfrm>
            <a:off x="9886751" y="1441305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47071CD-4C00-E822-9054-7A0870B6DCBD}"/>
              </a:ext>
            </a:extLst>
          </p:cNvPr>
          <p:cNvSpPr/>
          <p:nvPr/>
        </p:nvSpPr>
        <p:spPr>
          <a:xfrm>
            <a:off x="10610088" y="1441306"/>
            <a:ext cx="354650" cy="2344518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DCC66B-4678-AD33-C881-8DD053EF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73" y="0"/>
            <a:ext cx="835127" cy="461743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730FC01-E04C-3F6C-45C2-89D08BCE4C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613312"/>
              </p:ext>
            </p:extLst>
          </p:nvPr>
        </p:nvGraphicFramePr>
        <p:xfrm>
          <a:off x="779878" y="1233889"/>
          <a:ext cx="10632244" cy="4249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03261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25FE16-5A45-D9F8-DB4E-C46B75C85E77}"/>
              </a:ext>
            </a:extLst>
          </p:cNvPr>
          <p:cNvSpPr txBox="1"/>
          <p:nvPr/>
        </p:nvSpPr>
        <p:spPr>
          <a:xfrm>
            <a:off x="779468" y="5788597"/>
            <a:ext cx="10775945" cy="10618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GWI, Wave Q1 2023 – Q4 2023: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Question: </a:t>
            </a:r>
            <a:r>
              <a:rPr lang="en-US" sz="900" i="1">
                <a:solidFill>
                  <a:srgbClr val="191C1C"/>
                </a:solidFill>
                <a:latin typeface="Century Gothic"/>
                <a:sym typeface="Century Gothic"/>
              </a:rPr>
              <a:t>Which of these products have you or your household purchased in the last 3-6 months? Which of these items did you purchase online? Which of these items are you / your household thinking about purchasing in the next 3-6 months?</a:t>
            </a:r>
          </a:p>
          <a:p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Question</a:t>
            </a:r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:</a:t>
            </a:r>
            <a:r>
              <a:rPr lang="en-US" sz="900" i="1">
                <a:solidFill>
                  <a:srgbClr val="191C1C"/>
                </a:solidFill>
                <a:latin typeface="Century Gothic"/>
                <a:sym typeface="Century Gothic"/>
              </a:rPr>
              <a:t> In the last week, which of these have you watched, listened to, or done online?</a:t>
            </a:r>
          </a:p>
          <a:p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vivo X Series - Travelled abroad at least once in last 12 months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Department Manager/VP and above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Annual income 15 Lacs &amp; above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Samsung Z Fold: Owns/used to own Samsung Galaxy Z Fold 4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is tech friendly, with higher use of voice assistant tech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DCC66B-4678-AD33-C881-8DD053EF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73" y="0"/>
            <a:ext cx="835127" cy="461743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F127C69-F01B-3EA2-D647-4ADE1158DF1C}"/>
              </a:ext>
            </a:extLst>
          </p:cNvPr>
          <p:cNvSpPr/>
          <p:nvPr/>
        </p:nvSpPr>
        <p:spPr>
          <a:xfrm>
            <a:off x="2947350" y="1574025"/>
            <a:ext cx="354650" cy="2269490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F911274-B4BF-8EDC-8E24-2929E341CD07}"/>
              </a:ext>
            </a:extLst>
          </p:cNvPr>
          <p:cNvSpPr/>
          <p:nvPr/>
        </p:nvSpPr>
        <p:spPr>
          <a:xfrm>
            <a:off x="5142676" y="1574025"/>
            <a:ext cx="354650" cy="2269490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B7710D2-4E68-4287-DD26-8D71F6D85702}"/>
              </a:ext>
            </a:extLst>
          </p:cNvPr>
          <p:cNvSpPr/>
          <p:nvPr/>
        </p:nvSpPr>
        <p:spPr>
          <a:xfrm>
            <a:off x="6178365" y="1574025"/>
            <a:ext cx="790479" cy="2269490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E38D288-10D3-0E9F-8D6C-20182759E57F}"/>
              </a:ext>
            </a:extLst>
          </p:cNvPr>
          <p:cNvSpPr/>
          <p:nvPr/>
        </p:nvSpPr>
        <p:spPr>
          <a:xfrm>
            <a:off x="8440263" y="1574025"/>
            <a:ext cx="354650" cy="2269490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C3C3A34-F392-3729-11E6-DFFF45A34D6E}"/>
              </a:ext>
            </a:extLst>
          </p:cNvPr>
          <p:cNvSpPr/>
          <p:nvPr/>
        </p:nvSpPr>
        <p:spPr>
          <a:xfrm>
            <a:off x="10237339" y="1574025"/>
            <a:ext cx="354650" cy="2269490"/>
          </a:xfrm>
          <a:prstGeom prst="roundRect">
            <a:avLst/>
          </a:prstGeom>
          <a:solidFill>
            <a:schemeClr val="accent5">
              <a:alpha val="20000"/>
            </a:schemeClr>
          </a:solidFill>
          <a:ln w="6350">
            <a:solidFill>
              <a:schemeClr val="accent5">
                <a:alpha val="67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endParaRPr lang="en-US" sz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72C7B78-3487-930C-7E02-E1B348EB5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378929"/>
              </p:ext>
            </p:extLst>
          </p:nvPr>
        </p:nvGraphicFramePr>
        <p:xfrm>
          <a:off x="779468" y="1368425"/>
          <a:ext cx="10632244" cy="4113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5563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Addressing the requirements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DCC66B-4678-AD33-C881-8DD053EF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73" y="0"/>
            <a:ext cx="835127" cy="461743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F4FC0D-FC3F-2D69-6D2C-772BCE96D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160238"/>
              </p:ext>
            </p:extLst>
          </p:nvPr>
        </p:nvGraphicFramePr>
        <p:xfrm>
          <a:off x="779463" y="987424"/>
          <a:ext cx="6027737" cy="5181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E240A6-A783-C03F-5422-E63575372427}"/>
              </a:ext>
            </a:extLst>
          </p:cNvPr>
          <p:cNvSpPr txBox="1"/>
          <p:nvPr/>
        </p:nvSpPr>
        <p:spPr>
          <a:xfrm>
            <a:off x="779468" y="6201191"/>
            <a:ext cx="107759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GWI, Wave Q1 2023 – Q4 2023: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vivo X Series - Travelled abroad at least once in last 12 months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Department Manager/VP and above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Annual income 15 Lacs &amp; above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Samsung Z Fold: Owns/used to own Samsung Galaxy Z Fold 4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5C693-8142-40A2-6A81-68A7D4B654D7}"/>
              </a:ext>
            </a:extLst>
          </p:cNvPr>
          <p:cNvSpPr/>
          <p:nvPr/>
        </p:nvSpPr>
        <p:spPr>
          <a:xfrm>
            <a:off x="7507223" y="987424"/>
            <a:ext cx="4197047" cy="520005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b="1">
                <a:solidFill>
                  <a:schemeClr val="bg1"/>
                </a:solidFill>
              </a:rPr>
              <a:t>vivo X Series TG &amp; Samsung Z Fold users are Open minded and majority share can be defined as: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endParaRPr lang="en-US" b="1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Open to try new things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Influenced by Ads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Likes to take risks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Prefer Premium Products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Opinion Leaders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Like being represented by community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Affluent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Values being successful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Comfortable with data sharing policies</a:t>
            </a:r>
          </a:p>
        </p:txBody>
      </p:sp>
    </p:spTree>
    <p:extLst>
      <p:ext uri="{BB962C8B-B14F-4D97-AF65-F5344CB8AC3E}">
        <p14:creationId xmlns:p14="http://schemas.microsoft.com/office/powerpoint/2010/main" val="119124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E262-D987-5030-2732-20CDC3DF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37" y="112475"/>
            <a:ext cx="10943519" cy="542149"/>
          </a:xfrm>
          <a:noFill/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191C1C"/>
                </a:solidFill>
                <a:latin typeface="Century Gothic"/>
                <a:sym typeface="Century Gothic"/>
              </a:rPr>
              <a:t>Key TG takeaways &amp; recommendations for vivo X Fold3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5F37F-57BB-61B8-A18A-2D1CEB2D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261" y="6362298"/>
            <a:ext cx="494264" cy="374669"/>
          </a:xfrm>
        </p:spPr>
        <p:txBody>
          <a:bodyPr/>
          <a:lstStyle/>
          <a:p>
            <a:fld id="{41E71DB5-5680-5541-BB1B-1B8E18C31C82}" type="slidenum">
              <a:rPr lang="en-GB" smtClean="0">
                <a:latin typeface="+mj-lt"/>
              </a:rPr>
              <a:pPr/>
              <a:t>22</a:t>
            </a:fld>
            <a:endParaRPr lang="en-GB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4C132-E61B-98C3-A1AD-DD5C81136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026" y="794383"/>
            <a:ext cx="1324492" cy="395267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6D63D3-B38F-3188-ACB4-788D6CD2783C}"/>
              </a:ext>
            </a:extLst>
          </p:cNvPr>
          <p:cNvSpPr/>
          <p:nvPr/>
        </p:nvSpPr>
        <p:spPr>
          <a:xfrm>
            <a:off x="3769599" y="731882"/>
            <a:ext cx="1384847" cy="4577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Physiographic understanding </a:t>
            </a:r>
            <a:endParaRPr lang="en-US" sz="105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4B9F5-CCD3-56BA-4398-AE96B250F804}"/>
              </a:ext>
            </a:extLst>
          </p:cNvPr>
          <p:cNvSpPr/>
          <p:nvPr/>
        </p:nvSpPr>
        <p:spPr>
          <a:xfrm>
            <a:off x="276566" y="754922"/>
            <a:ext cx="1497570" cy="44978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Demo &amp; Audience understanding, </a:t>
            </a:r>
            <a:r>
              <a:rPr lang="en-US" sz="1050">
                <a:solidFill>
                  <a:schemeClr val="tx1"/>
                </a:solidFill>
                <a:latin typeface="+mj-lt"/>
              </a:rPr>
              <a:t>Interests &amp; Behaviors</a:t>
            </a:r>
            <a:endParaRPr lang="en-US" sz="105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8E234A-A368-510D-A574-70B017C1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04" y="771975"/>
            <a:ext cx="835127" cy="461743"/>
          </a:xfrm>
          <a:prstGeom prst="rect">
            <a:avLst/>
          </a:prstGeom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E187722-263C-E10A-ECEA-D057E348C185}"/>
              </a:ext>
            </a:extLst>
          </p:cNvPr>
          <p:cNvSpPr/>
          <p:nvPr/>
        </p:nvSpPr>
        <p:spPr>
          <a:xfrm>
            <a:off x="276566" y="4438151"/>
            <a:ext cx="11638868" cy="457769"/>
          </a:xfrm>
          <a:prstGeom prst="rect">
            <a:avLst/>
          </a:prstGeom>
          <a:solidFill>
            <a:srgbClr val="00B0F0">
              <a:alpha val="54902"/>
            </a:srgbClr>
          </a:solidFill>
          <a:ln w="19050">
            <a:solidFill>
              <a:srgbClr val="00B0F0">
                <a:alpha val="4313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Key Takeaways and Recommendations For X Fold3</a:t>
            </a:r>
            <a:endParaRPr lang="en-US" sz="1200" b="1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BE96D-37E0-0BCA-6E3B-8FF66C77E437}"/>
              </a:ext>
            </a:extLst>
          </p:cNvPr>
          <p:cNvSpPr/>
          <p:nvPr/>
        </p:nvSpPr>
        <p:spPr>
          <a:xfrm>
            <a:off x="276565" y="4966902"/>
            <a:ext cx="7420957" cy="4155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Demo, Interests, Affinities</a:t>
            </a:r>
            <a:endParaRPr lang="en-US" sz="120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2F9E24-17A6-4EEB-812B-2510C5CAA418}"/>
              </a:ext>
            </a:extLst>
          </p:cNvPr>
          <p:cNvSpPr/>
          <p:nvPr/>
        </p:nvSpPr>
        <p:spPr>
          <a:xfrm>
            <a:off x="276566" y="1446868"/>
            <a:ext cx="3171173" cy="27811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Demo</a:t>
            </a:r>
            <a:b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30-54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 YOA, Consistent 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Male 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Dominance, &amp; Higher Female Engagement</a:t>
            </a:r>
            <a:b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</a:br>
            <a:endParaRPr lang="en-US" sz="105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In Market</a:t>
            </a:r>
            <a:b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1050" b="1" u="sng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Gaming Peripherals &amp; Accessories,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 Primary &amp; Secondary Schools (K-12), </a:t>
            </a:r>
            <a:r>
              <a:rPr lang="en-US" sz="1050" b="1" u="sng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SUVs (New)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en-US" sz="1050" b="1" u="sng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, Luxury Vehicles,</a:t>
            </a:r>
            <a:b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</a:br>
            <a:endParaRPr lang="en-US" sz="1050" b="1">
              <a:solidFill>
                <a:schemeClr val="accent1"/>
              </a:solidFill>
              <a:latin typeface="+mj-lt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Affinity</a:t>
            </a:r>
            <a:b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1050" b="1" u="sng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Shopping Enthusiasts, Performance &amp; Luxury Vehicle Enthusiasts, Motor Sports Enthusiasts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,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422A38-60FB-4580-85FA-560BB9F8A03F}"/>
              </a:ext>
            </a:extLst>
          </p:cNvPr>
          <p:cNvSpPr/>
          <p:nvPr/>
        </p:nvSpPr>
        <p:spPr>
          <a:xfrm>
            <a:off x="3753190" y="1440668"/>
            <a:ext cx="3944332" cy="27811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latin typeface="+mj-lt"/>
                <a:cs typeface="Calibri"/>
              </a:rPr>
              <a:t>Top Attributes - </a:t>
            </a:r>
            <a:br>
              <a:rPr lang="en-US" sz="1050">
                <a:solidFill>
                  <a:schemeClr val="tx1"/>
                </a:solidFill>
                <a:latin typeface="+mj-lt"/>
                <a:cs typeface="Calibri"/>
              </a:rPr>
            </a:br>
            <a:endParaRPr lang="en-US" sz="1050">
              <a:latin typeface="+mj-lt"/>
            </a:endParaRP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Open to try new things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Influenced by Ads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Likes to take risks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Prefer Premium Products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Opinion Leaders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Like being represented by community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Affluent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1">
                <a:solidFill>
                  <a:schemeClr val="accent1"/>
                </a:solidFill>
              </a:rPr>
              <a:t>Values being successful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b="1" u="sng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F4147-8A05-4B3D-ACA8-DC8DB7BE6CEA}"/>
              </a:ext>
            </a:extLst>
          </p:cNvPr>
          <p:cNvSpPr/>
          <p:nvPr/>
        </p:nvSpPr>
        <p:spPr>
          <a:xfrm>
            <a:off x="7971103" y="1434687"/>
            <a:ext cx="3944332" cy="278117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Demo 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-</a:t>
            </a:r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Millennials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College graduates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 Similar </a:t>
            </a:r>
            <a:r>
              <a:rPr lang="en-US" sz="1050" b="1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Male &amp; Female</a:t>
            </a:r>
            <a:r>
              <a:rPr lang="en-US" sz="1050">
                <a:solidFill>
                  <a:schemeClr val="accent1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split.</a:t>
            </a:r>
          </a:p>
          <a:p>
            <a:endParaRPr lang="en-US" sz="105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  <a:p>
            <a:r>
              <a:rPr lang="en-US" sz="105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Key Traits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 b="0" cap="none" spc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International Travel Enthusiasts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 Disposable income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Luxury Cars &amp; Watches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Senior level Job Designation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APPLE devices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Professional – Enterprise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05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Affinity towards Motor Vehicles</a:t>
            </a:r>
            <a:endParaRPr lang="en-US" sz="1050">
              <a:solidFill>
                <a:schemeClr val="accent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9B73B-1933-4A79-8205-A94484F1308D}"/>
              </a:ext>
            </a:extLst>
          </p:cNvPr>
          <p:cNvSpPr/>
          <p:nvPr/>
        </p:nvSpPr>
        <p:spPr>
          <a:xfrm>
            <a:off x="268471" y="5481638"/>
            <a:ext cx="7420958" cy="12697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cs typeface="Calibri"/>
              </a:rPr>
              <a:t>Demo – 30- 54</a:t>
            </a:r>
            <a:endParaRPr lang="en-US" sz="100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CORE TG: </a:t>
            </a:r>
            <a:r>
              <a:rPr lang="en-US" sz="10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Gaming Peripherals &amp; Accessories, Mobile Phones, Primary &amp; Secondary Schools (K-12), SUVs (New), Luxury Vehicles, Luxury Travelers, Shopping Enthusiasts, Performance &amp; Luxury Vehicle Enthusiasts, Motor Sports Enthusiasts, Snowbound Travelers, International Travelers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COVER TG: </a:t>
            </a:r>
            <a:r>
              <a:rPr lang="en-US" sz="10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Mobile Phones, Mobile Enthusiasts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HHI Targeting</a:t>
            </a:r>
            <a:r>
              <a:rPr lang="en-US" sz="10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 – Top 30%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2C9F68-8257-0B42-B23D-BA8934A790E1}"/>
              </a:ext>
            </a:extLst>
          </p:cNvPr>
          <p:cNvSpPr/>
          <p:nvPr/>
        </p:nvSpPr>
        <p:spPr>
          <a:xfrm>
            <a:off x="3769600" y="731881"/>
            <a:ext cx="3930480" cy="4577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C84575-1BA5-47FD-1034-BC04EF5996F9}"/>
              </a:ext>
            </a:extLst>
          </p:cNvPr>
          <p:cNvSpPr/>
          <p:nvPr/>
        </p:nvSpPr>
        <p:spPr>
          <a:xfrm>
            <a:off x="276566" y="754922"/>
            <a:ext cx="3171172" cy="4577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86FAF-FD19-B3CF-D36A-32A839ED4782}"/>
              </a:ext>
            </a:extLst>
          </p:cNvPr>
          <p:cNvSpPr/>
          <p:nvPr/>
        </p:nvSpPr>
        <p:spPr>
          <a:xfrm>
            <a:off x="7971102" y="742388"/>
            <a:ext cx="3944332" cy="4577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C23D8-3979-BBF3-608E-ACA56CA613E8}"/>
              </a:ext>
            </a:extLst>
          </p:cNvPr>
          <p:cNvSpPr/>
          <p:nvPr/>
        </p:nvSpPr>
        <p:spPr>
          <a:xfrm>
            <a:off x="7975332" y="743631"/>
            <a:ext cx="1702248" cy="45776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Audience understanding </a:t>
            </a:r>
            <a:b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105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1PD vs. 3P DMP overlap</a:t>
            </a:r>
            <a:endParaRPr lang="en-US" sz="105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B3CFF4-AFB9-D01C-2F0A-443F8DB64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230" y="834579"/>
            <a:ext cx="779703" cy="310204"/>
          </a:xfrm>
          <a:prstGeom prst="rect">
            <a:avLst/>
          </a:prstGeom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534F780-0660-6A15-0797-7D4F826D3F55}"/>
              </a:ext>
            </a:extLst>
          </p:cNvPr>
          <p:cNvSpPr/>
          <p:nvPr/>
        </p:nvSpPr>
        <p:spPr>
          <a:xfrm>
            <a:off x="7986515" y="4960992"/>
            <a:ext cx="3928920" cy="4155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Geography</a:t>
            </a:r>
            <a:endParaRPr lang="en-US" sz="120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3E0E88-DA01-994E-FA46-BC060A0B3CD6}"/>
              </a:ext>
            </a:extLst>
          </p:cNvPr>
          <p:cNvSpPr/>
          <p:nvPr/>
        </p:nvSpPr>
        <p:spPr>
          <a:xfrm>
            <a:off x="7971102" y="5475728"/>
            <a:ext cx="3916156" cy="12697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CORE TG: Explained in below slides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COVER TG: PAN INDIA</a:t>
            </a:r>
          </a:p>
        </p:txBody>
      </p:sp>
      <p:pic>
        <p:nvPicPr>
          <p:cNvPr id="2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8D387BC7-2AC9-81EC-0DBD-8F0CDC89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238" y="685662"/>
            <a:ext cx="1088779" cy="54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As Data Landscape Transforms, Eyeota's Approach to Identity and First-Party  Data Onboarding Deepens Its Global Impact">
            <a:extLst>
              <a:ext uri="{FF2B5EF4-FFF2-40B4-BE49-F238E27FC236}">
                <a16:creationId xmlns:a16="http://schemas.microsoft.com/office/drawing/2014/main" id="{9EB6A6A8-E53B-AFB9-628E-968A11846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579" y="762881"/>
            <a:ext cx="656526" cy="19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F517D568-F12E-DC62-21EA-D59C4DC1C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329" y="975806"/>
            <a:ext cx="669475" cy="2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2" name="Picture 6">
            <a:extLst>
              <a:ext uri="{FF2B5EF4-FFF2-40B4-BE49-F238E27FC236}">
                <a16:creationId xmlns:a16="http://schemas.microsoft.com/office/drawing/2014/main" id="{13656D29-FA3F-662B-69CD-01F044F48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355" y="807103"/>
            <a:ext cx="605176" cy="12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4" name="Picture 8">
            <a:extLst>
              <a:ext uri="{FF2B5EF4-FFF2-40B4-BE49-F238E27FC236}">
                <a16:creationId xmlns:a16="http://schemas.microsoft.com/office/drawing/2014/main" id="{3CF5417C-C2CA-B1F2-8806-2C82DB06A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919" y="1039198"/>
            <a:ext cx="605176" cy="10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227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 Media Consumption &amp; Behaviour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10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91906560-11F2-C3D4-684B-01CF6186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Our Core TG is highly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sym typeface="Century Gothic"/>
              </a:rPr>
              <a:t>Digitally Active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, but they also spend a fair share of time on TV and Print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EF70B3-F51C-9B99-2BCD-B87346633537}"/>
              </a:ext>
            </a:extLst>
          </p:cNvPr>
          <p:cNvSpPr/>
          <p:nvPr/>
        </p:nvSpPr>
        <p:spPr>
          <a:xfrm>
            <a:off x="4814024" y="1859429"/>
            <a:ext cx="2651760" cy="265176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AF96CE-A288-B210-A937-031837461E61}"/>
              </a:ext>
            </a:extLst>
          </p:cNvPr>
          <p:cNvSpPr/>
          <p:nvPr/>
        </p:nvSpPr>
        <p:spPr>
          <a:xfrm>
            <a:off x="5865583" y="1794572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454E7D-CA82-6048-071E-361A33DD6EAE}"/>
              </a:ext>
            </a:extLst>
          </p:cNvPr>
          <p:cNvSpPr/>
          <p:nvPr/>
        </p:nvSpPr>
        <p:spPr>
          <a:xfrm>
            <a:off x="5180053" y="2085227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089A14-41B8-1A7B-5200-3A1E073E259B}"/>
              </a:ext>
            </a:extLst>
          </p:cNvPr>
          <p:cNvSpPr/>
          <p:nvPr/>
        </p:nvSpPr>
        <p:spPr>
          <a:xfrm>
            <a:off x="4799210" y="2683320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A461C0-4E6D-75BF-B2E1-090D73C5741C}"/>
              </a:ext>
            </a:extLst>
          </p:cNvPr>
          <p:cNvSpPr/>
          <p:nvPr/>
        </p:nvSpPr>
        <p:spPr>
          <a:xfrm>
            <a:off x="4799210" y="3463626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BB0057-FD54-AE52-23F0-519C214DD4A9}"/>
              </a:ext>
            </a:extLst>
          </p:cNvPr>
          <p:cNvSpPr/>
          <p:nvPr/>
        </p:nvSpPr>
        <p:spPr>
          <a:xfrm>
            <a:off x="5180053" y="4070992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750142-FD19-9F91-AD17-76C38D269E79}"/>
              </a:ext>
            </a:extLst>
          </p:cNvPr>
          <p:cNvSpPr/>
          <p:nvPr/>
        </p:nvSpPr>
        <p:spPr>
          <a:xfrm>
            <a:off x="5865583" y="4410166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79E1D5-E7CF-E67B-2AB7-985D74D2DEFB}"/>
              </a:ext>
            </a:extLst>
          </p:cNvPr>
          <p:cNvSpPr/>
          <p:nvPr/>
        </p:nvSpPr>
        <p:spPr>
          <a:xfrm>
            <a:off x="6574243" y="4277546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3AD046-919F-39F4-4B07-B80F36A7384F}"/>
              </a:ext>
            </a:extLst>
          </p:cNvPr>
          <p:cNvSpPr/>
          <p:nvPr/>
        </p:nvSpPr>
        <p:spPr>
          <a:xfrm>
            <a:off x="7134489" y="3871487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549348D-D97F-A40C-3D93-53F171A390F2}"/>
              </a:ext>
            </a:extLst>
          </p:cNvPr>
          <p:cNvSpPr/>
          <p:nvPr/>
        </p:nvSpPr>
        <p:spPr>
          <a:xfrm>
            <a:off x="7374343" y="3188519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088B5FC-B4D2-89E3-94F4-350E0AFEAC3D}"/>
              </a:ext>
            </a:extLst>
          </p:cNvPr>
          <p:cNvSpPr/>
          <p:nvPr/>
        </p:nvSpPr>
        <p:spPr>
          <a:xfrm>
            <a:off x="7201046" y="2439065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5D81E8-B59F-2908-8D2C-28FCD430D6AA}"/>
              </a:ext>
            </a:extLst>
          </p:cNvPr>
          <p:cNvSpPr/>
          <p:nvPr/>
        </p:nvSpPr>
        <p:spPr>
          <a:xfrm>
            <a:off x="6665683" y="1920418"/>
            <a:ext cx="182880" cy="1828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8DF247-0A51-88FB-A0FB-E8F5EDEFE09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43864" y="2261724"/>
            <a:ext cx="1857395" cy="1857395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1C29DE8-B3D1-6E9E-A2B7-DD30D1E8DADF}"/>
              </a:ext>
            </a:extLst>
          </p:cNvPr>
          <p:cNvSpPr txBox="1">
            <a:spLocks/>
          </p:cNvSpPr>
          <p:nvPr/>
        </p:nvSpPr>
        <p:spPr>
          <a:xfrm>
            <a:off x="4958338" y="1112533"/>
            <a:ext cx="1615905" cy="75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Online Press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Less than30 mins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(28.4% | 95.3 ix)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4DDFC44-677E-8465-7F63-E49B7CBA921F}"/>
              </a:ext>
            </a:extLst>
          </p:cNvPr>
          <p:cNvSpPr txBox="1">
            <a:spLocks/>
          </p:cNvSpPr>
          <p:nvPr/>
        </p:nvSpPr>
        <p:spPr>
          <a:xfrm>
            <a:off x="3234285" y="1675485"/>
            <a:ext cx="2052957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Linear / Broadcast TV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</a:t>
            </a:r>
            <a:r>
              <a:rPr lang="en-US" sz="1100" u="sng">
                <a:solidFill>
                  <a:srgbClr val="008291"/>
                </a:solidFill>
              </a:rPr>
              <a:t>55.7%</a:t>
            </a:r>
            <a:r>
              <a:rPr lang="en-US" sz="1100" b="0">
                <a:solidFill>
                  <a:srgbClr val="5461C8"/>
                </a:solidFill>
              </a:rPr>
              <a:t> | </a:t>
            </a:r>
            <a:r>
              <a:rPr lang="en-US" sz="1100" u="sng">
                <a:solidFill>
                  <a:srgbClr val="008291"/>
                </a:solidFill>
              </a:rPr>
              <a:t>135.4 </a:t>
            </a:r>
            <a:r>
              <a:rPr lang="en-US" sz="1100" b="0">
                <a:solidFill>
                  <a:srgbClr val="5461C8"/>
                </a:solidFill>
              </a:rPr>
              <a:t>ix)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BF3E0F1-7984-9547-2D8F-AB294E373780}"/>
              </a:ext>
            </a:extLst>
          </p:cNvPr>
          <p:cNvSpPr txBox="1">
            <a:spLocks/>
          </p:cNvSpPr>
          <p:nvPr/>
        </p:nvSpPr>
        <p:spPr>
          <a:xfrm>
            <a:off x="2826382" y="2408835"/>
            <a:ext cx="2052957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Social Media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</a:t>
            </a:r>
            <a:r>
              <a:rPr lang="en-US" sz="1100">
                <a:solidFill>
                  <a:srgbClr val="008291"/>
                </a:solidFill>
              </a:rPr>
              <a:t>43.9%</a:t>
            </a:r>
            <a:r>
              <a:rPr lang="en-US" sz="1100" b="0">
                <a:solidFill>
                  <a:srgbClr val="5461C8"/>
                </a:solidFill>
              </a:rPr>
              <a:t> | 111.4 ix)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2D058C7-7B1E-5E2E-D279-03058182AFD2}"/>
              </a:ext>
            </a:extLst>
          </p:cNvPr>
          <p:cNvSpPr txBox="1">
            <a:spLocks/>
          </p:cNvSpPr>
          <p:nvPr/>
        </p:nvSpPr>
        <p:spPr>
          <a:xfrm>
            <a:off x="2833492" y="3220306"/>
            <a:ext cx="2052957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Online TV / Streaming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</a:t>
            </a:r>
            <a:r>
              <a:rPr lang="en-US" sz="1100" u="sng">
                <a:solidFill>
                  <a:srgbClr val="008291"/>
                </a:solidFill>
              </a:rPr>
              <a:t>41.1% </a:t>
            </a:r>
            <a:r>
              <a:rPr lang="en-US" sz="1100" b="0">
                <a:solidFill>
                  <a:srgbClr val="5461C8"/>
                </a:solidFill>
              </a:rPr>
              <a:t>| </a:t>
            </a:r>
            <a:r>
              <a:rPr lang="en-US" sz="1100" u="sng">
                <a:solidFill>
                  <a:srgbClr val="008291"/>
                </a:solidFill>
              </a:rPr>
              <a:t>122.3 </a:t>
            </a:r>
            <a:r>
              <a:rPr lang="en-US" sz="1100" b="0">
                <a:solidFill>
                  <a:srgbClr val="5461C8"/>
                </a:solidFill>
              </a:rPr>
              <a:t>ix)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63335EA-D18A-6CCF-FFF9-D612A648A8E3}"/>
              </a:ext>
            </a:extLst>
          </p:cNvPr>
          <p:cNvSpPr txBox="1">
            <a:spLocks/>
          </p:cNvSpPr>
          <p:nvPr/>
        </p:nvSpPr>
        <p:spPr>
          <a:xfrm>
            <a:off x="2518501" y="4016806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Online on Mobile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2 hours to 4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</a:t>
            </a:r>
            <a:r>
              <a:rPr lang="en-US" sz="1100" u="sng">
                <a:solidFill>
                  <a:srgbClr val="008291"/>
                </a:solidFill>
              </a:rPr>
              <a:t>38.1%</a:t>
            </a:r>
            <a:r>
              <a:rPr lang="en-US" sz="1100" b="0">
                <a:solidFill>
                  <a:srgbClr val="5461C8"/>
                </a:solidFill>
              </a:rPr>
              <a:t> | </a:t>
            </a:r>
            <a:r>
              <a:rPr lang="en-US" sz="1100" u="sng">
                <a:solidFill>
                  <a:srgbClr val="008291"/>
                </a:solidFill>
              </a:rPr>
              <a:t>124.9</a:t>
            </a:r>
            <a:r>
              <a:rPr lang="en-US" sz="1100" b="0">
                <a:solidFill>
                  <a:srgbClr val="5461C8"/>
                </a:solidFill>
              </a:rPr>
              <a:t> ix)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92075F5-F17C-15F8-7091-CD6C3DDB730D}"/>
              </a:ext>
            </a:extLst>
          </p:cNvPr>
          <p:cNvSpPr txBox="1">
            <a:spLocks/>
          </p:cNvSpPr>
          <p:nvPr/>
        </p:nvSpPr>
        <p:spPr>
          <a:xfrm>
            <a:off x="4192042" y="4524826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Music Streaming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(35.8% | </a:t>
            </a:r>
            <a:r>
              <a:rPr lang="en-US" sz="1100" u="sng">
                <a:solidFill>
                  <a:srgbClr val="008291"/>
                </a:solidFill>
              </a:rPr>
              <a:t>122.1</a:t>
            </a:r>
            <a:r>
              <a:rPr lang="en-US" sz="1100" b="0">
                <a:solidFill>
                  <a:srgbClr val="5461C8"/>
                </a:solidFill>
              </a:rPr>
              <a:t> ix)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989203E-91A5-3D80-1112-110D54EE921E}"/>
              </a:ext>
            </a:extLst>
          </p:cNvPr>
          <p:cNvSpPr txBox="1">
            <a:spLocks/>
          </p:cNvSpPr>
          <p:nvPr/>
        </p:nvSpPr>
        <p:spPr>
          <a:xfrm>
            <a:off x="6004012" y="4438270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Games Consoles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(35.7% | </a:t>
            </a:r>
            <a:r>
              <a:rPr lang="en-US" sz="1100" u="sng">
                <a:solidFill>
                  <a:srgbClr val="008291"/>
                </a:solidFill>
              </a:rPr>
              <a:t>147.8</a:t>
            </a:r>
            <a:r>
              <a:rPr lang="en-US" sz="1100">
                <a:solidFill>
                  <a:srgbClr val="5461C8"/>
                </a:solidFill>
              </a:rPr>
              <a:t> </a:t>
            </a:r>
            <a:r>
              <a:rPr lang="en-US" sz="1100" b="0">
                <a:solidFill>
                  <a:srgbClr val="5461C8"/>
                </a:solidFill>
              </a:rPr>
              <a:t>ix)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7EEA78-CBC4-0821-A7E5-98F8DCC5FB5C}"/>
              </a:ext>
            </a:extLst>
          </p:cNvPr>
          <p:cNvSpPr txBox="1">
            <a:spLocks/>
          </p:cNvSpPr>
          <p:nvPr/>
        </p:nvSpPr>
        <p:spPr>
          <a:xfrm>
            <a:off x="6701137" y="3702067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Radio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(31.9% | 139.9 ix)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D9DE3E2-F054-46F4-7556-21B51491DE9C}"/>
              </a:ext>
            </a:extLst>
          </p:cNvPr>
          <p:cNvSpPr txBox="1">
            <a:spLocks/>
          </p:cNvSpPr>
          <p:nvPr/>
        </p:nvSpPr>
        <p:spPr>
          <a:xfrm>
            <a:off x="6951968" y="2876033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Podcasts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 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(31.5% | </a:t>
            </a:r>
            <a:r>
              <a:rPr lang="en-US" sz="1100" u="sng">
                <a:solidFill>
                  <a:srgbClr val="008291"/>
                </a:solidFill>
              </a:rPr>
              <a:t>146.3 </a:t>
            </a:r>
            <a:r>
              <a:rPr lang="en-US" sz="1100" b="0">
                <a:solidFill>
                  <a:srgbClr val="5461C8"/>
                </a:solidFill>
              </a:rPr>
              <a:t>ix)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2A5D4BF-287F-7423-A027-F0506A3E98A0}"/>
              </a:ext>
            </a:extLst>
          </p:cNvPr>
          <p:cNvSpPr txBox="1">
            <a:spLocks/>
          </p:cNvSpPr>
          <p:nvPr/>
        </p:nvSpPr>
        <p:spPr>
          <a:xfrm>
            <a:off x="6848563" y="2026700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Online on PC / Laptop / Tablet </a:t>
            </a:r>
            <a:r>
              <a:rPr lang="en-US" sz="1100" b="0">
                <a:solidFill>
                  <a:srgbClr val="5461C8"/>
                </a:solidFill>
              </a:rPr>
              <a:t>More than 4 hours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(29.2% | 115.4 ix)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EE5F8D1-20CB-6497-0BA0-FF72811524C9}"/>
              </a:ext>
            </a:extLst>
          </p:cNvPr>
          <p:cNvSpPr txBox="1">
            <a:spLocks/>
          </p:cNvSpPr>
          <p:nvPr/>
        </p:nvSpPr>
        <p:spPr>
          <a:xfrm>
            <a:off x="6245619" y="1289253"/>
            <a:ext cx="2576948" cy="8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228600" indent="0"/>
            <a:r>
              <a:rPr lang="en-US" sz="1100">
                <a:solidFill>
                  <a:schemeClr val="tx1"/>
                </a:solidFill>
              </a:rPr>
              <a:t>Physical Press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30 mins to 2 hours</a:t>
            </a:r>
          </a:p>
          <a:p>
            <a:pPr marL="228600" indent="0"/>
            <a:r>
              <a:rPr lang="en-US" sz="1100" b="0">
                <a:solidFill>
                  <a:srgbClr val="5461C8"/>
                </a:solidFill>
              </a:rPr>
              <a:t>(27.1% | </a:t>
            </a:r>
            <a:r>
              <a:rPr lang="en-US" sz="1100" u="sng">
                <a:solidFill>
                  <a:srgbClr val="008291"/>
                </a:solidFill>
              </a:rPr>
              <a:t>140.7</a:t>
            </a:r>
            <a:r>
              <a:rPr lang="en-US" sz="1100" b="0">
                <a:solidFill>
                  <a:srgbClr val="5461C8"/>
                </a:solidFill>
              </a:rPr>
              <a:t> ix)</a:t>
            </a:r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A9E1E2AE-C0F7-4724-279F-BA8CC5E41275}"/>
              </a:ext>
            </a:extLst>
          </p:cNvPr>
          <p:cNvSpPr/>
          <p:nvPr/>
        </p:nvSpPr>
        <p:spPr>
          <a:xfrm>
            <a:off x="2272142" y="1289253"/>
            <a:ext cx="610111" cy="4026933"/>
          </a:xfrm>
          <a:prstGeom prst="leftBracket">
            <a:avLst>
              <a:gd name="adj" fmla="val 75624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F5FD7918-D738-B437-DE3A-BCC4C1B7A4CA}"/>
              </a:ext>
            </a:extLst>
          </p:cNvPr>
          <p:cNvSpPr/>
          <p:nvPr/>
        </p:nvSpPr>
        <p:spPr>
          <a:xfrm flipH="1">
            <a:off x="9299413" y="1184246"/>
            <a:ext cx="610111" cy="4203653"/>
          </a:xfrm>
          <a:prstGeom prst="leftBracket">
            <a:avLst>
              <a:gd name="adj" fmla="val 75624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EAC51A3E-C15C-D107-13F4-0E9EB2513E46}"/>
              </a:ext>
            </a:extLst>
          </p:cNvPr>
          <p:cNvSpPr txBox="1">
            <a:spLocks/>
          </p:cNvSpPr>
          <p:nvPr/>
        </p:nvSpPr>
        <p:spPr>
          <a:xfrm>
            <a:off x="284715" y="1862719"/>
            <a:ext cx="1980586" cy="101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l">
              <a:lnSpc>
                <a:spcPct val="110000"/>
              </a:lnSpc>
              <a:buClr>
                <a:srgbClr val="008291"/>
              </a:buClr>
            </a:pPr>
            <a:r>
              <a:rPr lang="en-US" sz="1400">
                <a:solidFill>
                  <a:schemeClr val="tx1"/>
                </a:solidFill>
              </a:rPr>
              <a:t>More than 4 hours :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Laptop or PC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5F2ED1F-10AE-20E5-9839-55E8023AB68B}"/>
              </a:ext>
            </a:extLst>
          </p:cNvPr>
          <p:cNvSpPr txBox="1">
            <a:spLocks/>
          </p:cNvSpPr>
          <p:nvPr/>
        </p:nvSpPr>
        <p:spPr>
          <a:xfrm>
            <a:off x="322547" y="3818512"/>
            <a:ext cx="1980586" cy="88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l">
              <a:lnSpc>
                <a:spcPct val="110000"/>
              </a:lnSpc>
              <a:buClr>
                <a:srgbClr val="008291"/>
              </a:buClr>
            </a:pPr>
            <a:r>
              <a:rPr lang="en-US" sz="1400">
                <a:solidFill>
                  <a:schemeClr val="tx1"/>
                </a:solidFill>
              </a:rPr>
              <a:t>2 to 4 hours :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Online Mobile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FD594279-1EA6-728B-747E-D9E2CE184C21}"/>
              </a:ext>
            </a:extLst>
          </p:cNvPr>
          <p:cNvSpPr txBox="1">
            <a:spLocks/>
          </p:cNvSpPr>
          <p:nvPr/>
        </p:nvSpPr>
        <p:spPr>
          <a:xfrm>
            <a:off x="10078753" y="3085767"/>
            <a:ext cx="1980586" cy="282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l">
              <a:lnSpc>
                <a:spcPct val="110000"/>
              </a:lnSpc>
              <a:buClr>
                <a:srgbClr val="008291"/>
              </a:buClr>
            </a:pPr>
            <a:r>
              <a:rPr lang="en-US" sz="1400">
                <a:solidFill>
                  <a:schemeClr val="tx1"/>
                </a:solidFill>
              </a:rPr>
              <a:t>30 mins to 2 hours :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Linear TV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Social Media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Online TV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Music Streaming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Gaming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Radio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Podcasts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Physical Press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CFE32E6-F48A-9891-A490-422ADC26E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8526" y="5183607"/>
            <a:ext cx="5059874" cy="1081461"/>
          </a:xfr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/>
          <a:p>
            <a:pPr marL="0" indent="0" algn="ctr"/>
            <a:r>
              <a:rPr lang="en-US" sz="1200" b="1">
                <a:solidFill>
                  <a:srgbClr val="5461C8"/>
                </a:solidFill>
              </a:rPr>
              <a:t>Core Target is consuming </a:t>
            </a:r>
          </a:p>
          <a:p>
            <a:pPr marL="0" indent="0" algn="ctr"/>
            <a:br>
              <a:rPr lang="en-US" sz="1200" b="1">
                <a:solidFill>
                  <a:schemeClr val="bg2"/>
                </a:solidFill>
              </a:rPr>
            </a:br>
            <a:endParaRPr lang="en-US" sz="1200" b="1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34BCA7-8C02-64F0-3D6B-B8780173B00D}"/>
              </a:ext>
            </a:extLst>
          </p:cNvPr>
          <p:cNvSpPr/>
          <p:nvPr/>
        </p:nvSpPr>
        <p:spPr>
          <a:xfrm>
            <a:off x="6586600" y="4568104"/>
            <a:ext cx="1724053" cy="722566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8E67F2-A983-2041-3D2C-423911882D94}"/>
              </a:ext>
            </a:extLst>
          </p:cNvPr>
          <p:cNvSpPr/>
          <p:nvPr/>
        </p:nvSpPr>
        <p:spPr>
          <a:xfrm>
            <a:off x="3044798" y="3322612"/>
            <a:ext cx="1724053" cy="722566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78AA67-F202-E443-467F-1BE592400ADF}"/>
              </a:ext>
            </a:extLst>
          </p:cNvPr>
          <p:cNvSpPr/>
          <p:nvPr/>
        </p:nvSpPr>
        <p:spPr>
          <a:xfrm>
            <a:off x="3432735" y="1667500"/>
            <a:ext cx="1660089" cy="702007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6B48F5-F59A-156C-D8F6-6026F50BA6FB}"/>
              </a:ext>
            </a:extLst>
          </p:cNvPr>
          <p:cNvSpPr txBox="1"/>
          <p:nvPr/>
        </p:nvSpPr>
        <p:spPr>
          <a:xfrm>
            <a:off x="8184438" y="4704805"/>
            <a:ext cx="1263318" cy="2462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b="1" u="sng">
                <a:solidFill>
                  <a:schemeClr val="tx1"/>
                </a:solidFill>
              </a:rPr>
              <a:t>&gt; Connected TV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512347-5C14-2839-4142-4D79011A5AD8}"/>
              </a:ext>
            </a:extLst>
          </p:cNvPr>
          <p:cNvSpPr/>
          <p:nvPr/>
        </p:nvSpPr>
        <p:spPr>
          <a:xfrm>
            <a:off x="6881579" y="1322493"/>
            <a:ext cx="1724053" cy="722566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187D15-C5D3-06EB-3BC7-503A62D2D784}"/>
              </a:ext>
            </a:extLst>
          </p:cNvPr>
          <p:cNvSpPr/>
          <p:nvPr/>
        </p:nvSpPr>
        <p:spPr>
          <a:xfrm>
            <a:off x="2852970" y="4164281"/>
            <a:ext cx="2175384" cy="600846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327350-D277-1395-CE75-E9593E21FB8F}"/>
              </a:ext>
            </a:extLst>
          </p:cNvPr>
          <p:cNvSpPr txBox="1"/>
          <p:nvPr/>
        </p:nvSpPr>
        <p:spPr>
          <a:xfrm>
            <a:off x="6292802" y="5447083"/>
            <a:ext cx="22121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algn="ctr"/>
            <a:r>
              <a:rPr lang="en-US" sz="1050" b="1">
                <a:solidFill>
                  <a:srgbClr val="5461C8"/>
                </a:solidFill>
                <a:latin typeface="Century Gothic" panose="020B0502020202020204" pitchFamily="34" charset="0"/>
              </a:rPr>
              <a:t>OFFLINE</a:t>
            </a:r>
          </a:p>
          <a:p>
            <a:pPr marL="228600" indent="0"/>
            <a:r>
              <a:rPr lang="en-US" sz="1050">
                <a:solidFill>
                  <a:schemeClr val="tx1"/>
                </a:solidFill>
                <a:latin typeface="Century Gothic" panose="020B0502020202020204" pitchFamily="34" charset="0"/>
              </a:rPr>
              <a:t>Linear / Broadcast TV</a:t>
            </a:r>
          </a:p>
          <a:p>
            <a:pPr marL="228600" indent="0"/>
            <a:r>
              <a:rPr lang="en-US" sz="1050">
                <a:solidFill>
                  <a:schemeClr val="tx1"/>
                </a:solidFill>
                <a:latin typeface="Century Gothic" panose="020B0502020202020204" pitchFamily="34" charset="0"/>
              </a:rPr>
              <a:t>Physical Press (Print)</a:t>
            </a:r>
          </a:p>
          <a:p>
            <a:pPr marL="228600" indent="0"/>
            <a:endParaRPr lang="en-US" sz="10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2DB5E2-0FB0-95ED-1CCC-ED52E37901EB}"/>
              </a:ext>
            </a:extLst>
          </p:cNvPr>
          <p:cNvSpPr txBox="1"/>
          <p:nvPr/>
        </p:nvSpPr>
        <p:spPr>
          <a:xfrm>
            <a:off x="3518526" y="5387156"/>
            <a:ext cx="221216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algn="ctr"/>
            <a:r>
              <a:rPr lang="en-US" sz="1000" b="1">
                <a:solidFill>
                  <a:srgbClr val="5461C8"/>
                </a:solidFill>
                <a:latin typeface="Century Gothic" panose="020B0502020202020204" pitchFamily="34" charset="0"/>
              </a:rPr>
              <a:t>DIGITAL</a:t>
            </a:r>
          </a:p>
          <a:p>
            <a:pPr marL="228600" indent="0"/>
            <a:r>
              <a:rPr lang="en-US" sz="1000">
                <a:solidFill>
                  <a:schemeClr val="tx1"/>
                </a:solidFill>
                <a:latin typeface="Century Gothic" panose="020B0502020202020204" pitchFamily="34" charset="0"/>
              </a:rPr>
              <a:t>Mobile first, followed by PC</a:t>
            </a:r>
          </a:p>
          <a:p>
            <a:pPr marL="228600" indent="0"/>
            <a:r>
              <a:rPr lang="en-US" sz="1000">
                <a:solidFill>
                  <a:schemeClr val="tx1"/>
                </a:solidFill>
                <a:latin typeface="Century Gothic" panose="020B0502020202020204" pitchFamily="34" charset="0"/>
              </a:rPr>
              <a:t>Social Media, </a:t>
            </a:r>
          </a:p>
          <a:p>
            <a:pPr marL="228600" indent="0"/>
            <a:r>
              <a:rPr lang="en-US" sz="1000">
                <a:solidFill>
                  <a:schemeClr val="tx1"/>
                </a:solidFill>
                <a:latin typeface="Century Gothic" panose="020B0502020202020204" pitchFamily="34" charset="0"/>
              </a:rPr>
              <a:t>OTT, C TV</a:t>
            </a:r>
          </a:p>
          <a:p>
            <a:pPr marL="228600" indent="0"/>
            <a:r>
              <a:rPr lang="en-US" sz="1000">
                <a:solidFill>
                  <a:schemeClr val="tx1"/>
                </a:solidFill>
                <a:latin typeface="Century Gothic" panose="020B0502020202020204" pitchFamily="34" charset="0"/>
              </a:rPr>
              <a:t>Music Streaming + Podcasts</a:t>
            </a:r>
          </a:p>
          <a:p>
            <a:pPr marL="228600" indent="0"/>
            <a:endParaRPr lang="en-US" sz="10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620496F-0270-0961-31DD-D4F88B497D71}"/>
              </a:ext>
            </a:extLst>
          </p:cNvPr>
          <p:cNvSpPr/>
          <p:nvPr/>
        </p:nvSpPr>
        <p:spPr>
          <a:xfrm>
            <a:off x="7480598" y="3739617"/>
            <a:ext cx="1724053" cy="722566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152024-40E2-88B5-C7E8-C51E684AD909}"/>
              </a:ext>
            </a:extLst>
          </p:cNvPr>
          <p:cNvSpPr txBox="1"/>
          <p:nvPr/>
        </p:nvSpPr>
        <p:spPr>
          <a:xfrm>
            <a:off x="2280953" y="3637648"/>
            <a:ext cx="1263318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b="1" u="sng">
                <a:solidFill>
                  <a:schemeClr val="tx1"/>
                </a:solidFill>
              </a:rPr>
              <a:t>Connected TV &lt;  &amp; OTT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328731AA-4DD3-E5BC-E282-08CF7050DAC1}"/>
              </a:ext>
            </a:extLst>
          </p:cNvPr>
          <p:cNvSpPr txBox="1">
            <a:spLocks/>
          </p:cNvSpPr>
          <p:nvPr/>
        </p:nvSpPr>
        <p:spPr>
          <a:xfrm>
            <a:off x="10038158" y="1460078"/>
            <a:ext cx="2195793" cy="108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344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834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302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E8344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91C1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91C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l">
              <a:lnSpc>
                <a:spcPct val="110000"/>
              </a:lnSpc>
              <a:buClr>
                <a:srgbClr val="008291"/>
              </a:buClr>
            </a:pPr>
            <a:r>
              <a:rPr lang="en-US" sz="1400">
                <a:solidFill>
                  <a:schemeClr val="tx1"/>
                </a:solidFill>
              </a:rPr>
              <a:t>Less than 30 mins :</a:t>
            </a:r>
          </a:p>
          <a:p>
            <a:pPr marL="285750" indent="-285750" algn="l">
              <a:lnSpc>
                <a:spcPct val="110000"/>
              </a:lnSpc>
              <a:buClr>
                <a:srgbClr val="008291"/>
              </a:buClr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chemeClr val="tx1"/>
                </a:solidFill>
              </a:rPr>
              <a:t>Online Press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6FD29C-9110-5706-2B73-6DA75CD07DBD}"/>
              </a:ext>
            </a:extLst>
          </p:cNvPr>
          <p:cNvSpPr txBox="1"/>
          <p:nvPr/>
        </p:nvSpPr>
        <p:spPr>
          <a:xfrm>
            <a:off x="779468" y="6345571"/>
            <a:ext cx="10775945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GWI, Wave Q1 2023 – Q4 2023: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vivo X Series - Travelled abroad at least once in last 12 months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Department Manager/VP and above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Annual income 15 Lacs &amp; above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9811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37" y="112475"/>
            <a:ext cx="10943519" cy="195329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b="1" kern="0">
                <a:solidFill>
                  <a:srgbClr val="191C1C"/>
                </a:solidFill>
                <a:latin typeface="Century Gothic"/>
                <a:sym typeface="Century Gothic"/>
              </a:rPr>
              <a:t>w</a:t>
            </a:r>
            <a:r>
              <a:rPr kumimoji="0" lang="en-US" sz="2400" b="1" i="0" u="none" strike="noStrike" kern="0" cap="none" spc="0" normalizeH="0" baseline="0" noProof="0" err="1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ith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 high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sym typeface="Century Gothic"/>
              </a:rPr>
              <a:t>Affinity Index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, towards Gaming, Print, TV &amp; Online Video Ads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DCC66B-4678-AD33-C881-8DD053EF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73" y="0"/>
            <a:ext cx="835127" cy="461743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1FBC2BE5-ECB7-3D93-C9D4-8CF408F776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406155"/>
              </p:ext>
            </p:extLst>
          </p:nvPr>
        </p:nvGraphicFramePr>
        <p:xfrm>
          <a:off x="705940" y="912431"/>
          <a:ext cx="6574970" cy="4032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EF75B893-A585-DFCC-4FE7-43E17BE1C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92584"/>
              </p:ext>
            </p:extLst>
          </p:nvPr>
        </p:nvGraphicFramePr>
        <p:xfrm>
          <a:off x="7280910" y="912431"/>
          <a:ext cx="4360971" cy="4032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90173121-1185-F12E-A8E9-241DA54E2968}"/>
              </a:ext>
            </a:extLst>
          </p:cNvPr>
          <p:cNvSpPr>
            <a:spLocks/>
          </p:cNvSpPr>
          <p:nvPr/>
        </p:nvSpPr>
        <p:spPr>
          <a:xfrm>
            <a:off x="713515" y="1549845"/>
            <a:ext cx="10935941" cy="416583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D17C08-AD48-701F-2BD4-808E66D49BF0}"/>
              </a:ext>
            </a:extLst>
          </p:cNvPr>
          <p:cNvSpPr>
            <a:spLocks/>
          </p:cNvSpPr>
          <p:nvPr/>
        </p:nvSpPr>
        <p:spPr>
          <a:xfrm>
            <a:off x="705939" y="2358411"/>
            <a:ext cx="10935941" cy="416583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997E9B-D6DC-6005-7EE2-9D47D72B9A6A}"/>
              </a:ext>
            </a:extLst>
          </p:cNvPr>
          <p:cNvSpPr>
            <a:spLocks/>
          </p:cNvSpPr>
          <p:nvPr/>
        </p:nvSpPr>
        <p:spPr>
          <a:xfrm>
            <a:off x="713515" y="3546916"/>
            <a:ext cx="10935941" cy="416583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8D263-97FF-7B57-CC22-373E4E8E8FBB}"/>
              </a:ext>
            </a:extLst>
          </p:cNvPr>
          <p:cNvSpPr>
            <a:spLocks/>
          </p:cNvSpPr>
          <p:nvPr/>
        </p:nvSpPr>
        <p:spPr>
          <a:xfrm>
            <a:off x="705938" y="4140645"/>
            <a:ext cx="10935941" cy="279926"/>
          </a:xfrm>
          <a:prstGeom prst="rect">
            <a:avLst/>
          </a:prstGeom>
          <a:solidFill>
            <a:schemeClr val="accent5">
              <a:lumMod val="75000"/>
              <a:alpha val="15000"/>
            </a:schemeClr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FF9418-9D30-C9BB-9D61-80BC71787E07}"/>
              </a:ext>
            </a:extLst>
          </p:cNvPr>
          <p:cNvSpPr/>
          <p:nvPr/>
        </p:nvSpPr>
        <p:spPr>
          <a:xfrm>
            <a:off x="721092" y="5050500"/>
            <a:ext cx="10928364" cy="112606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000">
                <a:solidFill>
                  <a:schemeClr val="bg1"/>
                </a:solidFill>
              </a:rPr>
              <a:t>Channel selection should be integrated &amp; cover all media vehicles including TV &amp; Print along with Digital Ads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000">
                <a:solidFill>
                  <a:schemeClr val="bg1"/>
                </a:solidFill>
              </a:rPr>
              <a:t>Target audience have shown higher affinity Index towards: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000" b="1">
                <a:solidFill>
                  <a:schemeClr val="bg1"/>
                </a:solidFill>
              </a:rPr>
              <a:t>Gaming Ads, Pre-Roll video Ads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000" b="1">
                <a:solidFill>
                  <a:schemeClr val="bg1"/>
                </a:solidFill>
              </a:rPr>
              <a:t>Print &amp; TV Ads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000" b="1">
                <a:solidFill>
                  <a:schemeClr val="bg1"/>
                </a:solidFill>
              </a:rPr>
              <a:t>Review websites (Gadgets 360 / 91 mobiles), Retail websites (Amazon / Flipkart).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1190A2-0A90-CFAD-3845-BC96FCFA4FD6}"/>
              </a:ext>
            </a:extLst>
          </p:cNvPr>
          <p:cNvSpPr txBox="1"/>
          <p:nvPr/>
        </p:nvSpPr>
        <p:spPr>
          <a:xfrm>
            <a:off x="779468" y="6201191"/>
            <a:ext cx="107759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GWI, Wave Q1 2023 – Q4 2023: 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vivo X Series - Travelled abroad at least once in last 12 months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Department Manager/VP and above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OR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Annual income 15 Lacs &amp; above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Samsung Z Fold: Owns/used to own Samsung Galaxy Z Fold 4</a:t>
            </a:r>
            <a:endParaRPr lang="en-US" sz="900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F75FA-2DB6-BDE0-1638-5C6B273D15EF}"/>
              </a:ext>
            </a:extLst>
          </p:cNvPr>
          <p:cNvSpPr txBox="1"/>
          <p:nvPr/>
        </p:nvSpPr>
        <p:spPr>
          <a:xfrm>
            <a:off x="8401879" y="1554922"/>
            <a:ext cx="3659808" cy="483209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So, given this the management in China to understand the </a:t>
            </a:r>
            <a:br>
              <a:rPr lang="en-US"/>
            </a:br>
            <a:endParaRPr lang="en-US"/>
          </a:p>
          <a:p>
            <a:r>
              <a:rPr lang="en-US"/>
              <a:t>1. The slide shared wisely justified digital and its landscape. Only thing we need to add here is top targeting apps/platform like gaming is a big genre so is entertainment. Hence request you to call out 5-7 top apps in each of the genres. </a:t>
            </a:r>
            <a:br>
              <a:rPr lang="en-US"/>
            </a:br>
            <a:endParaRPr lang="en-US"/>
          </a:p>
          <a:p>
            <a:r>
              <a:rPr lang="en-US"/>
              <a:t>2. We see a fair opportunity to put a case for TV, print, D/OOH &amp; cinema. I see music streaming a surrogate of Radio..</a:t>
            </a:r>
          </a:p>
          <a:p>
            <a:r>
              <a:rPr lang="en-US"/>
              <a:t>Suggest if we have 1-2 slide which describes CDJ of premium consumer including all media (offline and online).</a:t>
            </a:r>
          </a:p>
          <a:p>
            <a:r>
              <a:rPr lang="en-US"/>
              <a:t>For offline if we have recommendations like: </a:t>
            </a:r>
          </a:p>
          <a:p>
            <a:r>
              <a:rPr lang="en-US"/>
              <a:t>TV (sports HD, other surrogate) </a:t>
            </a:r>
          </a:p>
          <a:p>
            <a:r>
              <a:rPr lang="en-US"/>
              <a:t>Ooh (airport </a:t>
            </a:r>
            <a:r>
              <a:rPr lang="en-US" err="1"/>
              <a:t>etc</a:t>
            </a:r>
            <a:r>
              <a:rPr lang="en-US"/>
              <a:t>) </a:t>
            </a:r>
          </a:p>
          <a:p>
            <a:r>
              <a:rPr lang="en-US"/>
              <a:t>DOOH ( premium malls , society </a:t>
            </a:r>
            <a:r>
              <a:rPr lang="en-US" err="1"/>
              <a:t>etc</a:t>
            </a:r>
            <a:r>
              <a:rPr lang="en-US"/>
              <a:t>) </a:t>
            </a:r>
          </a:p>
          <a:p>
            <a:r>
              <a:rPr lang="en-US"/>
              <a:t>Cinema ...</a:t>
            </a:r>
          </a:p>
        </p:txBody>
      </p:sp>
    </p:spTree>
    <p:extLst>
      <p:ext uri="{BB962C8B-B14F-4D97-AF65-F5344CB8AC3E}">
        <p14:creationId xmlns:p14="http://schemas.microsoft.com/office/powerpoint/2010/main" val="1485941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Media TG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7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Sizing the Potential of our TG – Option 3 – Targeting only Core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0517123-3E65-2361-C523-4B3BAC941CA6}"/>
              </a:ext>
            </a:extLst>
          </p:cNvPr>
          <p:cNvSpPr/>
          <p:nvPr/>
        </p:nvSpPr>
        <p:spPr>
          <a:xfrm>
            <a:off x="7337425" y="1597025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84D23-F675-91CB-0517-5FFD40C670F2}"/>
              </a:ext>
            </a:extLst>
          </p:cNvPr>
          <p:cNvSpPr txBox="1"/>
          <p:nvPr/>
        </p:nvSpPr>
        <p:spPr>
          <a:xfrm>
            <a:off x="9849783" y="2904579"/>
            <a:ext cx="2511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35-54, Males + Female, PAN India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entury Gothic" panose="020B0502020202020204" pitchFamily="34" charset="0"/>
                <a:sym typeface="Montserrat"/>
              </a:rPr>
              <a:t>158* Mn</a:t>
            </a:r>
            <a:endParaRPr lang="en-US" sz="2000" b="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8B633F-B08B-AA28-C3CD-85F29C65DB90}"/>
              </a:ext>
            </a:extLst>
          </p:cNvPr>
          <p:cNvSpPr/>
          <p:nvPr/>
        </p:nvSpPr>
        <p:spPr>
          <a:xfrm>
            <a:off x="8387905" y="2870352"/>
            <a:ext cx="1920240" cy="1920240"/>
          </a:xfrm>
          <a:prstGeom prst="ellipse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1B2E7-6D6E-B66F-087D-45CD7A7B293F}"/>
              </a:ext>
            </a:extLst>
          </p:cNvPr>
          <p:cNvSpPr txBox="1"/>
          <p:nvPr/>
        </p:nvSpPr>
        <p:spPr>
          <a:xfrm>
            <a:off x="5787409" y="2325734"/>
            <a:ext cx="251110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CORE TG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3</a:t>
            </a:r>
            <a:r>
              <a:rPr lang="en" sz="1400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5-54, M&amp;F, </a:t>
            </a:r>
          </a:p>
          <a:p>
            <a:pPr algn="ctr">
              <a:buSzPts val="1000"/>
            </a:pPr>
            <a:endParaRPr lang="en-US" sz="1000">
              <a:solidFill>
                <a:srgbClr val="FF0000"/>
              </a:solidFill>
              <a:cs typeface="Calibri" panose="020F0502020204030204" pitchFamily="34" charset="0"/>
            </a:endParaRPr>
          </a:p>
          <a:p>
            <a:pPr algn="ctr">
              <a:buSzPts val="1000"/>
            </a:pPr>
            <a:r>
              <a:rPr lang="en-US" sz="1000">
                <a:solidFill>
                  <a:srgbClr val="FF0000"/>
                </a:solidFill>
                <a:cs typeface="Calibri" panose="020F0502020204030204" pitchFamily="34" charset="0"/>
              </a:rPr>
              <a:t>Gaming Peripherals &amp; Accessories, Primary &amp; Secondary Schools (K-12),</a:t>
            </a:r>
            <a:r>
              <a:rPr lang="en-US" sz="1000">
                <a:solidFill>
                  <a:schemeClr val="tx1"/>
                </a:solidFill>
                <a:cs typeface="Calibri" panose="020F0502020204030204" pitchFamily="34" charset="0"/>
              </a:rPr>
              <a:t> SUVs (New), Luxury Vehicles,  Luxury Travelers, </a:t>
            </a:r>
            <a:r>
              <a:rPr lang="en-US" sz="1000">
                <a:solidFill>
                  <a:srgbClr val="FF0000"/>
                </a:solidFill>
                <a:cs typeface="Calibri" panose="020F0502020204030204" pitchFamily="34" charset="0"/>
              </a:rPr>
              <a:t>Shopping Enthusiasts,</a:t>
            </a:r>
            <a:r>
              <a:rPr lang="en-US" sz="1000">
                <a:solidFill>
                  <a:schemeClr val="tx1"/>
                </a:solidFill>
                <a:cs typeface="Calibri" panose="020F0502020204030204" pitchFamily="34" charset="0"/>
              </a:rPr>
              <a:t> Performance &amp; Luxury Vehicle Enthusiasts, </a:t>
            </a:r>
            <a:r>
              <a:rPr lang="en-US" sz="1000">
                <a:solidFill>
                  <a:srgbClr val="FF0000"/>
                </a:solidFill>
                <a:cs typeface="Calibri" panose="020F0502020204030204" pitchFamily="34" charset="0"/>
              </a:rPr>
              <a:t>Motor Sports Enthusiasts</a:t>
            </a:r>
            <a:r>
              <a:rPr lang="en-US" sz="1000">
                <a:solidFill>
                  <a:schemeClr val="tx1"/>
                </a:solidFill>
                <a:cs typeface="Calibri" panose="020F0502020204030204" pitchFamily="34" charset="0"/>
              </a:rPr>
              <a:t>, Snowbound Travelers, International Travelers</a:t>
            </a:r>
            <a:endParaRPr lang="en" sz="100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" sz="140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>
                <a:solidFill>
                  <a:schemeClr val="tx1"/>
                </a:solidFill>
                <a:latin typeface="Century Gothic" panose="020B0502020202020204" pitchFamily="34" charset="0"/>
                <a:sym typeface="Montserrat"/>
              </a:rPr>
              <a:t>79.2* Mn</a:t>
            </a: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E3703B-B636-DEEF-086B-07FD5AF0165D}"/>
              </a:ext>
            </a:extLst>
          </p:cNvPr>
          <p:cNvCxnSpPr>
            <a:cxnSpLocks/>
          </p:cNvCxnSpPr>
          <p:nvPr/>
        </p:nvCxnSpPr>
        <p:spPr>
          <a:xfrm>
            <a:off x="8142481" y="2854271"/>
            <a:ext cx="960120" cy="4879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9CF55E-3DF8-76C0-8272-249483020C0D}"/>
              </a:ext>
            </a:extLst>
          </p:cNvPr>
          <p:cNvCxnSpPr>
            <a:cxnSpLocks/>
          </p:cNvCxnSpPr>
          <p:nvPr/>
        </p:nvCxnSpPr>
        <p:spPr>
          <a:xfrm>
            <a:off x="9102601" y="2903069"/>
            <a:ext cx="302625" cy="229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198E151-2DAD-780D-AD58-6D7E660C5A9A}"/>
              </a:ext>
            </a:extLst>
          </p:cNvPr>
          <p:cNvSpPr/>
          <p:nvPr/>
        </p:nvSpPr>
        <p:spPr>
          <a:xfrm>
            <a:off x="5489585" y="3303094"/>
            <a:ext cx="382821" cy="32696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32AE1D-FF70-CB65-CF76-0E897324DD3B}"/>
              </a:ext>
            </a:extLst>
          </p:cNvPr>
          <p:cNvSpPr txBox="1"/>
          <p:nvPr/>
        </p:nvSpPr>
        <p:spPr>
          <a:xfrm>
            <a:off x="779468" y="6345571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DV360 Reach Planner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, YouTube + Display India, Target Reach at 1+ | India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cs typeface="Arial"/>
                <a:sym typeface="Century Gothic"/>
              </a:rPr>
              <a:t>* Overall reach planned= 60.9*30%(duplication of platforms)</a:t>
            </a:r>
            <a:endParaRPr lang="en-US" sz="900" b="1" u="sng">
              <a:solidFill>
                <a:srgbClr val="191C1C"/>
              </a:solidFill>
              <a:latin typeface="Century 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5A189-87C8-4F68-9DDF-73B66B2800A0}"/>
              </a:ext>
            </a:extLst>
          </p:cNvPr>
          <p:cNvSpPr txBox="1"/>
          <p:nvPr/>
        </p:nvSpPr>
        <p:spPr>
          <a:xfrm>
            <a:off x="886878" y="1329953"/>
            <a:ext cx="3690621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>
                <a:ln>
                  <a:solidFill>
                    <a:schemeClr val="bg2">
                      <a:lumMod val="50000"/>
                    </a:schemeClr>
                  </a:solidFill>
                </a:ln>
              </a:rPr>
              <a:t>Budget- 8Cr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3AD881-3B67-7FDE-050E-C2CAA5F1D1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95"/>
          <a:stretch/>
        </p:blipFill>
        <p:spPr>
          <a:xfrm>
            <a:off x="828190" y="2148620"/>
            <a:ext cx="4572000" cy="25607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56265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Budget Distribution across channels – Option 3 – Targeting only Core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9102289-2D4C-61EC-513C-1A5A517C8CDB}"/>
              </a:ext>
            </a:extLst>
          </p:cNvPr>
          <p:cNvSpPr/>
          <p:nvPr/>
        </p:nvSpPr>
        <p:spPr>
          <a:xfrm>
            <a:off x="8375904" y="1719072"/>
            <a:ext cx="3311119" cy="390399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Higher investments in Display &amp; Video Auction buys due to Narrower Audience (Option3)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Basic Investment of 1.5 Cr on search would Cater towards Brand &amp; Generic segments.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Conservative spends on Display &amp; Video reserve considered for hygiene properties (Tech pack, Mastheads &amp; Tech + Lifestyle websites) to create impact on Launch &amp; Superday – Limited spends on DOOH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D1BD4A-425F-B278-655B-FE3A834C2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18893"/>
              </p:ext>
            </p:extLst>
          </p:nvPr>
        </p:nvGraphicFramePr>
        <p:xfrm>
          <a:off x="4906264" y="1719070"/>
          <a:ext cx="3098800" cy="390399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194541234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11874810"/>
                    </a:ext>
                  </a:extLst>
                </a:gridCol>
              </a:tblGrid>
              <a:tr h="3903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 Fold3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33736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537180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548929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38908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870679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534084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461719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Concurrency &amp; Webcasting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1,620,000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991376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 Serving &amp; Agency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2,280,000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17082"/>
                  </a:ext>
                </a:extLst>
              </a:tr>
              <a:tr h="3903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180717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E8BEC3-AB74-403C-A03E-6ED9471384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5583922"/>
              </p:ext>
            </p:extLst>
          </p:nvPr>
        </p:nvGraphicFramePr>
        <p:xfrm>
          <a:off x="641351" y="1719069"/>
          <a:ext cx="3894073" cy="3903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817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Channel Split Comparison - X100 TG vs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entury Gothic"/>
                <a:sym typeface="Century Gothic"/>
              </a:rPr>
              <a:t>Option 3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TG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E925C9D-54FD-C775-BF33-D5890980B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3189289"/>
              </p:ext>
            </p:extLst>
          </p:nvPr>
        </p:nvGraphicFramePr>
        <p:xfrm>
          <a:off x="6364493" y="798345"/>
          <a:ext cx="5113992" cy="240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71AD4DC-1241-C4F6-1B5F-5942D8B10F77}"/>
              </a:ext>
            </a:extLst>
          </p:cNvPr>
          <p:cNvSpPr/>
          <p:nvPr/>
        </p:nvSpPr>
        <p:spPr>
          <a:xfrm>
            <a:off x="521496" y="5288062"/>
            <a:ext cx="11033917" cy="12559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>
                <a:solidFill>
                  <a:schemeClr val="bg1"/>
                </a:solidFill>
              </a:rPr>
              <a:t>Compared to X100, for vivo X Fold3 we have: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>
                <a:solidFill>
                  <a:schemeClr val="bg1"/>
                </a:solidFill>
              </a:rPr>
              <a:t>Higher investment share on Display Reserve to create Impact on Launch &amp; Super Day via RB properties &amp; ROS Innovations.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>
                <a:solidFill>
                  <a:schemeClr val="bg1"/>
                </a:solidFill>
              </a:rPr>
              <a:t>Increased share on Video Auction slightly to generate higher intended views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>
                <a:solidFill>
                  <a:schemeClr val="bg1"/>
                </a:solidFill>
              </a:rPr>
              <a:t>Reduced budgets on Display &amp; Social auction due to narrower TG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>
                <a:solidFill>
                  <a:schemeClr val="bg1"/>
                </a:solidFill>
              </a:rPr>
              <a:t>Investments on Search lowered slightly due to limited Searches in “Fold” category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EA4BF7-A733-4609-BF23-ACFD24369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768624"/>
              </p:ext>
            </p:extLst>
          </p:nvPr>
        </p:nvGraphicFramePr>
        <p:xfrm>
          <a:off x="521495" y="798345"/>
          <a:ext cx="5113992" cy="2409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17DDB7-8B42-3976-D3D8-D209555BD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314577"/>
              </p:ext>
            </p:extLst>
          </p:nvPr>
        </p:nvGraphicFramePr>
        <p:xfrm>
          <a:off x="521495" y="3387154"/>
          <a:ext cx="5113992" cy="1663700"/>
        </p:xfrm>
        <a:graphic>
          <a:graphicData uri="http://schemas.openxmlformats.org/drawingml/2006/table">
            <a:tbl>
              <a:tblPr/>
              <a:tblGrid>
                <a:gridCol w="1857036">
                  <a:extLst>
                    <a:ext uri="{9D8B030D-6E8A-4147-A177-3AD203B41FA5}">
                      <a16:colId xmlns:a16="http://schemas.microsoft.com/office/drawing/2014/main" val="3995914354"/>
                    </a:ext>
                  </a:extLst>
                </a:gridCol>
                <a:gridCol w="1628478">
                  <a:extLst>
                    <a:ext uri="{9D8B030D-6E8A-4147-A177-3AD203B41FA5}">
                      <a16:colId xmlns:a16="http://schemas.microsoft.com/office/drawing/2014/main" val="225002512"/>
                    </a:ext>
                  </a:extLst>
                </a:gridCol>
                <a:gridCol w="1628478">
                  <a:extLst>
                    <a:ext uri="{9D8B030D-6E8A-4147-A177-3AD203B41FA5}">
                      <a16:colId xmlns:a16="http://schemas.microsoft.com/office/drawing/2014/main" val="150450609"/>
                    </a:ext>
                  </a:extLst>
                </a:gridCol>
              </a:tblGrid>
              <a:tr h="1206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14310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30,123,460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607692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35,361,764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497259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33,371,655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956016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8,381,483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99905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13,823,498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295338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19,902,515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805294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Concurrency &amp; Webcasting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1,620,000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571714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 Serving &amp; Agency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4,403,140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091910"/>
                  </a:ext>
                </a:extLst>
              </a:tr>
              <a:tr h="1261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146,987,515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1331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3359F3-ACA5-FF84-74E3-3BBC5B743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34161"/>
              </p:ext>
            </p:extLst>
          </p:nvPr>
        </p:nvGraphicFramePr>
        <p:xfrm>
          <a:off x="6364493" y="3387154"/>
          <a:ext cx="5113992" cy="1663700"/>
        </p:xfrm>
        <a:graphic>
          <a:graphicData uri="http://schemas.openxmlformats.org/drawingml/2006/table">
            <a:tbl>
              <a:tblPr/>
              <a:tblGrid>
                <a:gridCol w="1857036">
                  <a:extLst>
                    <a:ext uri="{9D8B030D-6E8A-4147-A177-3AD203B41FA5}">
                      <a16:colId xmlns:a16="http://schemas.microsoft.com/office/drawing/2014/main" val="2120219117"/>
                    </a:ext>
                  </a:extLst>
                </a:gridCol>
                <a:gridCol w="1628478">
                  <a:extLst>
                    <a:ext uri="{9D8B030D-6E8A-4147-A177-3AD203B41FA5}">
                      <a16:colId xmlns:a16="http://schemas.microsoft.com/office/drawing/2014/main" val="2183991682"/>
                    </a:ext>
                  </a:extLst>
                </a:gridCol>
                <a:gridCol w="1628478">
                  <a:extLst>
                    <a:ext uri="{9D8B030D-6E8A-4147-A177-3AD203B41FA5}">
                      <a16:colId xmlns:a16="http://schemas.microsoft.com/office/drawing/2014/main" val="4191015765"/>
                    </a:ext>
                  </a:extLst>
                </a:gridCol>
              </a:tblGrid>
              <a:tr h="1167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 Fold3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708058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531943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096338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827281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59374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910154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67210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Concurrency &amp; Webcasting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1,620,000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489532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 Serving &amp; Agency Fees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2,280,000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023140"/>
                  </a:ext>
                </a:extLst>
              </a:tr>
              <a:tr h="1167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61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803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Reach &amp; Frequency dispersion - Option 3 (8 Cr)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Forecasting 5+ Unique Reach of 36Mn+ for X Fold3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6D7A4DE-5136-8ABC-399D-D965BE214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677887"/>
              </p:ext>
            </p:extLst>
          </p:nvPr>
        </p:nvGraphicFramePr>
        <p:xfrm>
          <a:off x="317806" y="1570902"/>
          <a:ext cx="5597294" cy="374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88444DD-92D5-2021-B4C2-0689BDBAD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116846"/>
              </p:ext>
            </p:extLst>
          </p:nvPr>
        </p:nvGraphicFramePr>
        <p:xfrm>
          <a:off x="6290637" y="1549382"/>
          <a:ext cx="5597294" cy="374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22768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Budget Phasing - Option 3 8Cr (8 Cr)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7464A7-F987-1955-73F5-D99B71EE7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17289"/>
              </p:ext>
            </p:extLst>
          </p:nvPr>
        </p:nvGraphicFramePr>
        <p:xfrm>
          <a:off x="840677" y="850084"/>
          <a:ext cx="10714734" cy="5318941"/>
        </p:xfrm>
        <a:graphic>
          <a:graphicData uri="http://schemas.openxmlformats.org/drawingml/2006/table">
            <a:tbl>
              <a:tblPr/>
              <a:tblGrid>
                <a:gridCol w="1785789">
                  <a:extLst>
                    <a:ext uri="{9D8B030D-6E8A-4147-A177-3AD203B41FA5}">
                      <a16:colId xmlns:a16="http://schemas.microsoft.com/office/drawing/2014/main" val="1458892302"/>
                    </a:ext>
                  </a:extLst>
                </a:gridCol>
                <a:gridCol w="1785789">
                  <a:extLst>
                    <a:ext uri="{9D8B030D-6E8A-4147-A177-3AD203B41FA5}">
                      <a16:colId xmlns:a16="http://schemas.microsoft.com/office/drawing/2014/main" val="1363145263"/>
                    </a:ext>
                  </a:extLst>
                </a:gridCol>
                <a:gridCol w="1785789">
                  <a:extLst>
                    <a:ext uri="{9D8B030D-6E8A-4147-A177-3AD203B41FA5}">
                      <a16:colId xmlns:a16="http://schemas.microsoft.com/office/drawing/2014/main" val="3739341203"/>
                    </a:ext>
                  </a:extLst>
                </a:gridCol>
                <a:gridCol w="1785789">
                  <a:extLst>
                    <a:ext uri="{9D8B030D-6E8A-4147-A177-3AD203B41FA5}">
                      <a16:colId xmlns:a16="http://schemas.microsoft.com/office/drawing/2014/main" val="2234804514"/>
                    </a:ext>
                  </a:extLst>
                </a:gridCol>
                <a:gridCol w="1785789">
                  <a:extLst>
                    <a:ext uri="{9D8B030D-6E8A-4147-A177-3AD203B41FA5}">
                      <a16:colId xmlns:a16="http://schemas.microsoft.com/office/drawing/2014/main" val="3209828893"/>
                    </a:ext>
                  </a:extLst>
                </a:gridCol>
                <a:gridCol w="1785789">
                  <a:extLst>
                    <a:ext uri="{9D8B030D-6E8A-4147-A177-3AD203B41FA5}">
                      <a16:colId xmlns:a16="http://schemas.microsoft.com/office/drawing/2014/main" val="4249476554"/>
                    </a:ext>
                  </a:extLst>
                </a:gridCol>
              </a:tblGrid>
              <a:tr h="3136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X Fold3</a:t>
                      </a:r>
                    </a:p>
                  </a:txBody>
                  <a:tcPr marL="5178" marR="5178" marT="5178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PRE-BUZZ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8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LAUNCH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8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 PREBOOK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8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SUPER DAY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8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SUSTENANCE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9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94585"/>
                  </a:ext>
                </a:extLst>
              </a:tr>
              <a:tr h="54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Campaign Dates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20th May - 5th Jun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6th Jun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7th Jun - 12th Jun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13th Jun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14th June - 30th June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575615"/>
                  </a:ext>
                </a:extLst>
              </a:tr>
              <a:tr h="54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No. of Days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17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6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17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488181"/>
                  </a:ext>
                </a:extLst>
              </a:tr>
              <a:tr h="54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Budget Share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30%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24%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26%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9%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11%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69654"/>
                  </a:ext>
                </a:extLst>
              </a:tr>
              <a:tr h="54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Budget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2.4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1.9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2.1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0.7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0.9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990149"/>
                  </a:ext>
                </a:extLst>
              </a:tr>
              <a:tr h="5455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Per Day Spends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14 L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1.9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35 L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0.7 Cr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Vivo Office" panose="020B0604020202020204" charset="0"/>
                        </a:rPr>
                        <a:t>5 L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771832"/>
                  </a:ext>
                </a:extLst>
              </a:tr>
              <a:tr h="1138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Audiences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Core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Core</a:t>
                      </a:r>
                    </a:p>
                  </a:txBody>
                  <a:tcPr marL="5178" marR="5178" marT="517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Core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+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Remarketing</a:t>
                      </a:r>
                    </a:p>
                  </a:txBody>
                  <a:tcPr marL="5178" marR="5178" marT="5178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Focus on Core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+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Limited Remarketing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Remarketing Only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875310"/>
                  </a:ext>
                </a:extLst>
              </a:tr>
              <a:tr h="1138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TG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PAN INDIA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PAN INDIA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PAN INDIA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PAN INDIA 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OR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TOP CITIES (where Fold would be available)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PAN INDIA 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OR</a:t>
                      </a:r>
                      <a:b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</a:br>
                      <a:r>
                        <a:rPr lang="en-US" sz="1400" b="1" i="0" u="none" strike="noStrike">
                          <a:solidFill>
                            <a:srgbClr val="0A0F0D"/>
                          </a:solidFill>
                          <a:effectLst/>
                          <a:latin typeface="Vivo Office" panose="020B0604020202020204" charset="0"/>
                        </a:rPr>
                        <a:t>TOP CITIES (where Fold would be available)</a:t>
                      </a: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0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171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X Fold3 Tentative KPIs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349EB0-C627-5AE0-BE11-04CB45A581B8}"/>
              </a:ext>
            </a:extLst>
          </p:cNvPr>
          <p:cNvSpPr txBox="1"/>
          <p:nvPr/>
        </p:nvSpPr>
        <p:spPr>
          <a:xfrm>
            <a:off x="779468" y="6345571"/>
            <a:ext cx="10775945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900" b="1" i="1" u="sng">
                <a:solidFill>
                  <a:srgbClr val="191C1C"/>
                </a:solidFill>
                <a:latin typeface="Century Gothic"/>
                <a:sym typeface="Century Gothic"/>
              </a:rPr>
              <a:t>Only media metrics considered. (Ad Serving, Agency Fees, Concurrency &amp; Webcast are not included)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CFAD42-7830-F69B-8E2D-F322B51BF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960291"/>
              </p:ext>
            </p:extLst>
          </p:nvPr>
        </p:nvGraphicFramePr>
        <p:xfrm>
          <a:off x="779467" y="636105"/>
          <a:ext cx="10775946" cy="5532917"/>
        </p:xfrm>
        <a:graphic>
          <a:graphicData uri="http://schemas.openxmlformats.org/drawingml/2006/table">
            <a:tbl>
              <a:tblPr/>
              <a:tblGrid>
                <a:gridCol w="1795991">
                  <a:extLst>
                    <a:ext uri="{9D8B030D-6E8A-4147-A177-3AD203B41FA5}">
                      <a16:colId xmlns:a16="http://schemas.microsoft.com/office/drawing/2014/main" val="4049942674"/>
                    </a:ext>
                  </a:extLst>
                </a:gridCol>
                <a:gridCol w="1795991">
                  <a:extLst>
                    <a:ext uri="{9D8B030D-6E8A-4147-A177-3AD203B41FA5}">
                      <a16:colId xmlns:a16="http://schemas.microsoft.com/office/drawing/2014/main" val="1027072019"/>
                    </a:ext>
                  </a:extLst>
                </a:gridCol>
                <a:gridCol w="1795991">
                  <a:extLst>
                    <a:ext uri="{9D8B030D-6E8A-4147-A177-3AD203B41FA5}">
                      <a16:colId xmlns:a16="http://schemas.microsoft.com/office/drawing/2014/main" val="3741942944"/>
                    </a:ext>
                  </a:extLst>
                </a:gridCol>
                <a:gridCol w="1795991">
                  <a:extLst>
                    <a:ext uri="{9D8B030D-6E8A-4147-A177-3AD203B41FA5}">
                      <a16:colId xmlns:a16="http://schemas.microsoft.com/office/drawing/2014/main" val="2251224647"/>
                    </a:ext>
                  </a:extLst>
                </a:gridCol>
                <a:gridCol w="1795991">
                  <a:extLst>
                    <a:ext uri="{9D8B030D-6E8A-4147-A177-3AD203B41FA5}">
                      <a16:colId xmlns:a16="http://schemas.microsoft.com/office/drawing/2014/main" val="2234078905"/>
                    </a:ext>
                  </a:extLst>
                </a:gridCol>
                <a:gridCol w="1795991">
                  <a:extLst>
                    <a:ext uri="{9D8B030D-6E8A-4147-A177-3AD203B41FA5}">
                      <a16:colId xmlns:a16="http://schemas.microsoft.com/office/drawing/2014/main" val="2584189462"/>
                    </a:ext>
                  </a:extLst>
                </a:gridCol>
              </a:tblGrid>
              <a:tr h="1734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X80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X90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X100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Tentative KPI Deliverables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%delta compared to X100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59172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110,600,000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113,600,000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137,076,860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75,742,978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-45%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573004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Impressions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1,889,000,000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2,892,000,000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3,873,805,004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1,537,499,708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-60%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684177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Clicks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18,800,000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14,200,000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26,363,107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9,882,374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-63%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341031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Views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396,000,000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343,000,000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547,613,958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318,027,879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61266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CTR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109785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ECPM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40738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ECPV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014176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ECPC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5.88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4750" marR="4750" marT="47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516151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0" marR="4750" marT="47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700485"/>
                  </a:ext>
                </a:extLst>
              </a:tr>
              <a:tr h="18862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Channel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eCPM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eCPM variation vs X100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eCPM</a:t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 Fold3 Actual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eCPM variation vs X100 Actual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800077"/>
                  </a:ext>
                </a:extLst>
              </a:tr>
              <a:tr h="1886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X100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699318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4,009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4,916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Higher investments on Competition segment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496976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Higher investments on Instagram Placement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282711"/>
                  </a:ext>
                </a:extLst>
              </a:tr>
              <a:tr h="5463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Higher investments on CPV buy properties for Maximizing views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877439"/>
                  </a:ext>
                </a:extLst>
              </a:tr>
              <a:tr h="7284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eCPM properties like Truecaller/Sharechat/Moj/Casual Gaming inventories to be excluded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246090"/>
                  </a:ext>
                </a:extLst>
              </a:tr>
              <a:tr h="72847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Higher investments on high SOV  properties (YT select packs) compared to Google/CTV Masthead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606984"/>
                  </a:ext>
                </a:extLst>
              </a:tr>
              <a:tr h="364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Inclusion of DOOH &amp; premium placments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8833"/>
                  </a:ext>
                </a:extLst>
              </a:tr>
              <a:tr h="1886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4750" marR="4750" marT="47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4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701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X Fold3 Tentative QV Trend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215F1F-43AE-A632-AE92-E18D85D6D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942581"/>
              </p:ext>
            </p:extLst>
          </p:nvPr>
        </p:nvGraphicFramePr>
        <p:xfrm>
          <a:off x="429768" y="1929384"/>
          <a:ext cx="11137392" cy="4208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17EBDE-9B57-1D63-23B4-0549FE5628F5}"/>
              </a:ext>
            </a:extLst>
          </p:cNvPr>
          <p:cNvSpPr txBox="1"/>
          <p:nvPr/>
        </p:nvSpPr>
        <p:spPr>
          <a:xfrm>
            <a:off x="4844273" y="1082564"/>
            <a:ext cx="1052658" cy="4308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/>
              <a:t>X Fold 3 Launch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30622C-E5C3-B073-678D-CBA2F4EC8E17}"/>
              </a:ext>
            </a:extLst>
          </p:cNvPr>
          <p:cNvCxnSpPr>
            <a:cxnSpLocks/>
          </p:cNvCxnSpPr>
          <p:nvPr/>
        </p:nvCxnSpPr>
        <p:spPr>
          <a:xfrm>
            <a:off x="1309286" y="1631321"/>
            <a:ext cx="9368583" cy="22564"/>
          </a:xfrm>
          <a:prstGeom prst="straightConnector1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4C9B595-952A-B400-DB3F-0918ECC54142}"/>
              </a:ext>
            </a:extLst>
          </p:cNvPr>
          <p:cNvSpPr/>
          <p:nvPr/>
        </p:nvSpPr>
        <p:spPr>
          <a:xfrm>
            <a:off x="5287471" y="1483020"/>
            <a:ext cx="125690" cy="94268"/>
          </a:xfrm>
          <a:prstGeom prst="ellipse">
            <a:avLst/>
          </a:prstGeom>
          <a:solidFill>
            <a:srgbClr val="4A4AFF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426941-0001-132A-7E34-D74F133E9F48}"/>
              </a:ext>
            </a:extLst>
          </p:cNvPr>
          <p:cNvSpPr/>
          <p:nvPr/>
        </p:nvSpPr>
        <p:spPr>
          <a:xfrm>
            <a:off x="6741197" y="1514443"/>
            <a:ext cx="125690" cy="94268"/>
          </a:xfrm>
          <a:prstGeom prst="ellipse">
            <a:avLst/>
          </a:prstGeom>
          <a:solidFill>
            <a:srgbClr val="4A4AFF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65959-4BEA-74C7-0FA3-E706BE32F0C1}"/>
              </a:ext>
            </a:extLst>
          </p:cNvPr>
          <p:cNvSpPr txBox="1"/>
          <p:nvPr/>
        </p:nvSpPr>
        <p:spPr>
          <a:xfrm>
            <a:off x="6293424" y="1077240"/>
            <a:ext cx="1021236" cy="4308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/>
              <a:t>X Fold 3</a:t>
            </a:r>
          </a:p>
          <a:p>
            <a:pPr algn="ctr"/>
            <a:r>
              <a:rPr lang="en-US" sz="1100" b="1"/>
              <a:t>Superday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AECE3-13C0-2328-D0BA-15F83284896D}"/>
              </a:ext>
            </a:extLst>
          </p:cNvPr>
          <p:cNvSpPr txBox="1"/>
          <p:nvPr/>
        </p:nvSpPr>
        <p:spPr>
          <a:xfrm>
            <a:off x="7598930" y="1252833"/>
            <a:ext cx="1791092" cy="26161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/>
              <a:t>Sustenance phase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00E6D-40A2-87B1-0FEC-D67381106177}"/>
              </a:ext>
            </a:extLst>
          </p:cNvPr>
          <p:cNvSpPr txBox="1"/>
          <p:nvPr/>
        </p:nvSpPr>
        <p:spPr>
          <a:xfrm>
            <a:off x="2331121" y="1281242"/>
            <a:ext cx="895546" cy="26161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/>
              <a:t>Prebuzz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26BC29-5CC2-8DD4-44FF-EE71A1798DFF}"/>
              </a:ext>
            </a:extLst>
          </p:cNvPr>
          <p:cNvCxnSpPr>
            <a:cxnSpLocks/>
          </p:cNvCxnSpPr>
          <p:nvPr/>
        </p:nvCxnSpPr>
        <p:spPr>
          <a:xfrm>
            <a:off x="1082093" y="1636643"/>
            <a:ext cx="10224180" cy="15889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888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Search</a:t>
            </a:r>
            <a:br>
              <a:rPr lang="en-US" sz="2800" b="1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</a:br>
            <a:r>
              <a:rPr lang="en-US" sz="2000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Prioritize targeting competition to capture existing searches</a:t>
            </a:r>
            <a:endParaRPr kumimoji="0" lang="en-US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FAD67DA-8961-8752-C03A-33024360A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738893"/>
              </p:ext>
            </p:extLst>
          </p:nvPr>
        </p:nvGraphicFramePr>
        <p:xfrm>
          <a:off x="609344" y="1751683"/>
          <a:ext cx="10935941" cy="3635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9A1B505-8D4D-4020-B3FD-A300844F3BE5}"/>
              </a:ext>
            </a:extLst>
          </p:cNvPr>
          <p:cNvSpPr txBox="1"/>
          <p:nvPr/>
        </p:nvSpPr>
        <p:spPr>
          <a:xfrm>
            <a:off x="396240" y="5872480"/>
            <a:ext cx="5181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*Competition- Samsung, OP, iPhone</a:t>
            </a:r>
          </a:p>
          <a:p>
            <a:r>
              <a:rPr lang="en-US"/>
              <a:t>*Generic- All foldables and ASP 70K+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309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Display &amp; Video Auction Approach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C404C-E6ED-D5EE-893E-DA6D048F0DD2}"/>
              </a:ext>
            </a:extLst>
          </p:cNvPr>
          <p:cNvSpPr/>
          <p:nvPr/>
        </p:nvSpPr>
        <p:spPr>
          <a:xfrm>
            <a:off x="1322431" y="2118961"/>
            <a:ext cx="2910348" cy="7528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Video Auction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(55%)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91930-C610-E0CC-36AF-85E928F00C6C}"/>
              </a:ext>
            </a:extLst>
          </p:cNvPr>
          <p:cNvSpPr/>
          <p:nvPr/>
        </p:nvSpPr>
        <p:spPr>
          <a:xfrm>
            <a:off x="4640826" y="2129075"/>
            <a:ext cx="2910348" cy="7528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Display Auction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(20%)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D3383-C6B3-856E-3F7A-AC2AD7C7BEBF}"/>
              </a:ext>
            </a:extLst>
          </p:cNvPr>
          <p:cNvSpPr/>
          <p:nvPr/>
        </p:nvSpPr>
        <p:spPr>
          <a:xfrm>
            <a:off x="7959209" y="2118959"/>
            <a:ext cx="2910348" cy="752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Remarketing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(25%)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5AA04C-1B2E-82A8-2B0A-2F7DE344B574}"/>
              </a:ext>
            </a:extLst>
          </p:cNvPr>
          <p:cNvSpPr/>
          <p:nvPr/>
        </p:nvSpPr>
        <p:spPr>
          <a:xfrm>
            <a:off x="1322427" y="2945768"/>
            <a:ext cx="1371222" cy="752848"/>
          </a:xfrm>
          <a:prstGeom prst="rect">
            <a:avLst/>
          </a:prstGeom>
          <a:solidFill>
            <a:srgbClr val="944F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YouTube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(Audience)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7B424-CDC5-F828-B50A-8336C93C9108}"/>
              </a:ext>
            </a:extLst>
          </p:cNvPr>
          <p:cNvSpPr/>
          <p:nvPr/>
        </p:nvSpPr>
        <p:spPr>
          <a:xfrm>
            <a:off x="2861552" y="2955598"/>
            <a:ext cx="1371222" cy="752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CTV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(Placement)</a:t>
            </a:r>
            <a:br>
              <a:rPr lang="en-US" sz="1200" b="1">
                <a:solidFill>
                  <a:schemeClr val="bg1"/>
                </a:solidFill>
              </a:rPr>
            </a:b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C9AE20-1169-9E8C-28E6-5DF7FE7CA257}"/>
              </a:ext>
            </a:extLst>
          </p:cNvPr>
          <p:cNvSpPr/>
          <p:nvPr/>
        </p:nvSpPr>
        <p:spPr>
          <a:xfrm>
            <a:off x="4640821" y="2965715"/>
            <a:ext cx="1371222" cy="752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Audience</a:t>
            </a:r>
            <a:br>
              <a:rPr lang="en-US" sz="1200" b="1">
                <a:solidFill>
                  <a:schemeClr val="bg1"/>
                </a:solidFill>
              </a:rPr>
            </a:b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C63C7F-79DA-F5C2-4C0A-8B32ECA055DA}"/>
              </a:ext>
            </a:extLst>
          </p:cNvPr>
          <p:cNvSpPr/>
          <p:nvPr/>
        </p:nvSpPr>
        <p:spPr>
          <a:xfrm>
            <a:off x="6179948" y="2955883"/>
            <a:ext cx="1371222" cy="752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Placement</a:t>
            </a:r>
            <a:br>
              <a:rPr lang="en-US" sz="1200" b="1">
                <a:solidFill>
                  <a:schemeClr val="bg1"/>
                </a:solidFill>
              </a:rPr>
            </a:b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5E374-5D8D-F98E-8BD3-F3FFEA4D06D8}"/>
              </a:ext>
            </a:extLst>
          </p:cNvPr>
          <p:cNvSpPr/>
          <p:nvPr/>
        </p:nvSpPr>
        <p:spPr>
          <a:xfrm>
            <a:off x="7959204" y="2965432"/>
            <a:ext cx="1371222" cy="752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Display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94C60-9D80-BCA2-73C0-1D4C5122A305}"/>
              </a:ext>
            </a:extLst>
          </p:cNvPr>
          <p:cNvSpPr/>
          <p:nvPr/>
        </p:nvSpPr>
        <p:spPr>
          <a:xfrm>
            <a:off x="9498331" y="2955598"/>
            <a:ext cx="1371222" cy="752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YouTube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9645E0-B016-DA2B-AE10-FD8B49461577}"/>
              </a:ext>
            </a:extLst>
          </p:cNvPr>
          <p:cNvSpPr/>
          <p:nvPr/>
        </p:nvSpPr>
        <p:spPr>
          <a:xfrm>
            <a:off x="1322426" y="3811905"/>
            <a:ext cx="1371222" cy="752848"/>
          </a:xfrm>
          <a:prstGeom prst="rect">
            <a:avLst/>
          </a:prstGeom>
          <a:solidFill>
            <a:srgbClr val="944F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YT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E09AD1-EDB9-D0F4-E0AC-5241041BCC17}"/>
              </a:ext>
            </a:extLst>
          </p:cNvPr>
          <p:cNvSpPr/>
          <p:nvPr/>
        </p:nvSpPr>
        <p:spPr>
          <a:xfrm>
            <a:off x="2861551" y="3821735"/>
            <a:ext cx="1371222" cy="752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YT + OTT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03F01F-EDD3-90E5-10F3-ED4F61CD187A}"/>
              </a:ext>
            </a:extLst>
          </p:cNvPr>
          <p:cNvSpPr/>
          <p:nvPr/>
        </p:nvSpPr>
        <p:spPr>
          <a:xfrm>
            <a:off x="1322431" y="1543862"/>
            <a:ext cx="9547122" cy="5125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</a:rPr>
              <a:t>TARGETING 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B41A6D-1EB2-7BF7-0FF4-4ED93BFD3594}"/>
              </a:ext>
            </a:extLst>
          </p:cNvPr>
          <p:cNvSpPr/>
          <p:nvPr/>
        </p:nvSpPr>
        <p:spPr>
          <a:xfrm>
            <a:off x="4640821" y="3822022"/>
            <a:ext cx="1371222" cy="752848"/>
          </a:xfrm>
          <a:prstGeom prst="rect">
            <a:avLst/>
          </a:prstGeom>
          <a:solidFill>
            <a:srgbClr val="944F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Standard Banners</a:t>
            </a:r>
            <a:br>
              <a:rPr lang="en-US" sz="1200" b="1">
                <a:solidFill>
                  <a:schemeClr val="bg1"/>
                </a:solidFill>
              </a:rPr>
            </a:b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7B3335-FD72-A8B2-746D-416F42CE32AC}"/>
              </a:ext>
            </a:extLst>
          </p:cNvPr>
          <p:cNvSpPr/>
          <p:nvPr/>
        </p:nvSpPr>
        <p:spPr>
          <a:xfrm>
            <a:off x="6179948" y="3822021"/>
            <a:ext cx="1371222" cy="752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Rich media Banners</a:t>
            </a:r>
            <a:br>
              <a:rPr lang="en-US" sz="1200" b="1">
                <a:solidFill>
                  <a:schemeClr val="bg1"/>
                </a:solidFill>
              </a:rPr>
            </a:b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B95CEA-2603-F9B7-544F-A12E1495F897}"/>
              </a:ext>
            </a:extLst>
          </p:cNvPr>
          <p:cNvSpPr/>
          <p:nvPr/>
        </p:nvSpPr>
        <p:spPr>
          <a:xfrm>
            <a:off x="1322431" y="4942142"/>
            <a:ext cx="2910347" cy="3036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Reach Builder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86A42E-0255-20B2-DF8D-15CFD3C577CF}"/>
              </a:ext>
            </a:extLst>
          </p:cNvPr>
          <p:cNvSpPr/>
          <p:nvPr/>
        </p:nvSpPr>
        <p:spPr>
          <a:xfrm>
            <a:off x="1322431" y="5297387"/>
            <a:ext cx="2910347" cy="3036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200" b="1">
                <a:solidFill>
                  <a:schemeClr val="bg1"/>
                </a:solidFill>
              </a:rPr>
              <a:t>Frequency Builder</a:t>
            </a:r>
          </a:p>
        </p:txBody>
      </p:sp>
    </p:spTree>
    <p:extLst>
      <p:ext uri="{BB962C8B-B14F-4D97-AF65-F5344CB8AC3E}">
        <p14:creationId xmlns:p14="http://schemas.microsoft.com/office/powerpoint/2010/main" val="2122679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Innovations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94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212395-536E-9EB9-7936-A444ED4297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E1E9C2-E605-03C3-17BD-9AAF8845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Unfolding Innovations for vivo Fold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D0C33-EE10-D988-2632-1A878AE3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78C0D01-1BCC-5F27-7133-5F67746D4821}"/>
              </a:ext>
            </a:extLst>
          </p:cNvPr>
          <p:cNvSpPr txBox="1">
            <a:spLocks/>
          </p:cNvSpPr>
          <p:nvPr/>
        </p:nvSpPr>
        <p:spPr>
          <a:xfrm>
            <a:off x="1024951" y="2372036"/>
            <a:ext cx="3658653" cy="857989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/>
              <a:t>DIGITAL DRIVEN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0FC349-59B6-F199-3887-FFE257C93D99}"/>
              </a:ext>
            </a:extLst>
          </p:cNvPr>
          <p:cNvSpPr txBox="1">
            <a:spLocks/>
          </p:cNvSpPr>
          <p:nvPr/>
        </p:nvSpPr>
        <p:spPr>
          <a:xfrm>
            <a:off x="2890591" y="3348222"/>
            <a:ext cx="1793013" cy="4970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 sz="1400"/>
              <a:t>Innovative/ Sharp Targeting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1415EA0-D0B4-BE1F-A66A-17209440CF9C}"/>
              </a:ext>
            </a:extLst>
          </p:cNvPr>
          <p:cNvSpPr txBox="1">
            <a:spLocks/>
          </p:cNvSpPr>
          <p:nvPr/>
        </p:nvSpPr>
        <p:spPr>
          <a:xfrm>
            <a:off x="1024951" y="3355622"/>
            <a:ext cx="1682368" cy="49704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 sz="1400"/>
              <a:t>Innovative Ad formats</a:t>
            </a:r>
          </a:p>
        </p:txBody>
      </p:sp>
    </p:spTree>
    <p:extLst>
      <p:ext uri="{BB962C8B-B14F-4D97-AF65-F5344CB8AC3E}">
        <p14:creationId xmlns:p14="http://schemas.microsoft.com/office/powerpoint/2010/main" val="32884796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Premium Placements </a:t>
            </a:r>
          </a:p>
        </p:txBody>
      </p:sp>
      <p:pic>
        <p:nvPicPr>
          <p:cNvPr id="11" name="Picture 8" descr="GQ - YouTube">
            <a:extLst>
              <a:ext uri="{FF2B5EF4-FFF2-40B4-BE49-F238E27FC236}">
                <a16:creationId xmlns:a16="http://schemas.microsoft.com/office/drawing/2014/main" id="{B4D2B46B-C355-0E36-646C-E818998D2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70" y="1319107"/>
            <a:ext cx="721635" cy="70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Vogue Logo PNG vector in SVG, PDF, AI, CDR format">
            <a:extLst>
              <a:ext uri="{FF2B5EF4-FFF2-40B4-BE49-F238E27FC236}">
                <a16:creationId xmlns:a16="http://schemas.microsoft.com/office/drawing/2014/main" id="{B7271182-8D97-16F4-3F24-2AF9DD04DE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77" b="31120"/>
          <a:stretch/>
        </p:blipFill>
        <p:spPr bwMode="auto">
          <a:xfrm>
            <a:off x="8559827" y="1364283"/>
            <a:ext cx="1931541" cy="59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Condé Nast Traveler - Wikipedia">
            <a:extLst>
              <a:ext uri="{FF2B5EF4-FFF2-40B4-BE49-F238E27FC236}">
                <a16:creationId xmlns:a16="http://schemas.microsoft.com/office/drawing/2014/main" id="{CED2FD53-D0DA-02D9-947A-214CB83EB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537" y="1475109"/>
            <a:ext cx="909919" cy="39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0EB6CD3-EACB-0C5B-403D-5671982EF029}"/>
              </a:ext>
            </a:extLst>
          </p:cNvPr>
          <p:cNvSpPr/>
          <p:nvPr/>
        </p:nvSpPr>
        <p:spPr>
          <a:xfrm>
            <a:off x="779463" y="939826"/>
            <a:ext cx="10699022" cy="428599"/>
          </a:xfrm>
          <a:prstGeom prst="rect">
            <a:avLst/>
          </a:prstGeom>
          <a:solidFill>
            <a:srgbClr val="D8CFCE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Premium News Websites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0732F-A11C-F339-D2DA-ADA048B5C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038" y="2254978"/>
            <a:ext cx="5163291" cy="2215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CBE668-2C8E-9238-E120-149D2B31D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207" y="2658533"/>
            <a:ext cx="4955841" cy="187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67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212395-536E-9EB9-7936-A444ED4297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E1E9C2-E605-03C3-17BD-9AAF8845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Unfolding Innovations for vivo Fold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D0C33-EE10-D988-2632-1A878AE3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78C0D01-1BCC-5F27-7133-5F67746D4821}"/>
              </a:ext>
            </a:extLst>
          </p:cNvPr>
          <p:cNvSpPr txBox="1">
            <a:spLocks/>
          </p:cNvSpPr>
          <p:nvPr/>
        </p:nvSpPr>
        <p:spPr>
          <a:xfrm>
            <a:off x="953831" y="2170421"/>
            <a:ext cx="3658653" cy="857989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/>
              <a:t>DIGITAL DRIVEN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0FC349-59B6-F199-3887-FFE257C93D99}"/>
              </a:ext>
            </a:extLst>
          </p:cNvPr>
          <p:cNvSpPr txBox="1">
            <a:spLocks/>
          </p:cNvSpPr>
          <p:nvPr/>
        </p:nvSpPr>
        <p:spPr>
          <a:xfrm>
            <a:off x="2819471" y="3146607"/>
            <a:ext cx="1793013" cy="49704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 sz="1400"/>
              <a:t>Innovative/ Sharp Targeting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1415EA0-D0B4-BE1F-A66A-17209440CF9C}"/>
              </a:ext>
            </a:extLst>
          </p:cNvPr>
          <p:cNvSpPr txBox="1">
            <a:spLocks/>
          </p:cNvSpPr>
          <p:nvPr/>
        </p:nvSpPr>
        <p:spPr>
          <a:xfrm>
            <a:off x="953831" y="3154007"/>
            <a:ext cx="1682368" cy="4970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36370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None/>
              <a:tabLst/>
              <a:defRPr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56400" indent="-356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0400" indent="-320400" algn="l" defTabSz="36370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⏤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55" indent="0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0180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2032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3883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5734" indent="-90926" algn="l" defTabSz="363702" rtl="0" eaLnBrk="1" latinLnBrk="0" hangingPunct="1">
              <a:lnSpc>
                <a:spcPct val="90000"/>
              </a:lnSpc>
              <a:spcBef>
                <a:spcPts val="199"/>
              </a:spcBef>
              <a:buFont typeface="Arial"/>
              <a:buChar char="•"/>
              <a:defRPr sz="71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</a:pPr>
            <a:r>
              <a:rPr lang="en-US" sz="1400"/>
              <a:t>Innovative Ad formats</a:t>
            </a:r>
          </a:p>
        </p:txBody>
      </p:sp>
    </p:spTree>
    <p:extLst>
      <p:ext uri="{BB962C8B-B14F-4D97-AF65-F5344CB8AC3E}">
        <p14:creationId xmlns:p14="http://schemas.microsoft.com/office/powerpoint/2010/main" val="2417586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D01E-023F-FB3A-A306-50AB4964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American Express® Platinum Card - Features, Benefits, Eligibility, Fees">
            <a:extLst>
              <a:ext uri="{FF2B5EF4-FFF2-40B4-BE49-F238E27FC236}">
                <a16:creationId xmlns:a16="http://schemas.microsoft.com/office/drawing/2014/main" id="{5D711972-2A02-4813-989B-7BAB53D66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903" y="1819531"/>
            <a:ext cx="1596020" cy="101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EFBF0B-6C12-FCCD-F454-AC9A0CF15371}"/>
              </a:ext>
            </a:extLst>
          </p:cNvPr>
          <p:cNvSpPr txBox="1"/>
          <p:nvPr/>
        </p:nvSpPr>
        <p:spPr>
          <a:xfrm>
            <a:off x="240103" y="-548875"/>
            <a:ext cx="702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Reaching out to the </a:t>
            </a:r>
            <a:r>
              <a:rPr lang="en-US" sz="2000" b="1"/>
              <a:t>Premium</a:t>
            </a:r>
            <a:endParaRPr lang="en-IN" sz="2000" b="1"/>
          </a:p>
        </p:txBody>
      </p:sp>
      <p:pic>
        <p:nvPicPr>
          <p:cNvPr id="1026" name="Picture 2" descr="PVR - The Luxury Collection | Facebook">
            <a:extLst>
              <a:ext uri="{FF2B5EF4-FFF2-40B4-BE49-F238E27FC236}">
                <a16:creationId xmlns:a16="http://schemas.microsoft.com/office/drawing/2014/main" id="{486EDCAA-6968-17E7-9F81-BCFCE7AD7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" y="1444725"/>
            <a:ext cx="1591417" cy="159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 6 Expensive Luxury Societies to Live in Gurgaon">
            <a:extLst>
              <a:ext uri="{FF2B5EF4-FFF2-40B4-BE49-F238E27FC236}">
                <a16:creationId xmlns:a16="http://schemas.microsoft.com/office/drawing/2014/main" id="{D1132DF9-CA83-2E4B-B929-4A2BEE35E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518" y="1531309"/>
            <a:ext cx="2587093" cy="123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ber Explores UberBLACK Premium Cab Rides in India, Again | Technology News">
            <a:extLst>
              <a:ext uri="{FF2B5EF4-FFF2-40B4-BE49-F238E27FC236}">
                <a16:creationId xmlns:a16="http://schemas.microsoft.com/office/drawing/2014/main" id="{42CDA38F-D577-B98A-B468-C3627B308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264" y="1019526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ive Star Hotels Cliparts, Stock Vector and Royalty Free Five Star Hotels  Illustrations">
            <a:extLst>
              <a:ext uri="{FF2B5EF4-FFF2-40B4-BE49-F238E27FC236}">
                <a16:creationId xmlns:a16="http://schemas.microsoft.com/office/drawing/2014/main" id="{C2983128-CAFF-5F4D-A658-F116A7677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790" y="1444347"/>
            <a:ext cx="1546203" cy="87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6D70EE-3158-7A28-AC45-91268057DB9E}"/>
              </a:ext>
            </a:extLst>
          </p:cNvPr>
          <p:cNvCxnSpPr>
            <a:cxnSpLocks/>
          </p:cNvCxnSpPr>
          <p:nvPr/>
        </p:nvCxnSpPr>
        <p:spPr>
          <a:xfrm>
            <a:off x="932833" y="3081524"/>
            <a:ext cx="0" cy="197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3510F1-275F-1B3F-F64B-7D4FEEFB4432}"/>
              </a:ext>
            </a:extLst>
          </p:cNvPr>
          <p:cNvCxnSpPr>
            <a:cxnSpLocks/>
          </p:cNvCxnSpPr>
          <p:nvPr/>
        </p:nvCxnSpPr>
        <p:spPr>
          <a:xfrm>
            <a:off x="3341064" y="2987344"/>
            <a:ext cx="0" cy="197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8B071A-44B1-4F98-83AE-F802209ABB0D}"/>
              </a:ext>
            </a:extLst>
          </p:cNvPr>
          <p:cNvCxnSpPr>
            <a:cxnSpLocks/>
          </p:cNvCxnSpPr>
          <p:nvPr/>
        </p:nvCxnSpPr>
        <p:spPr>
          <a:xfrm>
            <a:off x="6503792" y="2886315"/>
            <a:ext cx="0" cy="197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2DEE0A-0C79-9386-7630-3066C77DF6F4}"/>
              </a:ext>
            </a:extLst>
          </p:cNvPr>
          <p:cNvCxnSpPr>
            <a:cxnSpLocks/>
          </p:cNvCxnSpPr>
          <p:nvPr/>
        </p:nvCxnSpPr>
        <p:spPr>
          <a:xfrm>
            <a:off x="11350315" y="2886314"/>
            <a:ext cx="0" cy="197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0" name="Picture 16" descr="BookMyShow Coupon &amp; Promo Codes: BUY 1 GET 1 FREE | March 2024">
            <a:extLst>
              <a:ext uri="{FF2B5EF4-FFF2-40B4-BE49-F238E27FC236}">
                <a16:creationId xmlns:a16="http://schemas.microsoft.com/office/drawing/2014/main" id="{B763AB0F-AC8B-6429-60B4-429CCF8D7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1" y="5396685"/>
            <a:ext cx="1486192" cy="43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an you use Paytm wallet after February 29? Here's what all Paytm users  need to know - The Economic Times">
            <a:extLst>
              <a:ext uri="{FF2B5EF4-FFF2-40B4-BE49-F238E27FC236}">
                <a16:creationId xmlns:a16="http://schemas.microsoft.com/office/drawing/2014/main" id="{4195CF01-5BFA-D740-EFA9-E608384AA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6" y="5923745"/>
            <a:ext cx="827529" cy="82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MyGate - Frequently Asked Questions">
            <a:extLst>
              <a:ext uri="{FF2B5EF4-FFF2-40B4-BE49-F238E27FC236}">
                <a16:creationId xmlns:a16="http://schemas.microsoft.com/office/drawing/2014/main" id="{15569A32-BCCC-79F6-68D4-BDFD37FCD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299" y="5183723"/>
            <a:ext cx="827529" cy="67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NoBrokerHood: Ultimate Apartment &amp; Society Management App">
            <a:extLst>
              <a:ext uri="{FF2B5EF4-FFF2-40B4-BE49-F238E27FC236}">
                <a16:creationId xmlns:a16="http://schemas.microsoft.com/office/drawing/2014/main" id="{95230044-B5CA-733E-FF35-69E26DAC9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828" y="5917862"/>
            <a:ext cx="908470" cy="48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Uber Design – Medium">
            <a:extLst>
              <a:ext uri="{FF2B5EF4-FFF2-40B4-BE49-F238E27FC236}">
                <a16:creationId xmlns:a16="http://schemas.microsoft.com/office/drawing/2014/main" id="{34311A85-C47F-12C1-FCE7-79E13CE51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003" y="4954896"/>
            <a:ext cx="883578" cy="88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iCubesWire | LinkedIn">
            <a:extLst>
              <a:ext uri="{FF2B5EF4-FFF2-40B4-BE49-F238E27FC236}">
                <a16:creationId xmlns:a16="http://schemas.microsoft.com/office/drawing/2014/main" id="{F5716937-A5CE-6CAA-A688-1E69043B9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281" y="4325647"/>
            <a:ext cx="1678480" cy="159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IntellectAds - India's Fastest Growing Digital Media Platform">
            <a:extLst>
              <a:ext uri="{FF2B5EF4-FFF2-40B4-BE49-F238E27FC236}">
                <a16:creationId xmlns:a16="http://schemas.microsoft.com/office/drawing/2014/main" id="{88DA7784-C0A8-082A-925A-A16A08132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856" y="5396685"/>
            <a:ext cx="1701689" cy="38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utoShape 32" descr="What is Gourmet Food? - Chenab Gourmet">
            <a:extLst>
              <a:ext uri="{FF2B5EF4-FFF2-40B4-BE49-F238E27FC236}">
                <a16:creationId xmlns:a16="http://schemas.microsoft.com/office/drawing/2014/main" id="{BE5CE8A5-7539-4BED-113E-B6FB9CC94D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0" name="Picture 36" descr="The Definition of Gourmet: Food, People, and Places">
            <a:extLst>
              <a:ext uri="{FF2B5EF4-FFF2-40B4-BE49-F238E27FC236}">
                <a16:creationId xmlns:a16="http://schemas.microsoft.com/office/drawing/2014/main" id="{166F4855-9CBE-C0B8-5279-9D56211F8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255" y="1510117"/>
            <a:ext cx="1894705" cy="130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zomato (@zomato) / X">
            <a:extLst>
              <a:ext uri="{FF2B5EF4-FFF2-40B4-BE49-F238E27FC236}">
                <a16:creationId xmlns:a16="http://schemas.microsoft.com/office/drawing/2014/main" id="{B365F9CA-CE06-A887-96F7-79F6A7D2B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169" y="5131599"/>
            <a:ext cx="908470" cy="90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Ola Cabs - Wikipedia">
            <a:extLst>
              <a:ext uri="{FF2B5EF4-FFF2-40B4-BE49-F238E27FC236}">
                <a16:creationId xmlns:a16="http://schemas.microsoft.com/office/drawing/2014/main" id="{5582E470-430E-6390-2EBC-83A489CC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002" y="5738428"/>
            <a:ext cx="883579" cy="3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19337A8-E17F-E588-DD1E-46EF8AA725D6}"/>
              </a:ext>
            </a:extLst>
          </p:cNvPr>
          <p:cNvSpPr/>
          <p:nvPr/>
        </p:nvSpPr>
        <p:spPr>
          <a:xfrm>
            <a:off x="59221" y="842605"/>
            <a:ext cx="1591417" cy="4725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PVR GOLD 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50B41F-05DF-FC08-26AA-319E1166AB88}"/>
              </a:ext>
            </a:extLst>
          </p:cNvPr>
          <p:cNvSpPr/>
          <p:nvPr/>
        </p:nvSpPr>
        <p:spPr>
          <a:xfrm>
            <a:off x="1948856" y="842606"/>
            <a:ext cx="2822610" cy="495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Premium societies and localities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F8E587-6CB2-EAD3-E4BE-3902629E6288}"/>
              </a:ext>
            </a:extLst>
          </p:cNvPr>
          <p:cNvSpPr/>
          <p:nvPr/>
        </p:nvSpPr>
        <p:spPr>
          <a:xfrm>
            <a:off x="4966510" y="831176"/>
            <a:ext cx="2822610" cy="4953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Premium Cabs - Hyperlocal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A50F9D-C210-189E-A3DE-A4E471A40F1D}"/>
              </a:ext>
            </a:extLst>
          </p:cNvPr>
          <p:cNvSpPr/>
          <p:nvPr/>
        </p:nvSpPr>
        <p:spPr>
          <a:xfrm>
            <a:off x="7937810" y="864580"/>
            <a:ext cx="1894705" cy="4505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 star hotels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D647F2-2281-8AA2-0341-30C5DFF97926}"/>
              </a:ext>
            </a:extLst>
          </p:cNvPr>
          <p:cNvSpPr/>
          <p:nvPr/>
        </p:nvSpPr>
        <p:spPr>
          <a:xfrm>
            <a:off x="10002003" y="875701"/>
            <a:ext cx="1894705" cy="4505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Gourmet Food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56626C-797E-BAB3-EE26-EC788304C2EC}"/>
              </a:ext>
            </a:extLst>
          </p:cNvPr>
          <p:cNvCxnSpPr>
            <a:cxnSpLocks/>
          </p:cNvCxnSpPr>
          <p:nvPr/>
        </p:nvCxnSpPr>
        <p:spPr>
          <a:xfrm>
            <a:off x="8972759" y="2886314"/>
            <a:ext cx="0" cy="1973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236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Premium Experiences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E0C986-B0F3-2A40-ADB7-DC6C8D056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40188"/>
              </p:ext>
            </p:extLst>
          </p:nvPr>
        </p:nvGraphicFramePr>
        <p:xfrm>
          <a:off x="281229" y="828366"/>
          <a:ext cx="11368227" cy="556501"/>
        </p:xfrm>
        <a:graphic>
          <a:graphicData uri="http://schemas.openxmlformats.org/drawingml/2006/table">
            <a:tbl>
              <a:tblPr/>
              <a:tblGrid>
                <a:gridCol w="2668698">
                  <a:extLst>
                    <a:ext uri="{9D8B030D-6E8A-4147-A177-3AD203B41FA5}">
                      <a16:colId xmlns:a16="http://schemas.microsoft.com/office/drawing/2014/main" val="2203119396"/>
                    </a:ext>
                  </a:extLst>
                </a:gridCol>
                <a:gridCol w="5798548">
                  <a:extLst>
                    <a:ext uri="{9D8B030D-6E8A-4147-A177-3AD203B41FA5}">
                      <a16:colId xmlns:a16="http://schemas.microsoft.com/office/drawing/2014/main" val="3121834586"/>
                    </a:ext>
                  </a:extLst>
                </a:gridCol>
                <a:gridCol w="2900981">
                  <a:extLst>
                    <a:ext uri="{9D8B030D-6E8A-4147-A177-3AD203B41FA5}">
                      <a16:colId xmlns:a16="http://schemas.microsoft.com/office/drawing/2014/main" val="3360349392"/>
                    </a:ext>
                  </a:extLst>
                </a:gridCol>
              </a:tblGrid>
              <a:tr h="556501">
                <a:tc>
                  <a:txBody>
                    <a:bodyPr/>
                    <a:lstStyle/>
                    <a:p>
                      <a:pPr algn="ctr"/>
                      <a:r>
                        <a:rPr lang="en-IN" sz="1100" b="1" u="sng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Premium websites and Apps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Zomato , Book my show , Intellect ads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5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5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5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Zomato , PVR Gold + </a:t>
                      </a:r>
                      <a:endParaRPr lang="en-IN" sz="1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5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5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49936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9451D79-6DE9-A02E-C803-99944D176629}"/>
              </a:ext>
            </a:extLst>
          </p:cNvPr>
          <p:cNvSpPr/>
          <p:nvPr/>
        </p:nvSpPr>
        <p:spPr>
          <a:xfrm>
            <a:off x="6510395" y="3134849"/>
            <a:ext cx="4951893" cy="111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Key Features of the Product to be highlighted</a:t>
            </a:r>
          </a:p>
          <a:p>
            <a:endParaRPr lang="en-US" sz="1100" b="1">
              <a:solidFill>
                <a:schemeClr val="tx1"/>
              </a:solidFill>
            </a:endParaRPr>
          </a:p>
          <a:p>
            <a:pPr marL="171450" indent="-171450">
              <a:buChar char="•"/>
            </a:pPr>
            <a:r>
              <a:rPr lang="en-US" sz="1100">
                <a:solidFill>
                  <a:schemeClr val="tx1"/>
                </a:solidFill>
              </a:rPr>
              <a:t>Brand RTBs &amp; USPs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7DF090-3E0C-10CB-7E5F-BB14ED48AF43}"/>
              </a:ext>
            </a:extLst>
          </p:cNvPr>
          <p:cNvSpPr/>
          <p:nvPr/>
        </p:nvSpPr>
        <p:spPr>
          <a:xfrm>
            <a:off x="6510395" y="2084316"/>
            <a:ext cx="4951893" cy="930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100" b="1">
                <a:solidFill>
                  <a:schemeClr val="tx1"/>
                </a:solidFill>
                <a:ea typeface="+mn-lt"/>
                <a:cs typeface="+mn-lt"/>
              </a:rPr>
              <a:t>Concept</a:t>
            </a:r>
          </a:p>
          <a:p>
            <a:endParaRPr lang="en-US" sz="11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Char char="•"/>
            </a:pPr>
            <a:r>
              <a:rPr lang="en-US" sz="1100">
                <a:solidFill>
                  <a:schemeClr val="tx1"/>
                </a:solidFill>
              </a:rPr>
              <a:t>To target users who are premium customer and always indulge in premium experience through various hyperlocal and data science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03F81-5887-D75A-2F1B-073AD1283EA0}"/>
              </a:ext>
            </a:extLst>
          </p:cNvPr>
          <p:cNvSpPr/>
          <p:nvPr/>
        </p:nvSpPr>
        <p:spPr>
          <a:xfrm>
            <a:off x="6510394" y="4374166"/>
            <a:ext cx="4951893" cy="142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100" b="1">
                <a:solidFill>
                  <a:schemeClr val="tx1"/>
                </a:solidFill>
                <a:ea typeface="+mn-lt"/>
                <a:cs typeface="+mn-lt"/>
              </a:rPr>
              <a:t>Placement</a:t>
            </a:r>
          </a:p>
          <a:p>
            <a:endParaRPr lang="en-US" sz="1100" b="1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Across various websites and also emailer / Whatsapp campaign campaign</a:t>
            </a:r>
          </a:p>
          <a:p>
            <a:endParaRPr lang="en-US" sz="1000">
              <a:solidFill>
                <a:schemeClr val="tx1"/>
              </a:solidFill>
              <a:ea typeface="+mn-lt"/>
              <a:cs typeface="+mn-lt"/>
            </a:endParaRPr>
          </a:p>
        </p:txBody>
      </p:sp>
      <p:pic>
        <p:nvPicPr>
          <p:cNvPr id="2" name="Picture 2" descr="PVR - The Luxury Collection | Facebook">
            <a:extLst>
              <a:ext uri="{FF2B5EF4-FFF2-40B4-BE49-F238E27FC236}">
                <a16:creationId xmlns:a16="http://schemas.microsoft.com/office/drawing/2014/main" id="{54F06C9A-8F2B-1134-89F5-C8DCC60F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297" y="1649545"/>
            <a:ext cx="1819695" cy="181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6" descr="The Definition of Gourmet: Food, People, and Places">
            <a:extLst>
              <a:ext uri="{FF2B5EF4-FFF2-40B4-BE49-F238E27FC236}">
                <a16:creationId xmlns:a16="http://schemas.microsoft.com/office/drawing/2014/main" id="{38BAB996-1B41-4062-F235-1B7D4E23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385" y="1920076"/>
            <a:ext cx="2151223" cy="148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Five Star Hotels Cliparts, Stock Vector and Royalty Free Five Star Hotels  Illustrations">
            <a:extLst>
              <a:ext uri="{FF2B5EF4-FFF2-40B4-BE49-F238E27FC236}">
                <a16:creationId xmlns:a16="http://schemas.microsoft.com/office/drawing/2014/main" id="{0073B87B-23CE-128F-1A75-B2756CD73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32" y="4253769"/>
            <a:ext cx="2151223" cy="121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38B7FE-5AB3-8AB9-DB40-254660B71B7F}"/>
              </a:ext>
            </a:extLst>
          </p:cNvPr>
          <p:cNvSpPr txBox="1"/>
          <p:nvPr/>
        </p:nvSpPr>
        <p:spPr>
          <a:xfrm>
            <a:off x="1471081" y="3540420"/>
            <a:ext cx="1711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Book my show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750A9-8BA7-F9CA-B08E-DF4E77BE784D}"/>
              </a:ext>
            </a:extLst>
          </p:cNvPr>
          <p:cNvSpPr txBox="1"/>
          <p:nvPr/>
        </p:nvSpPr>
        <p:spPr>
          <a:xfrm>
            <a:off x="4246382" y="3521133"/>
            <a:ext cx="1711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Zomato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60FC9-1F5D-F625-7CB3-3C98CA4A2F79}"/>
              </a:ext>
            </a:extLst>
          </p:cNvPr>
          <p:cNvSpPr txBox="1"/>
          <p:nvPr/>
        </p:nvSpPr>
        <p:spPr>
          <a:xfrm>
            <a:off x="985568" y="5489562"/>
            <a:ext cx="2544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Intellect ,icubeswire</a:t>
            </a:r>
          </a:p>
        </p:txBody>
      </p:sp>
      <p:pic>
        <p:nvPicPr>
          <p:cNvPr id="17" name="Picture 10" descr="Uber Explores UberBLACK Premium Cab Rides in India, Again | Technology News">
            <a:extLst>
              <a:ext uri="{FF2B5EF4-FFF2-40B4-BE49-F238E27FC236}">
                <a16:creationId xmlns:a16="http://schemas.microsoft.com/office/drawing/2014/main" id="{C218A81E-C505-420A-9C00-6CC9CED7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077" y="3799708"/>
            <a:ext cx="2151223" cy="161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Top 6 Expensive Luxury Societies to Live in Gurgaon">
            <a:extLst>
              <a:ext uri="{FF2B5EF4-FFF2-40B4-BE49-F238E27FC236}">
                <a16:creationId xmlns:a16="http://schemas.microsoft.com/office/drawing/2014/main" id="{A65A085D-BDE6-486F-AFD6-9E714D604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143" y="5413125"/>
            <a:ext cx="2587093" cy="123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1240FC-E705-4610-B0F0-9A86689AFB7B}"/>
              </a:ext>
            </a:extLst>
          </p:cNvPr>
          <p:cNvSpPr txBox="1"/>
          <p:nvPr/>
        </p:nvSpPr>
        <p:spPr>
          <a:xfrm>
            <a:off x="5991845" y="6437512"/>
            <a:ext cx="2544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MyGate</a:t>
            </a:r>
            <a:r>
              <a:rPr lang="en-US"/>
              <a:t>, </a:t>
            </a:r>
            <a:r>
              <a:rPr lang="en-US" err="1"/>
              <a:t>NoBrokerHood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36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Premium Targeting- Business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451D79-6DE9-A02E-C803-99944D176629}"/>
              </a:ext>
            </a:extLst>
          </p:cNvPr>
          <p:cNvSpPr/>
          <p:nvPr/>
        </p:nvSpPr>
        <p:spPr>
          <a:xfrm>
            <a:off x="7129848" y="2536433"/>
            <a:ext cx="4951893" cy="111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000" b="1">
                <a:solidFill>
                  <a:schemeClr val="tx1"/>
                </a:solidFill>
              </a:rPr>
              <a:t>Key Features of the Product to be highlighted</a:t>
            </a:r>
          </a:p>
          <a:p>
            <a:endParaRPr lang="en-US" sz="1000" b="1">
              <a:solidFill>
                <a:schemeClr val="tx1"/>
              </a:solidFill>
            </a:endParaRPr>
          </a:p>
          <a:p>
            <a:pPr marL="171450" indent="-171450">
              <a:buChar char="•"/>
            </a:pPr>
            <a:r>
              <a:rPr lang="en-US" sz="1000" b="1">
                <a:solidFill>
                  <a:schemeClr val="tx1"/>
                </a:solidFill>
              </a:rPr>
              <a:t>Brand RTBs &amp; USPs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7DF090-3E0C-10CB-7E5F-BB14ED48AF43}"/>
              </a:ext>
            </a:extLst>
          </p:cNvPr>
          <p:cNvSpPr/>
          <p:nvPr/>
        </p:nvSpPr>
        <p:spPr>
          <a:xfrm>
            <a:off x="7129848" y="1485900"/>
            <a:ext cx="4951893" cy="930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000" b="1">
                <a:solidFill>
                  <a:schemeClr val="tx1"/>
                </a:solidFill>
                <a:ea typeface="+mn-lt"/>
                <a:cs typeface="+mn-lt"/>
              </a:rPr>
              <a:t>Concept</a:t>
            </a:r>
          </a:p>
          <a:p>
            <a:endParaRPr lang="en-US" sz="10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Char char="•"/>
            </a:pPr>
            <a:r>
              <a:rPr lang="en-US" sz="1000">
                <a:solidFill>
                  <a:schemeClr val="tx1"/>
                </a:solidFill>
              </a:rPr>
              <a:t>To target various Amex card holder , business travelers , CXO’s and wealth managers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03F81-5887-D75A-2F1B-073AD1283EA0}"/>
              </a:ext>
            </a:extLst>
          </p:cNvPr>
          <p:cNvSpPr/>
          <p:nvPr/>
        </p:nvSpPr>
        <p:spPr>
          <a:xfrm>
            <a:off x="7129848" y="3708604"/>
            <a:ext cx="4951893" cy="142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r>
              <a:rPr lang="en-US" sz="1000" b="1">
                <a:solidFill>
                  <a:schemeClr val="tx1"/>
                </a:solidFill>
                <a:ea typeface="+mn-lt"/>
                <a:cs typeface="+mn-lt"/>
              </a:rPr>
              <a:t>Placement</a:t>
            </a:r>
          </a:p>
          <a:p>
            <a:endParaRPr lang="en-US" sz="10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Char char="•"/>
            </a:pPr>
            <a:r>
              <a:rPr lang="en-US" sz="1000">
                <a:solidFill>
                  <a:schemeClr val="tx1"/>
                </a:solidFill>
              </a:rPr>
              <a:t>Mailers , Whatsapp , LinkedIn , </a:t>
            </a:r>
            <a:r>
              <a:rPr lang="en-US" sz="1000" err="1">
                <a:solidFill>
                  <a:schemeClr val="tx1"/>
                </a:solidFill>
              </a:rPr>
              <a:t>etc</a:t>
            </a:r>
            <a:endParaRPr lang="en-US" sz="100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FA48E-7842-887B-ED0B-0E5F89D74A77}"/>
              </a:ext>
            </a:extLst>
          </p:cNvPr>
          <p:cNvGraphicFramePr>
            <a:graphicFrameLocks noGrp="1"/>
          </p:cNvGraphicFramePr>
          <p:nvPr/>
        </p:nvGraphicFramePr>
        <p:xfrm>
          <a:off x="835240" y="872412"/>
          <a:ext cx="8801920" cy="411477"/>
        </p:xfrm>
        <a:graphic>
          <a:graphicData uri="http://schemas.openxmlformats.org/drawingml/2006/table">
            <a:tbl>
              <a:tblPr/>
              <a:tblGrid>
                <a:gridCol w="2066256">
                  <a:extLst>
                    <a:ext uri="{9D8B030D-6E8A-4147-A177-3AD203B41FA5}">
                      <a16:colId xmlns:a16="http://schemas.microsoft.com/office/drawing/2014/main" val="30382202"/>
                    </a:ext>
                  </a:extLst>
                </a:gridCol>
                <a:gridCol w="4489561">
                  <a:extLst>
                    <a:ext uri="{9D8B030D-6E8A-4147-A177-3AD203B41FA5}">
                      <a16:colId xmlns:a16="http://schemas.microsoft.com/office/drawing/2014/main" val="680077565"/>
                    </a:ext>
                  </a:extLst>
                </a:gridCol>
                <a:gridCol w="2246103">
                  <a:extLst>
                    <a:ext uri="{9D8B030D-6E8A-4147-A177-3AD203B41FA5}">
                      <a16:colId xmlns:a16="http://schemas.microsoft.com/office/drawing/2014/main" val="2232492268"/>
                    </a:ext>
                  </a:extLst>
                </a:gridCol>
              </a:tblGrid>
              <a:tr h="411477">
                <a:tc>
                  <a:txBody>
                    <a:bodyPr/>
                    <a:lstStyle/>
                    <a:p>
                      <a:r>
                        <a:rPr lang="en-IN" sz="1100" b="1" u="sng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Leaders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Reach out to CXO + IT Professionals 4.5 Mn Audiences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3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3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LinkedIn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03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1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1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5771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E131CA-522A-EBF8-18EE-9005E9CD5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64174"/>
              </p:ext>
            </p:extLst>
          </p:nvPr>
        </p:nvGraphicFramePr>
        <p:xfrm>
          <a:off x="983521" y="5894466"/>
          <a:ext cx="8453120" cy="357496"/>
        </p:xfrm>
        <a:graphic>
          <a:graphicData uri="http://schemas.openxmlformats.org/drawingml/2006/table">
            <a:tbl>
              <a:tblPr/>
              <a:tblGrid>
                <a:gridCol w="1984375">
                  <a:extLst>
                    <a:ext uri="{9D8B030D-6E8A-4147-A177-3AD203B41FA5}">
                      <a16:colId xmlns:a16="http://schemas.microsoft.com/office/drawing/2014/main" val="2916147439"/>
                    </a:ext>
                  </a:extLst>
                </a:gridCol>
                <a:gridCol w="4311650">
                  <a:extLst>
                    <a:ext uri="{9D8B030D-6E8A-4147-A177-3AD203B41FA5}">
                      <a16:colId xmlns:a16="http://schemas.microsoft.com/office/drawing/2014/main" val="3158973120"/>
                    </a:ext>
                  </a:extLst>
                </a:gridCol>
                <a:gridCol w="2157095">
                  <a:extLst>
                    <a:ext uri="{9D8B030D-6E8A-4147-A177-3AD203B41FA5}">
                      <a16:colId xmlns:a16="http://schemas.microsoft.com/office/drawing/2014/main" val="3367607827"/>
                    </a:ext>
                  </a:extLst>
                </a:gridCol>
              </a:tblGrid>
              <a:tr h="357496">
                <a:tc>
                  <a:txBody>
                    <a:bodyPr/>
                    <a:lstStyle/>
                    <a:p>
                      <a:r>
                        <a:rPr lang="en-IN" sz="1100" b="1" u="sng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Wealth Managers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07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White glove experiences / exhibitions -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07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0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0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00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0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2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0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974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B08850-8973-1281-9DE4-081B573F3942}"/>
              </a:ext>
            </a:extLst>
          </p:cNvPr>
          <p:cNvGraphicFramePr>
            <a:graphicFrameLocks noGrp="1"/>
          </p:cNvGraphicFramePr>
          <p:nvPr/>
        </p:nvGraphicFramePr>
        <p:xfrm>
          <a:off x="983521" y="5372100"/>
          <a:ext cx="8453120" cy="336755"/>
        </p:xfrm>
        <a:graphic>
          <a:graphicData uri="http://schemas.openxmlformats.org/drawingml/2006/table">
            <a:tbl>
              <a:tblPr/>
              <a:tblGrid>
                <a:gridCol w="1984375">
                  <a:extLst>
                    <a:ext uri="{9D8B030D-6E8A-4147-A177-3AD203B41FA5}">
                      <a16:colId xmlns:a16="http://schemas.microsoft.com/office/drawing/2014/main" val="2401918503"/>
                    </a:ext>
                  </a:extLst>
                </a:gridCol>
                <a:gridCol w="4311650">
                  <a:extLst>
                    <a:ext uri="{9D8B030D-6E8A-4147-A177-3AD203B41FA5}">
                      <a16:colId xmlns:a16="http://schemas.microsoft.com/office/drawing/2014/main" val="2111655913"/>
                    </a:ext>
                  </a:extLst>
                </a:gridCol>
                <a:gridCol w="2157095">
                  <a:extLst>
                    <a:ext uri="{9D8B030D-6E8A-4147-A177-3AD203B41FA5}">
                      <a16:colId xmlns:a16="http://schemas.microsoft.com/office/drawing/2014/main" val="1443125101"/>
                    </a:ext>
                  </a:extLst>
                </a:gridCol>
              </a:tblGrid>
              <a:tr h="336755">
                <a:tc>
                  <a:txBody>
                    <a:bodyPr/>
                    <a:lstStyle/>
                    <a:p>
                      <a:r>
                        <a:rPr lang="en-IN" sz="1100" b="1" u="sng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travellers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4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class flights etc. /  - Emirates / Vistara / targe via in flight Wi-Fi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07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05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6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100493"/>
                  </a:ext>
                </a:extLst>
              </a:tr>
            </a:tbl>
          </a:graphicData>
        </a:graphic>
      </p:graphicFrame>
      <p:pic>
        <p:nvPicPr>
          <p:cNvPr id="7" name="Picture 12" descr="American Express® Platinum Card - Features, Benefits, Eligibility, Fees">
            <a:extLst>
              <a:ext uri="{FF2B5EF4-FFF2-40B4-BE49-F238E27FC236}">
                <a16:creationId xmlns:a16="http://schemas.microsoft.com/office/drawing/2014/main" id="{29962F9C-8217-7718-D3B5-A3BB9DC3D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106" y="1549414"/>
            <a:ext cx="2216185" cy="141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inkedIn">
            <a:extLst>
              <a:ext uri="{FF2B5EF4-FFF2-40B4-BE49-F238E27FC236}">
                <a16:creationId xmlns:a16="http://schemas.microsoft.com/office/drawing/2014/main" id="{E70E4101-5D37-0E03-6E8F-C4813A5C7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167" y="3339507"/>
            <a:ext cx="1054078" cy="105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 Customs Every International Business Traveler Should Know | Inc.com">
            <a:extLst>
              <a:ext uri="{FF2B5EF4-FFF2-40B4-BE49-F238E27FC236}">
                <a16:creationId xmlns:a16="http://schemas.microsoft.com/office/drawing/2014/main" id="{532133D9-A9C3-CFBA-ED38-B122344B3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605" y="1627306"/>
            <a:ext cx="2242768" cy="125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om consumer to custodian: The changing face of wealth management for  India's elite - The Economic Times">
            <a:extLst>
              <a:ext uri="{FF2B5EF4-FFF2-40B4-BE49-F238E27FC236}">
                <a16:creationId xmlns:a16="http://schemas.microsoft.com/office/drawing/2014/main" id="{3C127FAB-FA8B-E7BE-E889-8D9326653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959" y="3383077"/>
            <a:ext cx="947666" cy="94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BF6E92-6BE9-5A81-7184-9149CD925A60}"/>
              </a:ext>
            </a:extLst>
          </p:cNvPr>
          <p:cNvSpPr txBox="1"/>
          <p:nvPr/>
        </p:nvSpPr>
        <p:spPr>
          <a:xfrm>
            <a:off x="4206223" y="2883256"/>
            <a:ext cx="25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Business Travelers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ECA94-62C9-915C-0D63-F282D5B9484A}"/>
              </a:ext>
            </a:extLst>
          </p:cNvPr>
          <p:cNvSpPr txBox="1"/>
          <p:nvPr/>
        </p:nvSpPr>
        <p:spPr>
          <a:xfrm>
            <a:off x="3359859" y="4420190"/>
            <a:ext cx="25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Wealth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6D29B-F8EA-AD47-B674-69884601CA1C}"/>
              </a:ext>
            </a:extLst>
          </p:cNvPr>
          <p:cNvSpPr txBox="1"/>
          <p:nvPr/>
        </p:nvSpPr>
        <p:spPr>
          <a:xfrm>
            <a:off x="2248385" y="4456079"/>
            <a:ext cx="2128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CXO + 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A8A79F-F26F-12F0-66EE-23FA379BB232}"/>
              </a:ext>
            </a:extLst>
          </p:cNvPr>
          <p:cNvSpPr txBox="1"/>
          <p:nvPr/>
        </p:nvSpPr>
        <p:spPr>
          <a:xfrm>
            <a:off x="1477599" y="2919009"/>
            <a:ext cx="25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Amex premium card holders</a:t>
            </a:r>
          </a:p>
        </p:txBody>
      </p:sp>
      <p:pic>
        <p:nvPicPr>
          <p:cNvPr id="1032" name="Picture 8" descr="Cred (company) - Wikipedia">
            <a:extLst>
              <a:ext uri="{FF2B5EF4-FFF2-40B4-BE49-F238E27FC236}">
                <a16:creationId xmlns:a16="http://schemas.microsoft.com/office/drawing/2014/main" id="{FDF01DC0-1643-1DAB-0F45-0766AA116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179" y="3488308"/>
            <a:ext cx="1286311" cy="78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CF1FE6-D19C-C429-50CA-318F88987843}"/>
              </a:ext>
            </a:extLst>
          </p:cNvPr>
          <p:cNvSpPr txBox="1"/>
          <p:nvPr/>
        </p:nvSpPr>
        <p:spPr>
          <a:xfrm>
            <a:off x="5062153" y="4393601"/>
            <a:ext cx="25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Cred</a:t>
            </a:r>
          </a:p>
        </p:txBody>
      </p:sp>
    </p:spTree>
    <p:extLst>
      <p:ext uri="{BB962C8B-B14F-4D97-AF65-F5344CB8AC3E}">
        <p14:creationId xmlns:p14="http://schemas.microsoft.com/office/powerpoint/2010/main" val="3291076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9D90A0"/>
              </a:solidFill>
              <a:effectLst/>
              <a:uLnTx/>
              <a:uFillTx/>
              <a:latin typeface="Century Gothic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1E71DB5-5680-5541-BB1B-1B8E18C31C8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9D90A0"/>
                </a:solidFill>
                <a:effectLst/>
                <a:uLnTx/>
                <a:uFillTx/>
                <a:latin typeface="Century Gothic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43</a:t>
            </a:fld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9D90A0"/>
              </a:solidFill>
              <a:effectLst/>
              <a:uLnTx/>
              <a:uFillTx/>
              <a:latin typeface="Century Gothic"/>
              <a:cs typeface="Arial"/>
              <a:sym typeface="Arial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Thanks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13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65897-7333-58A2-2927-99AED776C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9D90A0"/>
              </a:solidFill>
              <a:effectLst/>
              <a:uLnTx/>
              <a:uFillTx/>
              <a:latin typeface="Century Gothic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745E-A7E6-4066-54C8-169B6294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1E71DB5-5680-5541-BB1B-1B8E18C31C8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9D90A0"/>
                </a:solidFill>
                <a:effectLst/>
                <a:uLnTx/>
                <a:uFillTx/>
                <a:latin typeface="Century Gothic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44</a:t>
            </a:fld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9D90A0"/>
              </a:solidFill>
              <a:effectLst/>
              <a:uLnTx/>
              <a:uFillTx/>
              <a:latin typeface="Century Gothic"/>
              <a:cs typeface="Arial"/>
              <a:sym typeface="Arial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B1746F-6264-67A9-2DFA-AAEA573D9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5172" y="912811"/>
            <a:ext cx="7706828" cy="503237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5B5EB3-C5DB-5F72-DBA7-B0D377FA6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58197" y="974725"/>
            <a:ext cx="7706828" cy="4908547"/>
          </a:xfrm>
        </p:spPr>
        <p:txBody>
          <a:bodyPr/>
          <a:lstStyle/>
          <a:p>
            <a:r>
              <a:rPr lang="en-GB"/>
              <a:t>Annexure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814A1-F9CB-7A4C-376B-A35B70FFE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95" b="97895" l="7072" r="94913">
                        <a14:foregroundMark x1="19603" y1="16053" x2="19603" y2="16053"/>
                        <a14:foregroundMark x1="7196" y1="5789" x2="7196" y2="5789"/>
                        <a14:foregroundMark x1="91811" y1="47237" x2="91811" y2="47237"/>
                        <a14:foregroundMark x1="51117" y1="17237" x2="51117" y2="17237"/>
                        <a14:foregroundMark x1="48015" y1="15263" x2="48015" y2="15263"/>
                        <a14:foregroundMark x1="49504" y1="16053" x2="49504" y2="16053"/>
                        <a14:foregroundMark x1="40571" y1="10263" x2="40571" y2="10263"/>
                        <a14:foregroundMark x1="32754" y1="5526" x2="32754" y2="5526"/>
                        <a14:foregroundMark x1="38710" y1="8947" x2="38710" y2="8947"/>
                        <a14:foregroundMark x1="52605" y1="18158" x2="52605" y2="18158"/>
                        <a14:foregroundMark x1="47270" y1="14474" x2="47270" y2="14474"/>
                        <a14:foregroundMark x1="57568" y1="21447" x2="57568" y2="21447"/>
                        <a14:foregroundMark x1="59553" y1="23026" x2="59553" y2="23026"/>
                        <a14:foregroundMark x1="95285" y1="48026" x2="95285" y2="48026"/>
                        <a14:foregroundMark x1="59057" y1="84342" x2="59057" y2="84342"/>
                        <a14:foregroundMark x1="60422" y1="82368" x2="60422" y2="82763"/>
                        <a14:foregroundMark x1="61290" y1="85921" x2="58437" y2="84211"/>
                        <a14:foregroundMark x1="62283" y1="83158" x2="62655" y2="90395"/>
                        <a14:foregroundMark x1="57444" y1="85658" x2="54342" y2="93684"/>
                        <a14:foregroundMark x1="53102" y1="95526" x2="52605" y2="97895"/>
                        <a14:foregroundMark x1="73697" y1="95132" x2="73697" y2="95132"/>
                        <a14:foregroundMark x1="65012" y1="97237" x2="65012" y2="97237"/>
                        <a14:foregroundMark x1="65385" y1="96974" x2="64144" y2="96711"/>
                        <a14:foregroundMark x1="66377" y1="96842" x2="66377" y2="96842"/>
                        <a14:foregroundMark x1="9801" y1="8158" x2="9801" y2="8158"/>
                        <a14:foregroundMark x1="11042" y1="9211" x2="11042" y2="9211"/>
                        <a14:foregroundMark x1="12283" y1="10263" x2="12283" y2="10263"/>
                        <a14:foregroundMark x1="13151" y1="10789" x2="13151" y2="10789"/>
                        <a14:foregroundMark x1="14144" y1="11579" x2="14144" y2="11579"/>
                        <a14:foregroundMark x1="15633" y1="12895" x2="15633" y2="12895"/>
                        <a14:foregroundMark x1="16998" y1="14079" x2="16998" y2="14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14343"/>
            <a:ext cx="4805078" cy="4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7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043F4370-35C6-47A9-A01D-D3A8110D7D96}"/>
              </a:ext>
            </a:extLst>
          </p:cNvPr>
          <p:cNvSpPr/>
          <p:nvPr/>
        </p:nvSpPr>
        <p:spPr>
          <a:xfrm>
            <a:off x="7218836" y="260588"/>
            <a:ext cx="4739328" cy="6045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6" y="112475"/>
            <a:ext cx="4955764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Sizing the Potential of our TG – Option1 – Targeting Core, Cover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517123-3E65-2361-C523-4B3BAC941CA6}"/>
              </a:ext>
            </a:extLst>
          </p:cNvPr>
          <p:cNvSpPr/>
          <p:nvPr/>
        </p:nvSpPr>
        <p:spPr>
          <a:xfrm>
            <a:off x="7302500" y="910668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84D23-F675-91CB-0517-5FFD40C670F2}"/>
              </a:ext>
            </a:extLst>
          </p:cNvPr>
          <p:cNvSpPr txBox="1"/>
          <p:nvPr/>
        </p:nvSpPr>
        <p:spPr>
          <a:xfrm>
            <a:off x="6912427" y="748869"/>
            <a:ext cx="2511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30</a:t>
            </a:r>
            <a:r>
              <a:rPr lang="en" sz="1400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-54, Males + Female, PAN India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entury Gothic" panose="020B0502020202020204" pitchFamily="34" charset="0"/>
                <a:sym typeface="Montserrat"/>
              </a:rPr>
              <a:t>158* Mn</a:t>
            </a:r>
            <a:endParaRPr lang="en-US" sz="2000" b="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8B633F-B08B-AA28-C3CD-85F29C65DB90}"/>
              </a:ext>
            </a:extLst>
          </p:cNvPr>
          <p:cNvSpPr/>
          <p:nvPr/>
        </p:nvSpPr>
        <p:spPr>
          <a:xfrm>
            <a:off x="8275390" y="1679903"/>
            <a:ext cx="1920240" cy="1920240"/>
          </a:xfrm>
          <a:prstGeom prst="ellipse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2D93B1-4B37-5438-F451-534775CC23DF}"/>
              </a:ext>
            </a:extLst>
          </p:cNvPr>
          <p:cNvSpPr/>
          <p:nvPr/>
        </p:nvSpPr>
        <p:spPr>
          <a:xfrm>
            <a:off x="8048521" y="3335585"/>
            <a:ext cx="2743200" cy="2743200"/>
          </a:xfrm>
          <a:prstGeom prst="ellipse">
            <a:avLst/>
          </a:pr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2F2E3D-C588-1E10-524E-585F2A27EAF7}"/>
              </a:ext>
            </a:extLst>
          </p:cNvPr>
          <p:cNvSpPr txBox="1"/>
          <p:nvPr/>
        </p:nvSpPr>
        <p:spPr>
          <a:xfrm>
            <a:off x="5764289" y="4644623"/>
            <a:ext cx="25111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accent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COVER TG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accent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25-44, M,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accent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“Mobile”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100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/>
                <a:ea typeface="+mn-ea"/>
                <a:cs typeface="Calibri" panose="020F0502020204030204" pitchFamily="34" charset="0"/>
                <a:sym typeface="Arial"/>
              </a:rPr>
              <a:t>Mobile Phones, Mobile Enthusiasts</a:t>
            </a:r>
            <a:endParaRPr lang="en" sz="900">
              <a:solidFill>
                <a:schemeClr val="accent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accent1"/>
                </a:solidFill>
                <a:latin typeface="Century Gothic" panose="020B0502020202020204" pitchFamily="34" charset="0"/>
                <a:sym typeface="Montserrat"/>
              </a:rPr>
              <a:t>112* Mn </a:t>
            </a:r>
            <a:endParaRPr lang="en-US" sz="2000" b="1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71B2E7-6D6E-B66F-087D-45CD7A7B293F}"/>
              </a:ext>
            </a:extLst>
          </p:cNvPr>
          <p:cNvSpPr txBox="1"/>
          <p:nvPr/>
        </p:nvSpPr>
        <p:spPr>
          <a:xfrm>
            <a:off x="5767727" y="1613212"/>
            <a:ext cx="2511101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CORE TG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b="1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30</a:t>
            </a:r>
            <a:r>
              <a:rPr lang="en" sz="1400" b="1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-54, M&amp;F,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Gaming Peripherals &amp; Accessories, Primary &amp; Secondary Schools (K-12), SUVs (New), Luxury Vehicles,  Luxury Travelers, Shopping Enthusiasts, Performance &amp; Luxury Vehicle Enthusiasts, Motor Sports Enthusiasts, Snowbound Travelers, International Travelers</a:t>
            </a:r>
            <a:endParaRPr lang="en" sz="90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tx1"/>
                </a:solidFill>
                <a:latin typeface="Century Gothic" panose="020B0502020202020204" pitchFamily="34" charset="0"/>
                <a:sym typeface="Montserrat"/>
              </a:rPr>
              <a:t>92.3* Mn</a:t>
            </a:r>
            <a:endParaRPr lang="en-US" sz="2000" b="1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E3703B-B636-DEEF-086B-07FD5AF0165D}"/>
              </a:ext>
            </a:extLst>
          </p:cNvPr>
          <p:cNvCxnSpPr>
            <a:cxnSpLocks/>
          </p:cNvCxnSpPr>
          <p:nvPr/>
        </p:nvCxnSpPr>
        <p:spPr>
          <a:xfrm>
            <a:off x="8107556" y="2167914"/>
            <a:ext cx="960120" cy="4879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9CF55E-3DF8-76C0-8272-249483020C0D}"/>
              </a:ext>
            </a:extLst>
          </p:cNvPr>
          <p:cNvCxnSpPr>
            <a:cxnSpLocks/>
          </p:cNvCxnSpPr>
          <p:nvPr/>
        </p:nvCxnSpPr>
        <p:spPr>
          <a:xfrm>
            <a:off x="9067676" y="2216712"/>
            <a:ext cx="302625" cy="229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F233B0-1143-A335-287E-340650807EF1}"/>
              </a:ext>
            </a:extLst>
          </p:cNvPr>
          <p:cNvCxnSpPr/>
          <p:nvPr/>
        </p:nvCxnSpPr>
        <p:spPr>
          <a:xfrm>
            <a:off x="7523779" y="4792377"/>
            <a:ext cx="82296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198E151-2DAD-780D-AD58-6D7E660C5A9A}"/>
              </a:ext>
            </a:extLst>
          </p:cNvPr>
          <p:cNvSpPr/>
          <p:nvPr/>
        </p:nvSpPr>
        <p:spPr>
          <a:xfrm>
            <a:off x="5462986" y="2380176"/>
            <a:ext cx="382821" cy="32696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A58D25F-C9E0-3590-FA10-AD417463B043}"/>
              </a:ext>
            </a:extLst>
          </p:cNvPr>
          <p:cNvSpPr/>
          <p:nvPr/>
        </p:nvSpPr>
        <p:spPr>
          <a:xfrm>
            <a:off x="5458599" y="4831308"/>
            <a:ext cx="382821" cy="32696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32AE1D-FF70-CB65-CF76-0E897324DD3B}"/>
              </a:ext>
            </a:extLst>
          </p:cNvPr>
          <p:cNvSpPr txBox="1"/>
          <p:nvPr/>
        </p:nvSpPr>
        <p:spPr>
          <a:xfrm>
            <a:off x="713515" y="6350169"/>
            <a:ext cx="107759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 </a:t>
            </a:r>
            <a:r>
              <a:rPr lang="en-US" sz="900" b="1" u="sng">
                <a:solidFill>
                  <a:srgbClr val="191C1C"/>
                </a:solidFill>
                <a:latin typeface="Century Gothic"/>
                <a:sym typeface="Century Gothic"/>
              </a:rPr>
              <a:t>DV360 Reach Planner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, YouTube + Display India, Target Reach at 1+ | India</a:t>
            </a:r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A12AA-831F-4E83-8738-57BCE2793576}"/>
              </a:ext>
            </a:extLst>
          </p:cNvPr>
          <p:cNvSpPr txBox="1"/>
          <p:nvPr/>
        </p:nvSpPr>
        <p:spPr>
          <a:xfrm>
            <a:off x="1095548" y="3370257"/>
            <a:ext cx="3690621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>
                <a:ln>
                  <a:solidFill>
                    <a:schemeClr val="bg2">
                      <a:lumMod val="50000"/>
                    </a:schemeClr>
                  </a:solidFill>
                </a:ln>
              </a:rPr>
              <a:t>Budget- 14Cr+</a:t>
            </a:r>
            <a:endParaRPr lang="en-IN">
              <a:ln>
                <a:solidFill>
                  <a:schemeClr val="bg2">
                    <a:lumMod val="50000"/>
                  </a:schemeClr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2D333B-D749-4AF1-A9F6-73300E7E51BB}"/>
              </a:ext>
            </a:extLst>
          </p:cNvPr>
          <p:cNvSpPr txBox="1"/>
          <p:nvPr/>
        </p:nvSpPr>
        <p:spPr>
          <a:xfrm>
            <a:off x="8940079" y="95858"/>
            <a:ext cx="2511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2</a:t>
            </a:r>
            <a:r>
              <a:rPr lang="en" sz="1400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5-54, Males + Female, PAN India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entury Gothic" panose="020B0502020202020204" pitchFamily="34" charset="0"/>
                <a:sym typeface="Montserrat"/>
              </a:rPr>
              <a:t>340* Mn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801372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469593" cy="88422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Budget Distribution across channels – Option1 – Targeting Core, Cover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212A75-3B34-94F3-97BF-4FBECD3DE443}"/>
              </a:ext>
            </a:extLst>
          </p:cNvPr>
          <p:cNvSpPr/>
          <p:nvPr/>
        </p:nvSpPr>
        <p:spPr>
          <a:xfrm>
            <a:off x="8385048" y="1719072"/>
            <a:ext cx="3311119" cy="390399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Higher investments in Social &amp; Video Reserve buys due to Broader Audience &amp; higher budgets (Option1)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Investment of 2.75 Cr on search would consist of sizable spends to Competition segment apart from Brand &amp; Generic.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3 Cr spends on Display reserve considered including Premium placements &amp; properties including DOOH for High impact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49FA265-C583-6785-6EB8-ED4522EF566A}"/>
              </a:ext>
            </a:extLst>
          </p:cNvPr>
          <p:cNvGraphicFramePr>
            <a:graphicFrameLocks noGrp="1"/>
          </p:cNvGraphicFramePr>
          <p:nvPr/>
        </p:nvGraphicFramePr>
        <p:xfrm>
          <a:off x="5007864" y="1719070"/>
          <a:ext cx="2895600" cy="3903996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83754461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50180573"/>
                    </a:ext>
                  </a:extLst>
                </a:gridCol>
              </a:tblGrid>
              <a:tr h="844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Option 1 - 14 Cr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(Core + Cover)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800841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45415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016744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401283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4418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413076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64926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111625"/>
                  </a:ext>
                </a:extLst>
              </a:tr>
            </a:tbl>
          </a:graphicData>
        </a:graphic>
      </p:graphicFrame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25EF8DFC-5433-8288-B6E4-70AB2DF9A757}"/>
              </a:ext>
            </a:extLst>
          </p:cNvPr>
          <p:cNvGraphicFramePr>
            <a:graphicFrameLocks/>
          </p:cNvGraphicFramePr>
          <p:nvPr/>
        </p:nvGraphicFramePr>
        <p:xfrm>
          <a:off x="779463" y="1719070"/>
          <a:ext cx="3755961" cy="3903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1156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Sizing the Potential of our TG – Option 2 – 25-54 Top + 10% HHI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517123-3E65-2361-C523-4B3BAC941CA6}"/>
              </a:ext>
            </a:extLst>
          </p:cNvPr>
          <p:cNvSpPr/>
          <p:nvPr/>
        </p:nvSpPr>
        <p:spPr>
          <a:xfrm>
            <a:off x="4532667" y="1469961"/>
            <a:ext cx="4572000" cy="457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84D23-F675-91CB-0517-5FFD40C670F2}"/>
              </a:ext>
            </a:extLst>
          </p:cNvPr>
          <p:cNvSpPr txBox="1"/>
          <p:nvPr/>
        </p:nvSpPr>
        <p:spPr>
          <a:xfrm>
            <a:off x="5464727" y="1871356"/>
            <a:ext cx="2511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25-54, Males + Female, PAN India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entury Gothic" panose="020B0502020202020204" pitchFamily="34" charset="0"/>
                <a:sym typeface="Montserrat"/>
              </a:rPr>
              <a:t>340* Mn</a:t>
            </a:r>
            <a:endParaRPr lang="en-US" sz="2000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32AE1D-FF70-CB65-CF76-0E897324DD3B}"/>
              </a:ext>
            </a:extLst>
          </p:cNvPr>
          <p:cNvSpPr txBox="1"/>
          <p:nvPr/>
        </p:nvSpPr>
        <p:spPr>
          <a:xfrm>
            <a:off x="779468" y="6345571"/>
            <a:ext cx="10775945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u="sng">
                <a:solidFill>
                  <a:srgbClr val="191C1C"/>
                </a:solidFill>
                <a:latin typeface="Century Gothic"/>
                <a:sym typeface="Century Gothic"/>
              </a:rPr>
              <a:t>Source</a:t>
            </a:r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 :</a:t>
            </a:r>
          </a:p>
          <a:p>
            <a: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  <a:t>Google is yet to confirm actual audience size**</a:t>
            </a: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  <a:p>
            <a:br>
              <a:rPr lang="en-US" sz="900">
                <a:solidFill>
                  <a:srgbClr val="191C1C"/>
                </a:solidFill>
                <a:latin typeface="Century Gothic"/>
                <a:sym typeface="Century Gothic"/>
              </a:rPr>
            </a:br>
            <a:endParaRPr lang="en-US" sz="900">
              <a:solidFill>
                <a:srgbClr val="191C1C"/>
              </a:solidFill>
              <a:latin typeface="Century Gothic"/>
              <a:sym typeface="Century Gothic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DA0B7D-8B59-D2BF-2014-7852C4066FC7}"/>
              </a:ext>
            </a:extLst>
          </p:cNvPr>
          <p:cNvSpPr/>
          <p:nvPr/>
        </p:nvSpPr>
        <p:spPr>
          <a:xfrm>
            <a:off x="5576906" y="3103748"/>
            <a:ext cx="2802317" cy="2785416"/>
          </a:xfrm>
          <a:prstGeom prst="ellipse">
            <a:avLst/>
          </a:prstGeom>
          <a:solidFill>
            <a:schemeClr val="accent5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/>
              <a:t>Household  Income</a:t>
            </a:r>
            <a:r>
              <a:rPr lang="en-US" b="1"/>
              <a:t>**</a:t>
            </a:r>
            <a:br>
              <a:rPr lang="en-US"/>
            </a:br>
            <a:endParaRPr lang="en-US"/>
          </a:p>
          <a:p>
            <a:pPr algn="ctr"/>
            <a:r>
              <a:rPr lang="en-US" b="1"/>
              <a:t>Top 10% - 54-60 Mn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7ABB3-424C-4A32-ACD3-E500E261A90D}"/>
              </a:ext>
            </a:extLst>
          </p:cNvPr>
          <p:cNvSpPr txBox="1"/>
          <p:nvPr/>
        </p:nvSpPr>
        <p:spPr>
          <a:xfrm>
            <a:off x="609344" y="3703109"/>
            <a:ext cx="3690621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>
                <a:ln>
                  <a:solidFill>
                    <a:schemeClr val="bg2">
                      <a:lumMod val="50000"/>
                    </a:schemeClr>
                  </a:solidFill>
                </a:ln>
              </a:rPr>
              <a:t>Budget- 6Cr</a:t>
            </a:r>
          </a:p>
        </p:txBody>
      </p:sp>
    </p:spTree>
    <p:extLst>
      <p:ext uri="{BB962C8B-B14F-4D97-AF65-F5344CB8AC3E}">
        <p14:creationId xmlns:p14="http://schemas.microsoft.com/office/powerpoint/2010/main" val="25996302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Budget Distribution across channels – Option 2 – 25-54 Top + 10% HHI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176E9-5D8B-A9FD-20D3-A6AED5612836}"/>
              </a:ext>
            </a:extLst>
          </p:cNvPr>
          <p:cNvSpPr/>
          <p:nvPr/>
        </p:nvSpPr>
        <p:spPr>
          <a:xfrm>
            <a:off x="8403336" y="1719070"/>
            <a:ext cx="3311119" cy="390399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Higher investments in Display &amp; Video Auction buys due to Premium HHI targeting (Option 2)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Limited Investment of 1.2 Cr on search would Cater towards Brand &amp; limited Generic segments only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Limited spends on Display &amp; Video reserve considered for hygiene properties (Tech pack &amp; Tech + Lifestyle websites) to create impact on Launch &amp;Superday – </a:t>
            </a:r>
            <a:r>
              <a:rPr lang="en-US" b="1" u="sng">
                <a:solidFill>
                  <a:schemeClr val="bg1"/>
                </a:solidFill>
              </a:rPr>
              <a:t>No DOOH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546CCA8-0747-407F-EACF-6597514C537A}"/>
              </a:ext>
            </a:extLst>
          </p:cNvPr>
          <p:cNvGraphicFramePr>
            <a:graphicFrameLocks/>
          </p:cNvGraphicFramePr>
          <p:nvPr/>
        </p:nvGraphicFramePr>
        <p:xfrm>
          <a:off x="779463" y="1719071"/>
          <a:ext cx="3755961" cy="3903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1E75F89-78FB-B6CE-E543-16372F0BD539}"/>
              </a:ext>
            </a:extLst>
          </p:cNvPr>
          <p:cNvGraphicFramePr>
            <a:graphicFrameLocks noGrp="1"/>
          </p:cNvGraphicFramePr>
          <p:nvPr/>
        </p:nvGraphicFramePr>
        <p:xfrm>
          <a:off x="5007864" y="1719070"/>
          <a:ext cx="2895600" cy="3903996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144674413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917039791"/>
                    </a:ext>
                  </a:extLst>
                </a:gridCol>
              </a:tblGrid>
              <a:tr h="844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Option 2 - 6 Cr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(Top 10% HHI)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27282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872508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583007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109140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269020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419538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532874"/>
                  </a:ext>
                </a:extLst>
              </a:tr>
              <a:tr h="437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498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991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2410F-5ECA-BD0B-4AA4-E1AF79E5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5" y="112475"/>
            <a:ext cx="10935941" cy="12559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91C1C"/>
                </a:solidFill>
                <a:effectLst/>
                <a:uLnTx/>
                <a:uFillTx/>
                <a:latin typeface="Century Gothic"/>
                <a:sym typeface="Century Gothic"/>
              </a:rPr>
              <a:t>Channel Split Comparison – TG Option 1 vs Option 2 vs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entury Gothic"/>
                <a:sym typeface="Century Gothic"/>
              </a:rPr>
              <a:t>Option 3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7931A7-88B6-5CBF-CB47-3B6532EDEF51}"/>
              </a:ext>
            </a:extLst>
          </p:cNvPr>
          <p:cNvSpPr/>
          <p:nvPr/>
        </p:nvSpPr>
        <p:spPr>
          <a:xfrm>
            <a:off x="7880278" y="762140"/>
            <a:ext cx="3790225" cy="5932725"/>
          </a:xfrm>
          <a:prstGeom prst="rect">
            <a:avLst/>
          </a:prstGeom>
          <a:solidFill>
            <a:schemeClr val="accent6">
              <a:alpha val="0"/>
            </a:schemeClr>
          </a:solidFill>
          <a:ln w="254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80B89-1BAE-3210-6814-5795028B976F}"/>
              </a:ext>
            </a:extLst>
          </p:cNvPr>
          <p:cNvCxnSpPr>
            <a:cxnSpLocks/>
          </p:cNvCxnSpPr>
          <p:nvPr/>
        </p:nvCxnSpPr>
        <p:spPr>
          <a:xfrm>
            <a:off x="609344" y="-13252"/>
            <a:ext cx="0" cy="64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51DC5AB-D7F2-4D2A-E360-0C04A805FBBC}"/>
              </a:ext>
            </a:extLst>
          </p:cNvPr>
          <p:cNvGraphicFramePr>
            <a:graphicFrameLocks/>
          </p:cNvGraphicFramePr>
          <p:nvPr/>
        </p:nvGraphicFramePr>
        <p:xfrm>
          <a:off x="4286604" y="932691"/>
          <a:ext cx="3426776" cy="2834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E925C9D-54FD-C775-BF33-D5890980B9BF}"/>
              </a:ext>
            </a:extLst>
          </p:cNvPr>
          <p:cNvGraphicFramePr>
            <a:graphicFrameLocks/>
          </p:cNvGraphicFramePr>
          <p:nvPr/>
        </p:nvGraphicFramePr>
        <p:xfrm>
          <a:off x="8051709" y="932692"/>
          <a:ext cx="3426776" cy="2834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4DBA20-03C3-3C2B-8290-974275E57D77}"/>
              </a:ext>
            </a:extLst>
          </p:cNvPr>
          <p:cNvGraphicFramePr>
            <a:graphicFrameLocks noGrp="1"/>
          </p:cNvGraphicFramePr>
          <p:nvPr/>
        </p:nvGraphicFramePr>
        <p:xfrm>
          <a:off x="4286605" y="3807763"/>
          <a:ext cx="3426776" cy="1559560"/>
        </p:xfrm>
        <a:graphic>
          <a:graphicData uri="http://schemas.openxmlformats.org/drawingml/2006/table">
            <a:tbl>
              <a:tblPr/>
              <a:tblGrid>
                <a:gridCol w="1713388">
                  <a:extLst>
                    <a:ext uri="{9D8B030D-6E8A-4147-A177-3AD203B41FA5}">
                      <a16:colId xmlns:a16="http://schemas.microsoft.com/office/drawing/2014/main" val="1446744139"/>
                    </a:ext>
                  </a:extLst>
                </a:gridCol>
                <a:gridCol w="1713388">
                  <a:extLst>
                    <a:ext uri="{9D8B030D-6E8A-4147-A177-3AD203B41FA5}">
                      <a16:colId xmlns:a16="http://schemas.microsoft.com/office/drawing/2014/main" val="2917039791"/>
                    </a:ext>
                  </a:extLst>
                </a:gridCol>
              </a:tblGrid>
              <a:tr h="3148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Option 2 - 6 Cr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(Top 10% HHI)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727282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872508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583007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109140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269020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419538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532874"/>
                  </a:ext>
                </a:extLst>
              </a:tr>
              <a:tr h="160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4981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8CDC7D-F274-2346-BD46-FB42CF859E48}"/>
              </a:ext>
            </a:extLst>
          </p:cNvPr>
          <p:cNvGraphicFramePr>
            <a:graphicFrameLocks noGrp="1"/>
          </p:cNvGraphicFramePr>
          <p:nvPr/>
        </p:nvGraphicFramePr>
        <p:xfrm>
          <a:off x="8051709" y="3807762"/>
          <a:ext cx="3426776" cy="1559560"/>
        </p:xfrm>
        <a:graphic>
          <a:graphicData uri="http://schemas.openxmlformats.org/drawingml/2006/table">
            <a:tbl>
              <a:tblPr/>
              <a:tblGrid>
                <a:gridCol w="1713388">
                  <a:extLst>
                    <a:ext uri="{9D8B030D-6E8A-4147-A177-3AD203B41FA5}">
                      <a16:colId xmlns:a16="http://schemas.microsoft.com/office/drawing/2014/main" val="1323941188"/>
                    </a:ext>
                  </a:extLst>
                </a:gridCol>
                <a:gridCol w="1713388">
                  <a:extLst>
                    <a:ext uri="{9D8B030D-6E8A-4147-A177-3AD203B41FA5}">
                      <a16:colId xmlns:a16="http://schemas.microsoft.com/office/drawing/2014/main" val="2554926325"/>
                    </a:ext>
                  </a:extLst>
                </a:gridCol>
              </a:tblGrid>
              <a:tr h="3148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Option 3 - 8 Cr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(Core Only)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84644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586143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054053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570260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865725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219300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132803"/>
                  </a:ext>
                </a:extLst>
              </a:tr>
              <a:tr h="1609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9489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71AD4DC-1241-C4F6-1B5F-5942D8B10F77}"/>
              </a:ext>
            </a:extLst>
          </p:cNvPr>
          <p:cNvSpPr/>
          <p:nvPr/>
        </p:nvSpPr>
        <p:spPr>
          <a:xfrm>
            <a:off x="521497" y="5407756"/>
            <a:ext cx="3426778" cy="113625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High Reach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High Frequency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Regular Audience + Premium Placements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A5CFE-3071-0F37-37FE-52129B1433BB}"/>
              </a:ext>
            </a:extLst>
          </p:cNvPr>
          <p:cNvSpPr/>
          <p:nvPr/>
        </p:nvSpPr>
        <p:spPr>
          <a:xfrm>
            <a:off x="4286604" y="5407756"/>
            <a:ext cx="3426778" cy="113625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Low Reach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Low Frequency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Premium Audience, Premium Placements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724D5-CBD5-4876-AEBD-3B6BB5F0F5F9}"/>
              </a:ext>
            </a:extLst>
          </p:cNvPr>
          <p:cNvSpPr/>
          <p:nvPr/>
        </p:nvSpPr>
        <p:spPr>
          <a:xfrm>
            <a:off x="8051709" y="5407756"/>
            <a:ext cx="3426778" cy="113625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Low Reach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High Frequency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</a:pPr>
            <a:r>
              <a:rPr lang="en-US" sz="1100" b="1">
                <a:solidFill>
                  <a:schemeClr val="bg1"/>
                </a:solidFill>
              </a:rPr>
              <a:t>Regular Audience &amp; Placements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E40B039-5E19-8AE6-4AB9-B778A1788912}"/>
              </a:ext>
            </a:extLst>
          </p:cNvPr>
          <p:cNvGraphicFramePr>
            <a:graphicFrameLocks noGrp="1"/>
          </p:cNvGraphicFramePr>
          <p:nvPr/>
        </p:nvGraphicFramePr>
        <p:xfrm>
          <a:off x="521496" y="3807762"/>
          <a:ext cx="3426776" cy="1559563"/>
        </p:xfrm>
        <a:graphic>
          <a:graphicData uri="http://schemas.openxmlformats.org/drawingml/2006/table">
            <a:tbl>
              <a:tblPr/>
              <a:tblGrid>
                <a:gridCol w="1713388">
                  <a:extLst>
                    <a:ext uri="{9D8B030D-6E8A-4147-A177-3AD203B41FA5}">
                      <a16:colId xmlns:a16="http://schemas.microsoft.com/office/drawing/2014/main" val="2837544618"/>
                    </a:ext>
                  </a:extLst>
                </a:gridCol>
                <a:gridCol w="1713388">
                  <a:extLst>
                    <a:ext uri="{9D8B030D-6E8A-4147-A177-3AD203B41FA5}">
                      <a16:colId xmlns:a16="http://schemas.microsoft.com/office/drawing/2014/main" val="250180573"/>
                    </a:ext>
                  </a:extLst>
                </a:gridCol>
              </a:tblGrid>
              <a:tr h="3372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Option 1 - 14 Cr</a:t>
                      </a:r>
                      <a:b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(Core + Cover)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800841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45415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Media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016744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401283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Auction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7,500,000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4418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Online Video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413076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Reserve Buy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64926"/>
                  </a:ext>
                </a:extLst>
              </a:tr>
              <a:tr h="1746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140,000,000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111625"/>
                  </a:ext>
                </a:extLst>
              </a:tr>
            </a:tbl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907A293B-BA2A-9C6E-3E33-B81515E24843}"/>
              </a:ext>
            </a:extLst>
          </p:cNvPr>
          <p:cNvGraphicFramePr>
            <a:graphicFrameLocks/>
          </p:cNvGraphicFramePr>
          <p:nvPr/>
        </p:nvGraphicFramePr>
        <p:xfrm>
          <a:off x="521497" y="932689"/>
          <a:ext cx="3426776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58033621"/>
      </p:ext>
    </p:extLst>
  </p:cSld>
  <p:clrMapOvr>
    <a:masterClrMapping/>
  </p:clrMapOvr>
</p:sld>
</file>

<file path=ppt/theme/theme1.xml><?xml version="1.0" encoding="utf-8"?>
<a:theme xmlns:a="http://schemas.openxmlformats.org/drawingml/2006/main" name="emTemplate // Jan 2023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M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72000" rIns="72000" rtlCol="0" anchor="ctr"/>
      <a:lstStyle>
        <a:defPPr algn="ctr">
          <a:lnSpc>
            <a:spcPct val="110000"/>
          </a:lnSpc>
          <a:spcAft>
            <a:spcPts val="600"/>
          </a:spcAft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blank">
      <a:srgbClr val="FFFFFF"/>
    </a:custClr>
    <a:custClr name="Black Tint 1">
      <a:srgbClr val="3B3F3D"/>
    </a:custClr>
    <a:custClr name="Light Clay">
      <a:srgbClr val="CEC3C1"/>
    </a:custClr>
    <a:custClr name="Pink Tint 1">
      <a:srgbClr val="FD4D8B"/>
    </a:custClr>
    <a:custClr name="Turpuoise Tint 1">
      <a:srgbClr val="82E7E7"/>
    </a:custClr>
    <a:custClr name="Cerulean Tint 1">
      <a:srgbClr val="5F78DB"/>
    </a:custClr>
    <a:custClr name="Tangerine Tint 1">
      <a:srgbClr val="FBBC46"/>
    </a:custClr>
    <a:custClr name="Merlot Tint 1">
      <a:srgbClr val="944F7A"/>
    </a:custClr>
    <a:custClr name="Periwinkle Tint 1">
      <a:srgbClr val="C6C6FF"/>
    </a:custClr>
    <a:custClr name="Clay Tint 1">
      <a:srgbClr val="D8CFCE"/>
    </a:custClr>
    <a:custClr name="blank">
      <a:srgbClr val="FFFFFF"/>
    </a:custClr>
    <a:custClr name="Black Tint 2">
      <a:srgbClr val="6C6F6E"/>
    </a:custClr>
    <a:custClr name="Light Clay Tint 2">
      <a:srgbClr val="D8CFCE"/>
    </a:custClr>
    <a:custClr name="Pink Tint 2">
      <a:srgbClr val="FD6896"/>
    </a:custClr>
    <a:custClr name="Turpuoise Tint 2">
      <a:srgbClr val="A4EEEE"/>
    </a:custClr>
    <a:custClr name="Cerulean Tint 2">
      <a:srgbClr val="8B9DE5"/>
    </a:custClr>
    <a:custClr name="Tangerine Tint 2">
      <a:srgbClr val="FCCE79"/>
    </a:custClr>
    <a:custClr name="Merlot Tint 2">
      <a:srgbClr val="AF7B9B"/>
    </a:custClr>
    <a:custClr name="Periwinkle Tint 2">
      <a:srgbClr val="D4D4FF"/>
    </a:custClr>
    <a:custClr name="Clay Tint 2">
      <a:srgbClr val="E3DCDB"/>
    </a:custClr>
    <a:custClr name="blank">
      <a:srgbClr val="FFFFFF"/>
    </a:custClr>
    <a:custClr name="Black Tint 3">
      <a:srgbClr val="9D9F9E"/>
    </a:custClr>
    <a:custClr name="Light Clay Tint 3">
      <a:srgbClr val="EDE9E9"/>
    </a:custClr>
    <a:custClr name="Pink Tint 3">
      <a:srgbClr val="FE84AE"/>
    </a:custClr>
    <a:custClr name="Turpuoise Tint 3">
      <a:srgbClr val="C6F4F4"/>
    </a:custClr>
    <a:custClr name="Cerulean Tint 3">
      <a:srgbClr val="B6C2EE"/>
    </a:custClr>
    <a:custClr name="Tangerine Tint 3">
      <a:srgbClr val="FDE1AB"/>
    </a:custClr>
    <a:custClr name="Merlot Tint 3">
      <a:srgbClr val="C9A7BD"/>
    </a:custClr>
    <a:custClr name="Periwinkle Tint 3">
      <a:srgbClr val="E3E3FF"/>
    </a:custClr>
    <a:custClr name="Clay Tint 3">
      <a:srgbClr val="EDE9E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4221</Words>
  <Application>Microsoft Office PowerPoint</Application>
  <PresentationFormat>Widescreen</PresentationFormat>
  <Paragraphs>1056</Paragraphs>
  <Slides>49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Courier New</vt:lpstr>
      <vt:lpstr>Century Gothic</vt:lpstr>
      <vt:lpstr>Aptos</vt:lpstr>
      <vt:lpstr>Arial</vt:lpstr>
      <vt:lpstr>Wingdings</vt:lpstr>
      <vt:lpstr>vivo Office</vt:lpstr>
      <vt:lpstr>Calibri</vt:lpstr>
      <vt:lpstr>System Font Regular</vt:lpstr>
      <vt:lpstr>emTemplate // Jan 2023</vt:lpstr>
      <vt:lpstr>PowerPoint Presentation</vt:lpstr>
      <vt:lpstr>PowerPoint Presentation</vt:lpstr>
      <vt:lpstr>Survey Conducted- </vt:lpstr>
      <vt:lpstr>Key outcomes from a survey (out of 170 respondents) </vt:lpstr>
      <vt:lpstr>..to understand the product perception</vt:lpstr>
      <vt:lpstr>PowerPoint Presentation</vt:lpstr>
      <vt:lpstr>1. Key takeaways from X Fold3 Brief</vt:lpstr>
      <vt:lpstr>PowerPoint Presentation</vt:lpstr>
      <vt:lpstr>Audience input derived from the brief </vt:lpstr>
      <vt:lpstr>Audience planning process for X Fold3</vt:lpstr>
      <vt:lpstr>Mining Audiences right for vivo Fold</vt:lpstr>
      <vt:lpstr>Mining Audiences right for vivo Fold</vt:lpstr>
      <vt:lpstr>Key Traits of X Series Purchase intenders</vt:lpstr>
      <vt:lpstr>Mining Audiences right for vivo Fold</vt:lpstr>
      <vt:lpstr>Architect defines our TG as Millennials with almost equal gender split..</vt:lpstr>
      <vt:lpstr>..career focused, at a life stage to get married and invest in high ticket item purchases</vt:lpstr>
      <vt:lpstr>Mining Audiences right for vivo Fold</vt:lpstr>
      <vt:lpstr>“Millennials” clearly define our core TG with Females contributing towards a substantial share</vt:lpstr>
      <vt:lpstr>Our TG is invested in emerging tech &amp; high-ticket items</vt:lpstr>
      <vt:lpstr>is tech friendly, with higher use of voice assistant tech</vt:lpstr>
      <vt:lpstr>Addressing the requirements</vt:lpstr>
      <vt:lpstr>Key TG takeaways &amp; recommendations for vivo X Fold3</vt:lpstr>
      <vt:lpstr>PowerPoint Presentation</vt:lpstr>
      <vt:lpstr>Our Core TG is highly Digitally Active, but they also spend a fair share of time on TV and Print</vt:lpstr>
      <vt:lpstr>with high Affinity Index, towards Gaming, Print, TV &amp; Online Video Ads</vt:lpstr>
      <vt:lpstr>PowerPoint Presentation</vt:lpstr>
      <vt:lpstr>Sizing the Potential of our TG – Option 3 – Targeting only Core</vt:lpstr>
      <vt:lpstr>Budget Distribution across channels – Option 3 – Targeting only Core</vt:lpstr>
      <vt:lpstr>Channel Split Comparison - X100 TG vs Option 3 TG</vt:lpstr>
      <vt:lpstr>Reach &amp; Frequency dispersion - Option 3 (8 Cr) Forecasting 5+ Unique Reach of 36Mn+ for X Fold3</vt:lpstr>
      <vt:lpstr>Budget Phasing - Option 3 8Cr (8 Cr)</vt:lpstr>
      <vt:lpstr>X Fold3 Tentative KPIs</vt:lpstr>
      <vt:lpstr>X Fold3 Tentative QV Trend</vt:lpstr>
      <vt:lpstr>Search Prioritize targeting competition to capture existing searches</vt:lpstr>
      <vt:lpstr>Display &amp; Video Auction Approach</vt:lpstr>
      <vt:lpstr>PowerPoint Presentation</vt:lpstr>
      <vt:lpstr>Unfolding Innovations for vivo Fold </vt:lpstr>
      <vt:lpstr>Premium Placements </vt:lpstr>
      <vt:lpstr>Unfolding Innovations for vivo Fold </vt:lpstr>
      <vt:lpstr>PowerPoint Presentation</vt:lpstr>
      <vt:lpstr>Premium Experiences </vt:lpstr>
      <vt:lpstr>Premium Targeting- Business</vt:lpstr>
      <vt:lpstr>PowerPoint Presentation</vt:lpstr>
      <vt:lpstr>PowerPoint Presentation</vt:lpstr>
      <vt:lpstr>Sizing the Potential of our TG – Option1 – Targeting Core, Cover</vt:lpstr>
      <vt:lpstr>Budget Distribution across channels – Option1 – Targeting Core, Cover</vt:lpstr>
      <vt:lpstr>Sizing the Potential of our TG – Option 2 – 25-54 Top + 10% HHI</vt:lpstr>
      <vt:lpstr>Budget Distribution across channels – Option 2 – 25-54 Top + 10% HHI</vt:lpstr>
      <vt:lpstr>Channel Split Comparison – TG Option 1 vs Option 2 vs Option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</cp:revision>
  <dcterms:created xsi:type="dcterms:W3CDTF">2023-11-08T12:29:34Z</dcterms:created>
  <dcterms:modified xsi:type="dcterms:W3CDTF">2024-07-24T07:36:15Z</dcterms:modified>
</cp:coreProperties>
</file>